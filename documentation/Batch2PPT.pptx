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9" r:id="rId4"/>
    <p:sldId id="260" r:id="rId5"/>
    <p:sldId id="271" r:id="rId6"/>
    <p:sldId id="272" r:id="rId7"/>
    <p:sldId id="269" r:id="rId8"/>
    <p:sldId id="275" r:id="rId9"/>
    <p:sldId id="274" r:id="rId10"/>
    <p:sldId id="261" r:id="rId11"/>
    <p:sldId id="262" r:id="rId12"/>
    <p:sldId id="263" r:id="rId13"/>
    <p:sldId id="264" r:id="rId14"/>
    <p:sldId id="265" r:id="rId15"/>
    <p:sldId id="266" r:id="rId16"/>
    <p:sldId id="267" r:id="rId17"/>
    <p:sldId id="268"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73" r:id="rId36"/>
    <p:sldId id="293" r:id="rId37"/>
    <p:sldId id="294" r:id="rId38"/>
    <p:sldId id="270" r:id="rId3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F2F5"/>
    <a:srgbClr val="FFFFFF"/>
    <a:srgbClr val="CAEEEE"/>
    <a:srgbClr val="CCFFFF"/>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4" d="100"/>
          <a:sy n="84" d="100"/>
        </p:scale>
        <p:origin x="78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20655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7791834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5137077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2204192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2616822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5025881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8628447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6022819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3603833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8335863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7363821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7894944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35459779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2478559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21246674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31049778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8904542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37827932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9722093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25353724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26678225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164616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34376246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3270"/>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E88E5"/>
          </a:solidFill>
          <a:ln w="12700">
            <a:solidFill>
              <a:srgbClr val="1E88E5"/>
            </a:solidFill>
            <a:prstDash val="solid"/>
          </a:ln>
        </p:spPr>
      </p:sp>
      <p:sp>
        <p:nvSpPr>
          <p:cNvPr id="3" name="Shape 1"/>
          <p:cNvSpPr/>
          <p:nvPr/>
        </p:nvSpPr>
        <p:spPr>
          <a:xfrm>
            <a:off x="0" y="502920"/>
            <a:ext cx="320040" cy="4636008"/>
          </a:xfrm>
          <a:prstGeom prst="rect">
            <a:avLst/>
          </a:prstGeom>
          <a:solidFill>
            <a:srgbClr val="1565C0"/>
          </a:solidFill>
          <a:ln w="12700">
            <a:solidFill>
              <a:srgbClr val="1565C0"/>
            </a:solidFill>
            <a:prstDash val="solid"/>
          </a:ln>
        </p:spPr>
      </p:sp>
      <p:sp>
        <p:nvSpPr>
          <p:cNvPr id="4" name="Shape 2"/>
          <p:cNvSpPr/>
          <p:nvPr/>
        </p:nvSpPr>
        <p:spPr>
          <a:xfrm>
            <a:off x="594360" y="777240"/>
            <a:ext cx="7955280" cy="3291840"/>
          </a:xfrm>
          <a:prstGeom prst="rect">
            <a:avLst/>
          </a:prstGeom>
          <a:solidFill>
            <a:srgbClr val="FFFFFF">
              <a:alpha val="92000"/>
            </a:srgbClr>
          </a:solidFill>
          <a:ln w="12700">
            <a:solidFill>
              <a:srgbClr val="1E88E5"/>
            </a:solidFill>
            <a:prstDash val="solid"/>
          </a:ln>
          <a:effectLst>
            <a:outerShdw blurRad="101600" dist="38100" dir="8100000" algn="bl" rotWithShape="0">
              <a:srgbClr val="0D3270">
                <a:alpha val="13000"/>
              </a:srgbClr>
            </a:outerShdw>
          </a:effectLst>
        </p:spPr>
      </p:sp>
      <p:sp>
        <p:nvSpPr>
          <p:cNvPr id="5" name="Text 3"/>
          <p:cNvSpPr/>
          <p:nvPr/>
        </p:nvSpPr>
        <p:spPr>
          <a:xfrm>
            <a:off x="822960" y="868680"/>
            <a:ext cx="7498080" cy="2011680"/>
          </a:xfrm>
          <a:prstGeom prst="rect">
            <a:avLst/>
          </a:prstGeom>
          <a:noFill/>
          <a:ln/>
        </p:spPr>
        <p:txBody>
          <a:bodyPr wrap="square" rtlCol="0" anchor="ctr"/>
          <a:lstStyle/>
          <a:p>
            <a:pPr marL="0" indent="0" algn="ctr">
              <a:buNone/>
            </a:pPr>
            <a:r>
              <a:rPr lang="en-US" sz="3200" b="1" dirty="0">
                <a:solidFill>
                  <a:srgbClr val="0D3270"/>
                </a:solidFill>
              </a:rPr>
              <a:t>Homomorphic Encryption Based</a:t>
            </a:r>
            <a:endParaRPr lang="en-US" sz="3200" dirty="0"/>
          </a:p>
          <a:p>
            <a:pPr marL="0" indent="0" algn="ctr">
              <a:buNone/>
            </a:pPr>
            <a:r>
              <a:rPr lang="en-US" sz="3200" b="1" dirty="0">
                <a:solidFill>
                  <a:srgbClr val="0D3270"/>
                </a:solidFill>
              </a:rPr>
              <a:t>Video Copy Detection in Multi-View</a:t>
            </a:r>
            <a:endParaRPr lang="en-US" sz="3200" dirty="0"/>
          </a:p>
          <a:p>
            <a:pPr marL="0" indent="0" algn="ctr">
              <a:buNone/>
            </a:pPr>
            <a:r>
              <a:rPr lang="en-US" sz="3200" b="1" dirty="0">
                <a:solidFill>
                  <a:srgbClr val="0D3270"/>
                </a:solidFill>
              </a:rPr>
              <a:t>Videos Stored in a Cloud</a:t>
            </a:r>
            <a:endParaRPr lang="en-US" sz="3200" dirty="0"/>
          </a:p>
        </p:txBody>
      </p:sp>
      <p:sp>
        <p:nvSpPr>
          <p:cNvPr id="6" name="Shape 4"/>
          <p:cNvSpPr/>
          <p:nvPr/>
        </p:nvSpPr>
        <p:spPr>
          <a:xfrm>
            <a:off x="1371600" y="2743200"/>
            <a:ext cx="6400800" cy="36576"/>
          </a:xfrm>
          <a:prstGeom prst="rect">
            <a:avLst/>
          </a:prstGeom>
          <a:solidFill>
            <a:srgbClr val="1E88E5"/>
          </a:solidFill>
          <a:ln w="12700">
            <a:solidFill>
              <a:srgbClr val="1E88E5"/>
            </a:solidFill>
            <a:prstDash val="solid"/>
          </a:ln>
        </p:spPr>
      </p:sp>
      <p:sp>
        <p:nvSpPr>
          <p:cNvPr id="7" name="Text 5"/>
          <p:cNvSpPr/>
          <p:nvPr/>
        </p:nvSpPr>
        <p:spPr>
          <a:xfrm>
            <a:off x="822960" y="2834640"/>
            <a:ext cx="7498080" cy="457200"/>
          </a:xfrm>
          <a:prstGeom prst="rect">
            <a:avLst/>
          </a:prstGeom>
          <a:noFill/>
          <a:ln/>
        </p:spPr>
        <p:txBody>
          <a:bodyPr wrap="square" rtlCol="0" anchor="ctr"/>
          <a:lstStyle/>
          <a:p>
            <a:pPr marL="0" indent="0" algn="ctr">
              <a:buNone/>
            </a:pPr>
            <a:r>
              <a:rPr lang="en-US" dirty="0">
                <a:solidFill>
                  <a:srgbClr val="5B7DB1"/>
                </a:solidFill>
              </a:rPr>
              <a:t>B.Tech Project Presentation  |  Dept. of Computer Science &amp; Engineering</a:t>
            </a:r>
            <a:endParaRPr lang="en-US" dirty="0"/>
          </a:p>
        </p:txBody>
      </p:sp>
      <p:sp>
        <p:nvSpPr>
          <p:cNvPr id="8" name="Text 6"/>
          <p:cNvSpPr/>
          <p:nvPr/>
        </p:nvSpPr>
        <p:spPr>
          <a:xfrm>
            <a:off x="822960" y="3337560"/>
            <a:ext cx="7498080" cy="457200"/>
          </a:xfrm>
          <a:prstGeom prst="rect">
            <a:avLst/>
          </a:prstGeom>
          <a:noFill/>
          <a:ln/>
        </p:spPr>
        <p:txBody>
          <a:bodyPr wrap="square" rtlCol="0" anchor="ctr"/>
          <a:lstStyle/>
          <a:p>
            <a:pPr marL="0" indent="0" algn="ctr">
              <a:buNone/>
            </a:pPr>
            <a:r>
              <a:rPr lang="en-US" sz="2000" b="1" dirty="0">
                <a:solidFill>
                  <a:srgbClr val="1565C0"/>
                </a:solidFill>
              </a:rPr>
              <a:t>Eluru College of Engineering and Technology</a:t>
            </a:r>
            <a:endParaRPr lang="en-US" sz="2000" dirty="0"/>
          </a:p>
        </p:txBody>
      </p:sp>
      <p:sp>
        <p:nvSpPr>
          <p:cNvPr id="9" name="Shape 7"/>
          <p:cNvSpPr/>
          <p:nvPr/>
        </p:nvSpPr>
        <p:spPr>
          <a:xfrm>
            <a:off x="0" y="4818888"/>
            <a:ext cx="9144000" cy="324612"/>
          </a:xfrm>
          <a:prstGeom prst="rect">
            <a:avLst/>
          </a:prstGeom>
          <a:solidFill>
            <a:srgbClr val="1565C0"/>
          </a:solidFill>
          <a:ln w="12700">
            <a:solidFill>
              <a:srgbClr val="1565C0"/>
            </a:solidFill>
            <a:prstDash val="solid"/>
          </a:ln>
        </p:spPr>
      </p:sp>
      <p:sp>
        <p:nvSpPr>
          <p:cNvPr id="10" name="Text 8"/>
          <p:cNvSpPr/>
          <p:nvPr/>
        </p:nvSpPr>
        <p:spPr>
          <a:xfrm>
            <a:off x="274320" y="4818888"/>
            <a:ext cx="8595360" cy="324612"/>
          </a:xfrm>
          <a:prstGeom prst="rect">
            <a:avLst/>
          </a:prstGeom>
          <a:noFill/>
          <a:ln/>
        </p:spPr>
        <p:txBody>
          <a:bodyPr wrap="square" rtlCol="0" anchor="ctr"/>
          <a:lstStyle/>
          <a:p>
            <a:pPr marL="0" indent="0" algn="ctr">
              <a:buNone/>
            </a:pPr>
            <a:r>
              <a:rPr lang="en-US" sz="1000" dirty="0">
                <a:solidFill>
                  <a:srgbClr val="E3F0FF"/>
                </a:solidFill>
              </a:rPr>
              <a:t>Department of Computer Science &amp; Engineering  |  2025-2026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0F2A"/>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565C0"/>
          </a:solidFill>
          <a:ln w="12700">
            <a:solidFill>
              <a:srgbClr val="1565C0"/>
            </a:solidFill>
            <a:prstDash val="solid"/>
          </a:ln>
        </p:spPr>
      </p:sp>
      <p:sp>
        <p:nvSpPr>
          <p:cNvPr id="3" name="Shape 1"/>
          <p:cNvSpPr/>
          <p:nvPr/>
        </p:nvSpPr>
        <p:spPr>
          <a:xfrm>
            <a:off x="0" y="868680"/>
            <a:ext cx="9144000" cy="54864"/>
          </a:xfrm>
          <a:prstGeom prst="rect">
            <a:avLst/>
          </a:prstGeom>
          <a:solidFill>
            <a:srgbClr val="1E88E5"/>
          </a:solidFill>
          <a:ln w="12700">
            <a:solidFill>
              <a:srgbClr val="1E88E5"/>
            </a:solidFill>
            <a:prstDash val="solid"/>
          </a:ln>
        </p:spPr>
      </p:sp>
      <p:sp>
        <p:nvSpPr>
          <p:cNvPr id="4" name="Text 2"/>
          <p:cNvSpPr/>
          <p:nvPr/>
        </p:nvSpPr>
        <p:spPr>
          <a:xfrm>
            <a:off x="0" y="0"/>
            <a:ext cx="9144000" cy="868680"/>
          </a:xfrm>
          <a:prstGeom prst="rect">
            <a:avLst/>
          </a:prstGeom>
          <a:noFill/>
          <a:ln/>
        </p:spPr>
        <p:txBody>
          <a:bodyPr wrap="square" rtlCol="0" anchor="ctr"/>
          <a:lstStyle/>
          <a:p>
            <a:pPr marL="0" indent="0" algn="ctr">
              <a:buNone/>
            </a:pPr>
            <a:endParaRPr lang="en-US" sz="2600" b="1" kern="0" spc="500" dirty="0">
              <a:solidFill>
                <a:srgbClr val="FFFFFF"/>
              </a:solidFill>
              <a:latin typeface="Trebuchet MS" pitchFamily="34" charset="0"/>
              <a:ea typeface="Trebuchet MS" pitchFamily="34" charset="-122"/>
              <a:cs typeface="Trebuchet MS" pitchFamily="34" charset="-120"/>
            </a:endParaRPr>
          </a:p>
          <a:p>
            <a:pPr marL="0" indent="0" algn="ctr">
              <a:buNone/>
            </a:pPr>
            <a:r>
              <a:rPr lang="en-US" sz="2600" b="1" kern="0" spc="500" dirty="0">
                <a:solidFill>
                  <a:srgbClr val="FFFFFF"/>
                </a:solidFill>
                <a:latin typeface="Trebuchet MS" pitchFamily="34" charset="0"/>
                <a:ea typeface="Trebuchet MS" pitchFamily="34" charset="-122"/>
                <a:cs typeface="Trebuchet MS" pitchFamily="34" charset="-120"/>
              </a:rPr>
              <a:t>GUIDE  &amp;  TEAM</a:t>
            </a:r>
          </a:p>
        </p:txBody>
      </p:sp>
      <p:sp>
        <p:nvSpPr>
          <p:cNvPr id="5" name="Shape 3"/>
          <p:cNvSpPr/>
          <p:nvPr/>
        </p:nvSpPr>
        <p:spPr>
          <a:xfrm>
            <a:off x="411480" y="1078992"/>
            <a:ext cx="3840480" cy="3566160"/>
          </a:xfrm>
          <a:prstGeom prst="rect">
            <a:avLst/>
          </a:prstGeom>
          <a:solidFill>
            <a:srgbClr val="0A1A3A"/>
          </a:solidFill>
          <a:ln w="12700">
            <a:solidFill>
              <a:srgbClr val="1E88E5"/>
            </a:solidFill>
            <a:prstDash val="solid"/>
          </a:ln>
          <a:effectLst>
            <a:outerShdw blurRad="101600" dist="38100" dir="8100000" algn="bl" rotWithShape="0">
              <a:srgbClr val="0D3270">
                <a:alpha val="13000"/>
              </a:srgbClr>
            </a:outerShdw>
          </a:effectLst>
        </p:spPr>
      </p:sp>
      <p:sp>
        <p:nvSpPr>
          <p:cNvPr id="6" name="Shape 4"/>
          <p:cNvSpPr/>
          <p:nvPr/>
        </p:nvSpPr>
        <p:spPr>
          <a:xfrm>
            <a:off x="411480" y="1078992"/>
            <a:ext cx="3840480" cy="402336"/>
          </a:xfrm>
          <a:prstGeom prst="rect">
            <a:avLst/>
          </a:prstGeom>
          <a:solidFill>
            <a:srgbClr val="1E88E5"/>
          </a:solidFill>
          <a:ln w="12700">
            <a:solidFill>
              <a:srgbClr val="1E88E5"/>
            </a:solidFill>
            <a:prstDash val="solid"/>
          </a:ln>
        </p:spPr>
      </p:sp>
      <p:sp>
        <p:nvSpPr>
          <p:cNvPr id="7" name="Text 5"/>
          <p:cNvSpPr/>
          <p:nvPr/>
        </p:nvSpPr>
        <p:spPr>
          <a:xfrm>
            <a:off x="411480" y="1078992"/>
            <a:ext cx="3840480" cy="402336"/>
          </a:xfrm>
          <a:prstGeom prst="rect">
            <a:avLst/>
          </a:prstGeom>
          <a:noFill/>
          <a:ln/>
        </p:spPr>
        <p:txBody>
          <a:bodyPr wrap="square" lIns="0" tIns="0" rIns="0" bIns="0" rtlCol="0" anchor="ctr"/>
          <a:lstStyle/>
          <a:p>
            <a:pPr marL="0" indent="0" algn="ctr">
              <a:buNone/>
            </a:pPr>
            <a:r>
              <a:rPr lang="en-US" sz="1000" b="1" kern="0" spc="300" dirty="0">
                <a:solidFill>
                  <a:srgbClr val="FFFFFF"/>
                </a:solidFill>
              </a:rPr>
              <a:t>UNDER THE GUIDANCE OF</a:t>
            </a:r>
            <a:endParaRPr lang="en-US" sz="1000" dirty="0"/>
          </a:p>
        </p:txBody>
      </p:sp>
      <p:sp>
        <p:nvSpPr>
          <p:cNvPr id="8" name="Shape 6"/>
          <p:cNvSpPr/>
          <p:nvPr/>
        </p:nvSpPr>
        <p:spPr>
          <a:xfrm>
            <a:off x="594360" y="1627632"/>
            <a:ext cx="3474720" cy="1371600"/>
          </a:xfrm>
          <a:prstGeom prst="rect">
            <a:avLst/>
          </a:prstGeom>
          <a:solidFill>
            <a:srgbClr val="0D3270"/>
          </a:solidFill>
          <a:ln w="10160">
            <a:solidFill>
              <a:srgbClr val="1565C0"/>
            </a:solidFill>
            <a:prstDash val="solid"/>
          </a:ln>
        </p:spPr>
      </p:sp>
      <p:sp>
        <p:nvSpPr>
          <p:cNvPr id="9" name="Text 7"/>
          <p:cNvSpPr/>
          <p:nvPr/>
        </p:nvSpPr>
        <p:spPr>
          <a:xfrm>
            <a:off x="594360" y="1719072"/>
            <a:ext cx="3474720" cy="566928"/>
          </a:xfrm>
          <a:prstGeom prst="rect">
            <a:avLst/>
          </a:prstGeom>
          <a:noFill/>
          <a:ln/>
        </p:spPr>
        <p:txBody>
          <a:bodyPr wrap="square" rtlCol="0" anchor="ctr"/>
          <a:lstStyle/>
          <a:p>
            <a:pPr marL="0" indent="0" algn="ctr">
              <a:buNone/>
            </a:pPr>
            <a:r>
              <a:rPr lang="en-US" sz="2400" b="1" dirty="0">
                <a:solidFill>
                  <a:srgbClr val="FFFFFF"/>
                </a:solidFill>
              </a:rPr>
              <a:t>G. Pranith</a:t>
            </a:r>
            <a:endParaRPr lang="en-US" sz="2400" dirty="0"/>
          </a:p>
        </p:txBody>
      </p:sp>
      <p:sp>
        <p:nvSpPr>
          <p:cNvPr id="10" name="Shape 8"/>
          <p:cNvSpPr/>
          <p:nvPr/>
        </p:nvSpPr>
        <p:spPr>
          <a:xfrm>
            <a:off x="1097280" y="2304288"/>
            <a:ext cx="2468880" cy="27432"/>
          </a:xfrm>
          <a:prstGeom prst="rect">
            <a:avLst/>
          </a:prstGeom>
          <a:solidFill>
            <a:srgbClr val="1E88E5"/>
          </a:solidFill>
          <a:ln w="12700">
            <a:solidFill>
              <a:srgbClr val="1E88E5"/>
            </a:solidFill>
            <a:prstDash val="solid"/>
          </a:ln>
        </p:spPr>
      </p:sp>
      <p:sp>
        <p:nvSpPr>
          <p:cNvPr id="11" name="Text 9"/>
          <p:cNvSpPr/>
          <p:nvPr/>
        </p:nvSpPr>
        <p:spPr>
          <a:xfrm>
            <a:off x="594360" y="2359152"/>
            <a:ext cx="3474720" cy="347472"/>
          </a:xfrm>
          <a:prstGeom prst="rect">
            <a:avLst/>
          </a:prstGeom>
          <a:noFill/>
          <a:ln/>
        </p:spPr>
        <p:txBody>
          <a:bodyPr wrap="square" rtlCol="0" anchor="ctr"/>
          <a:lstStyle/>
          <a:p>
            <a:pPr marL="0" indent="0" algn="ctr">
              <a:buNone/>
            </a:pPr>
            <a:r>
              <a:rPr lang="en-US" sz="1300" dirty="0">
                <a:solidFill>
                  <a:srgbClr val="E3F0FF"/>
                </a:solidFill>
              </a:rPr>
              <a:t>M.Tech (CSE)</a:t>
            </a:r>
            <a:endParaRPr lang="en-US" sz="1300" dirty="0"/>
          </a:p>
        </p:txBody>
      </p:sp>
      <p:sp>
        <p:nvSpPr>
          <p:cNvPr id="12" name="Shape 10"/>
          <p:cNvSpPr/>
          <p:nvPr/>
        </p:nvSpPr>
        <p:spPr>
          <a:xfrm>
            <a:off x="777240" y="3090672"/>
            <a:ext cx="3108960" cy="329184"/>
          </a:xfrm>
          <a:prstGeom prst="rect">
            <a:avLst/>
          </a:prstGeom>
          <a:solidFill>
            <a:srgbClr val="091530"/>
          </a:solidFill>
          <a:ln w="10160">
            <a:solidFill>
              <a:srgbClr val="1565C0"/>
            </a:solidFill>
            <a:prstDash val="solid"/>
          </a:ln>
        </p:spPr>
      </p:sp>
      <p:sp>
        <p:nvSpPr>
          <p:cNvPr id="13" name="Text 11"/>
          <p:cNvSpPr/>
          <p:nvPr/>
        </p:nvSpPr>
        <p:spPr>
          <a:xfrm>
            <a:off x="777240" y="3090672"/>
            <a:ext cx="3108960" cy="329184"/>
          </a:xfrm>
          <a:prstGeom prst="rect">
            <a:avLst/>
          </a:prstGeom>
          <a:noFill/>
          <a:ln/>
        </p:spPr>
        <p:txBody>
          <a:bodyPr wrap="square" rtlCol="0" anchor="ctr"/>
          <a:lstStyle/>
          <a:p>
            <a:pPr marL="0" indent="0" algn="ctr">
              <a:buNone/>
            </a:pPr>
            <a:r>
              <a:rPr lang="en-US" sz="1050" dirty="0">
                <a:solidFill>
                  <a:srgbClr val="E3F0FF"/>
                </a:solidFill>
              </a:rPr>
              <a:t>Assistant Professor  ·  Dept. of CSE</a:t>
            </a:r>
            <a:endParaRPr lang="en-US" sz="1050" dirty="0"/>
          </a:p>
        </p:txBody>
      </p:sp>
      <p:sp>
        <p:nvSpPr>
          <p:cNvPr id="14" name="Shape 12"/>
          <p:cNvSpPr/>
          <p:nvPr/>
        </p:nvSpPr>
        <p:spPr>
          <a:xfrm>
            <a:off x="777240" y="3493008"/>
            <a:ext cx="3108960" cy="329184"/>
          </a:xfrm>
          <a:prstGeom prst="rect">
            <a:avLst/>
          </a:prstGeom>
          <a:solidFill>
            <a:srgbClr val="091530"/>
          </a:solidFill>
          <a:ln w="10160">
            <a:solidFill>
              <a:srgbClr val="1565C0"/>
            </a:solidFill>
            <a:prstDash val="solid"/>
          </a:ln>
        </p:spPr>
      </p:sp>
      <p:sp>
        <p:nvSpPr>
          <p:cNvPr id="15" name="Text 13"/>
          <p:cNvSpPr/>
          <p:nvPr/>
        </p:nvSpPr>
        <p:spPr>
          <a:xfrm>
            <a:off x="777240" y="3493008"/>
            <a:ext cx="3108960" cy="329184"/>
          </a:xfrm>
          <a:prstGeom prst="rect">
            <a:avLst/>
          </a:prstGeom>
          <a:noFill/>
          <a:ln/>
        </p:spPr>
        <p:txBody>
          <a:bodyPr wrap="square" rtlCol="0" anchor="ctr"/>
          <a:lstStyle/>
          <a:p>
            <a:pPr marL="0" indent="0" algn="ctr">
              <a:buNone/>
            </a:pPr>
            <a:r>
              <a:rPr lang="en-US" sz="950" dirty="0">
                <a:solidFill>
                  <a:srgbClr val="5B7DB1"/>
                </a:solidFill>
              </a:rPr>
              <a:t>Eluru College of Engineering &amp; Technology</a:t>
            </a:r>
            <a:endParaRPr lang="en-US" sz="950" dirty="0"/>
          </a:p>
        </p:txBody>
      </p:sp>
      <p:sp>
        <p:nvSpPr>
          <p:cNvPr id="16" name="Shape 14"/>
          <p:cNvSpPr/>
          <p:nvPr/>
        </p:nvSpPr>
        <p:spPr>
          <a:xfrm>
            <a:off x="4480560" y="1078992"/>
            <a:ext cx="4251960" cy="3566160"/>
          </a:xfrm>
          <a:prstGeom prst="rect">
            <a:avLst/>
          </a:prstGeom>
          <a:solidFill>
            <a:srgbClr val="0A1A3A"/>
          </a:solidFill>
          <a:ln w="12700">
            <a:solidFill>
              <a:srgbClr val="1E88E5"/>
            </a:solidFill>
            <a:prstDash val="solid"/>
          </a:ln>
          <a:effectLst>
            <a:outerShdw blurRad="101600" dist="38100" dir="8100000" algn="bl" rotWithShape="0">
              <a:srgbClr val="0D3270">
                <a:alpha val="13000"/>
              </a:srgbClr>
            </a:outerShdw>
          </a:effectLst>
        </p:spPr>
      </p:sp>
      <p:sp>
        <p:nvSpPr>
          <p:cNvPr id="17" name="Shape 15"/>
          <p:cNvSpPr/>
          <p:nvPr/>
        </p:nvSpPr>
        <p:spPr>
          <a:xfrm>
            <a:off x="4480560" y="1078992"/>
            <a:ext cx="4251960" cy="402336"/>
          </a:xfrm>
          <a:prstGeom prst="rect">
            <a:avLst/>
          </a:prstGeom>
          <a:solidFill>
            <a:srgbClr val="0D3270"/>
          </a:solidFill>
          <a:ln w="12700">
            <a:solidFill>
              <a:srgbClr val="0D3270"/>
            </a:solidFill>
            <a:prstDash val="solid"/>
          </a:ln>
        </p:spPr>
      </p:sp>
      <p:sp>
        <p:nvSpPr>
          <p:cNvPr id="18" name="Text 16"/>
          <p:cNvSpPr/>
          <p:nvPr/>
        </p:nvSpPr>
        <p:spPr>
          <a:xfrm>
            <a:off x="4480560" y="1078992"/>
            <a:ext cx="4251960" cy="402336"/>
          </a:xfrm>
          <a:prstGeom prst="rect">
            <a:avLst/>
          </a:prstGeom>
          <a:noFill/>
          <a:ln/>
        </p:spPr>
        <p:txBody>
          <a:bodyPr wrap="square" lIns="0" tIns="0" rIns="0" bIns="0" rtlCol="0" anchor="ctr"/>
          <a:lstStyle/>
          <a:p>
            <a:pPr marL="0" indent="0" algn="ctr">
              <a:buNone/>
            </a:pPr>
            <a:r>
              <a:rPr lang="en-US" sz="1000" b="1" kern="0" spc="300" dirty="0">
                <a:solidFill>
                  <a:srgbClr val="E3F0FF"/>
                </a:solidFill>
              </a:rPr>
              <a:t>TEAM  MEMBERS</a:t>
            </a:r>
            <a:endParaRPr lang="en-US" sz="1000" dirty="0"/>
          </a:p>
        </p:txBody>
      </p:sp>
      <p:sp>
        <p:nvSpPr>
          <p:cNvPr id="19" name="Shape 17"/>
          <p:cNvSpPr/>
          <p:nvPr/>
        </p:nvSpPr>
        <p:spPr>
          <a:xfrm>
            <a:off x="4617720" y="1600200"/>
            <a:ext cx="3977640" cy="877824"/>
          </a:xfrm>
          <a:prstGeom prst="rect">
            <a:avLst/>
          </a:prstGeom>
          <a:solidFill>
            <a:srgbClr val="0D3270"/>
          </a:solidFill>
          <a:ln w="7620">
            <a:solidFill>
              <a:srgbClr val="1565C0"/>
            </a:solidFill>
            <a:prstDash val="solid"/>
          </a:ln>
        </p:spPr>
      </p:sp>
      <p:sp>
        <p:nvSpPr>
          <p:cNvPr id="20" name="Shape 18"/>
          <p:cNvSpPr/>
          <p:nvPr/>
        </p:nvSpPr>
        <p:spPr>
          <a:xfrm>
            <a:off x="4617720" y="1600200"/>
            <a:ext cx="164592" cy="877824"/>
          </a:xfrm>
          <a:prstGeom prst="rect">
            <a:avLst/>
          </a:prstGeom>
          <a:solidFill>
            <a:srgbClr val="1E88E5"/>
          </a:solidFill>
          <a:ln w="12700">
            <a:solidFill>
              <a:srgbClr val="1E88E5"/>
            </a:solidFill>
            <a:prstDash val="solid"/>
          </a:ln>
        </p:spPr>
      </p:sp>
      <p:sp>
        <p:nvSpPr>
          <p:cNvPr id="21" name="Shape 19"/>
          <p:cNvSpPr/>
          <p:nvPr/>
        </p:nvSpPr>
        <p:spPr>
          <a:xfrm>
            <a:off x="7406640" y="1673352"/>
            <a:ext cx="1078992" cy="256032"/>
          </a:xfrm>
          <a:prstGeom prst="rect">
            <a:avLst/>
          </a:prstGeom>
          <a:solidFill>
            <a:srgbClr val="1E88E5"/>
          </a:solidFill>
          <a:ln w="12700">
            <a:solidFill>
              <a:srgbClr val="1E88E5"/>
            </a:solidFill>
            <a:prstDash val="solid"/>
          </a:ln>
        </p:spPr>
      </p:sp>
      <p:sp>
        <p:nvSpPr>
          <p:cNvPr id="22" name="Text 20"/>
          <p:cNvSpPr/>
          <p:nvPr/>
        </p:nvSpPr>
        <p:spPr>
          <a:xfrm>
            <a:off x="7406640" y="1673352"/>
            <a:ext cx="1078992" cy="256032"/>
          </a:xfrm>
          <a:prstGeom prst="rect">
            <a:avLst/>
          </a:prstGeom>
          <a:noFill/>
          <a:ln/>
        </p:spPr>
        <p:txBody>
          <a:bodyPr wrap="square" lIns="0" tIns="0" rIns="0" bIns="0" rtlCol="0" anchor="ctr"/>
          <a:lstStyle/>
          <a:p>
            <a:pPr marL="0" indent="0" algn="ctr">
              <a:buNone/>
            </a:pPr>
            <a:r>
              <a:rPr lang="en-US" sz="850" b="1" dirty="0">
                <a:solidFill>
                  <a:srgbClr val="FFFFFF"/>
                </a:solidFill>
              </a:rPr>
              <a:t>Team Leader</a:t>
            </a:r>
            <a:endParaRPr lang="en-US" sz="850" dirty="0"/>
          </a:p>
        </p:txBody>
      </p:sp>
      <p:sp>
        <p:nvSpPr>
          <p:cNvPr id="23" name="Text 21"/>
          <p:cNvSpPr/>
          <p:nvPr/>
        </p:nvSpPr>
        <p:spPr>
          <a:xfrm>
            <a:off x="4864608" y="1691640"/>
            <a:ext cx="2423160" cy="347472"/>
          </a:xfrm>
          <a:prstGeom prst="rect">
            <a:avLst/>
          </a:prstGeom>
          <a:noFill/>
          <a:ln/>
        </p:spPr>
        <p:txBody>
          <a:bodyPr wrap="square" rtlCol="0" anchor="ctr"/>
          <a:lstStyle/>
          <a:p>
            <a:pPr marL="0" indent="0">
              <a:buNone/>
            </a:pPr>
            <a:r>
              <a:rPr lang="en-US" sz="1300" b="1" dirty="0">
                <a:solidFill>
                  <a:srgbClr val="FFFFFF"/>
                </a:solidFill>
              </a:rPr>
              <a:t>Mallika Nagasuri</a:t>
            </a:r>
            <a:endParaRPr lang="en-US" sz="1300" dirty="0"/>
          </a:p>
        </p:txBody>
      </p:sp>
      <p:sp>
        <p:nvSpPr>
          <p:cNvPr id="24" name="Text 22"/>
          <p:cNvSpPr/>
          <p:nvPr/>
        </p:nvSpPr>
        <p:spPr>
          <a:xfrm>
            <a:off x="4864608" y="2103120"/>
            <a:ext cx="2423160" cy="256032"/>
          </a:xfrm>
          <a:prstGeom prst="rect">
            <a:avLst/>
          </a:prstGeom>
          <a:noFill/>
          <a:ln/>
        </p:spPr>
        <p:txBody>
          <a:bodyPr wrap="square" rtlCol="0" anchor="ctr"/>
          <a:lstStyle/>
          <a:p>
            <a:pPr marL="0" indent="0">
              <a:buNone/>
            </a:pPr>
            <a:r>
              <a:rPr lang="en-US" sz="1000" dirty="0">
                <a:solidFill>
                  <a:srgbClr val="5B7DB1"/>
                </a:solidFill>
              </a:rPr>
              <a:t>Roll No: 22JD1A0575</a:t>
            </a:r>
            <a:endParaRPr lang="en-US" sz="1000" dirty="0"/>
          </a:p>
        </p:txBody>
      </p:sp>
      <p:sp>
        <p:nvSpPr>
          <p:cNvPr id="25" name="Shape 23"/>
          <p:cNvSpPr/>
          <p:nvPr/>
        </p:nvSpPr>
        <p:spPr>
          <a:xfrm>
            <a:off x="4617720" y="2587752"/>
            <a:ext cx="3977640" cy="877824"/>
          </a:xfrm>
          <a:prstGeom prst="rect">
            <a:avLst/>
          </a:prstGeom>
          <a:solidFill>
            <a:srgbClr val="0D3270"/>
          </a:solidFill>
          <a:ln w="7620">
            <a:solidFill>
              <a:srgbClr val="1565C0"/>
            </a:solidFill>
            <a:prstDash val="solid"/>
          </a:ln>
        </p:spPr>
      </p:sp>
      <p:sp>
        <p:nvSpPr>
          <p:cNvPr id="26" name="Shape 24"/>
          <p:cNvSpPr/>
          <p:nvPr/>
        </p:nvSpPr>
        <p:spPr>
          <a:xfrm>
            <a:off x="4617720" y="2587752"/>
            <a:ext cx="164592" cy="877824"/>
          </a:xfrm>
          <a:prstGeom prst="rect">
            <a:avLst/>
          </a:prstGeom>
          <a:solidFill>
            <a:srgbClr val="1565C0"/>
          </a:solidFill>
          <a:ln w="12700">
            <a:solidFill>
              <a:srgbClr val="1565C0"/>
            </a:solidFill>
            <a:prstDash val="solid"/>
          </a:ln>
        </p:spPr>
      </p:sp>
      <p:sp>
        <p:nvSpPr>
          <p:cNvPr id="27" name="Shape 25"/>
          <p:cNvSpPr/>
          <p:nvPr/>
        </p:nvSpPr>
        <p:spPr>
          <a:xfrm>
            <a:off x="7406640" y="2660904"/>
            <a:ext cx="1078992" cy="256032"/>
          </a:xfrm>
          <a:prstGeom prst="rect">
            <a:avLst/>
          </a:prstGeom>
          <a:solidFill>
            <a:srgbClr val="1565C0"/>
          </a:solidFill>
          <a:ln w="12700">
            <a:solidFill>
              <a:srgbClr val="1565C0"/>
            </a:solidFill>
            <a:prstDash val="solid"/>
          </a:ln>
        </p:spPr>
      </p:sp>
      <p:sp>
        <p:nvSpPr>
          <p:cNvPr id="28" name="Text 26"/>
          <p:cNvSpPr/>
          <p:nvPr/>
        </p:nvSpPr>
        <p:spPr>
          <a:xfrm>
            <a:off x="7406640" y="2660904"/>
            <a:ext cx="1078992" cy="256032"/>
          </a:xfrm>
          <a:prstGeom prst="rect">
            <a:avLst/>
          </a:prstGeom>
          <a:noFill/>
          <a:ln/>
        </p:spPr>
        <p:txBody>
          <a:bodyPr wrap="square" lIns="0" tIns="0" rIns="0" bIns="0" rtlCol="0" anchor="ctr"/>
          <a:lstStyle/>
          <a:p>
            <a:pPr marL="0" indent="0" algn="ctr">
              <a:buNone/>
            </a:pPr>
            <a:r>
              <a:rPr lang="en-US" sz="850" b="1" dirty="0">
                <a:solidFill>
                  <a:srgbClr val="FFFFFF"/>
                </a:solidFill>
              </a:rPr>
              <a:t>Member</a:t>
            </a:r>
            <a:endParaRPr lang="en-US" sz="850" dirty="0"/>
          </a:p>
        </p:txBody>
      </p:sp>
      <p:sp>
        <p:nvSpPr>
          <p:cNvPr id="29" name="Text 27"/>
          <p:cNvSpPr/>
          <p:nvPr/>
        </p:nvSpPr>
        <p:spPr>
          <a:xfrm>
            <a:off x="4864608" y="2679192"/>
            <a:ext cx="2423160" cy="347472"/>
          </a:xfrm>
          <a:prstGeom prst="rect">
            <a:avLst/>
          </a:prstGeom>
          <a:noFill/>
          <a:ln/>
        </p:spPr>
        <p:txBody>
          <a:bodyPr wrap="square" rtlCol="0" anchor="ctr"/>
          <a:lstStyle/>
          <a:p>
            <a:pPr marL="0" indent="0">
              <a:buNone/>
            </a:pPr>
            <a:r>
              <a:rPr lang="en-US" sz="1300" b="1" dirty="0">
                <a:solidFill>
                  <a:srgbClr val="FFFFFF"/>
                </a:solidFill>
              </a:rPr>
              <a:t>Sharif Shaik</a:t>
            </a:r>
            <a:endParaRPr lang="en-US" sz="1300" dirty="0"/>
          </a:p>
        </p:txBody>
      </p:sp>
      <p:sp>
        <p:nvSpPr>
          <p:cNvPr id="30" name="Text 28"/>
          <p:cNvSpPr/>
          <p:nvPr/>
        </p:nvSpPr>
        <p:spPr>
          <a:xfrm>
            <a:off x="4864608" y="3090672"/>
            <a:ext cx="2423160" cy="256032"/>
          </a:xfrm>
          <a:prstGeom prst="rect">
            <a:avLst/>
          </a:prstGeom>
          <a:noFill/>
          <a:ln/>
        </p:spPr>
        <p:txBody>
          <a:bodyPr wrap="square" rtlCol="0" anchor="ctr"/>
          <a:lstStyle/>
          <a:p>
            <a:pPr marL="0" indent="0">
              <a:buNone/>
            </a:pPr>
            <a:r>
              <a:rPr lang="en-US" sz="1000" dirty="0">
                <a:solidFill>
                  <a:srgbClr val="5B7DB1"/>
                </a:solidFill>
              </a:rPr>
              <a:t>Roll No: 22JD1A05A6</a:t>
            </a:r>
            <a:endParaRPr lang="en-US" sz="1000" dirty="0"/>
          </a:p>
        </p:txBody>
      </p:sp>
      <p:sp>
        <p:nvSpPr>
          <p:cNvPr id="31" name="Shape 29"/>
          <p:cNvSpPr/>
          <p:nvPr/>
        </p:nvSpPr>
        <p:spPr>
          <a:xfrm>
            <a:off x="4617720" y="3575304"/>
            <a:ext cx="3977640" cy="877824"/>
          </a:xfrm>
          <a:prstGeom prst="rect">
            <a:avLst/>
          </a:prstGeom>
          <a:solidFill>
            <a:srgbClr val="0D3270"/>
          </a:solidFill>
          <a:ln w="7620">
            <a:solidFill>
              <a:srgbClr val="1565C0"/>
            </a:solidFill>
            <a:prstDash val="solid"/>
          </a:ln>
        </p:spPr>
      </p:sp>
      <p:sp>
        <p:nvSpPr>
          <p:cNvPr id="32" name="Shape 30"/>
          <p:cNvSpPr/>
          <p:nvPr/>
        </p:nvSpPr>
        <p:spPr>
          <a:xfrm>
            <a:off x="4617720" y="3575304"/>
            <a:ext cx="164592" cy="877824"/>
          </a:xfrm>
          <a:prstGeom prst="rect">
            <a:avLst/>
          </a:prstGeom>
          <a:solidFill>
            <a:srgbClr val="0D3270"/>
          </a:solidFill>
          <a:ln w="12700">
            <a:solidFill>
              <a:srgbClr val="0D3270"/>
            </a:solidFill>
            <a:prstDash val="solid"/>
          </a:ln>
        </p:spPr>
      </p:sp>
      <p:sp>
        <p:nvSpPr>
          <p:cNvPr id="33" name="Shape 31"/>
          <p:cNvSpPr/>
          <p:nvPr/>
        </p:nvSpPr>
        <p:spPr>
          <a:xfrm>
            <a:off x="7406640" y="3648456"/>
            <a:ext cx="1078992" cy="256032"/>
          </a:xfrm>
          <a:prstGeom prst="rect">
            <a:avLst/>
          </a:prstGeom>
          <a:solidFill>
            <a:srgbClr val="0D3270"/>
          </a:solidFill>
          <a:ln w="12700">
            <a:solidFill>
              <a:srgbClr val="0D3270"/>
            </a:solidFill>
            <a:prstDash val="solid"/>
          </a:ln>
        </p:spPr>
      </p:sp>
      <p:sp>
        <p:nvSpPr>
          <p:cNvPr id="34" name="Text 32"/>
          <p:cNvSpPr/>
          <p:nvPr/>
        </p:nvSpPr>
        <p:spPr>
          <a:xfrm>
            <a:off x="7406640" y="3648456"/>
            <a:ext cx="1078992" cy="256032"/>
          </a:xfrm>
          <a:prstGeom prst="rect">
            <a:avLst/>
          </a:prstGeom>
          <a:noFill/>
          <a:ln/>
        </p:spPr>
        <p:txBody>
          <a:bodyPr wrap="square" lIns="0" tIns="0" rIns="0" bIns="0" rtlCol="0" anchor="ctr"/>
          <a:lstStyle/>
          <a:p>
            <a:pPr marL="0" indent="0" algn="ctr">
              <a:buNone/>
            </a:pPr>
            <a:r>
              <a:rPr lang="en-US" sz="850" b="1" dirty="0">
                <a:solidFill>
                  <a:srgbClr val="FFFFFF"/>
                </a:solidFill>
              </a:rPr>
              <a:t>Member</a:t>
            </a:r>
            <a:endParaRPr lang="en-US" sz="850" dirty="0"/>
          </a:p>
        </p:txBody>
      </p:sp>
      <p:sp>
        <p:nvSpPr>
          <p:cNvPr id="35" name="Text 33"/>
          <p:cNvSpPr/>
          <p:nvPr/>
        </p:nvSpPr>
        <p:spPr>
          <a:xfrm>
            <a:off x="4864608" y="3666744"/>
            <a:ext cx="2423160" cy="347472"/>
          </a:xfrm>
          <a:prstGeom prst="rect">
            <a:avLst/>
          </a:prstGeom>
          <a:noFill/>
          <a:ln/>
        </p:spPr>
        <p:txBody>
          <a:bodyPr wrap="square" rtlCol="0" anchor="ctr"/>
          <a:lstStyle/>
          <a:p>
            <a:pPr marL="0" indent="0">
              <a:buNone/>
            </a:pPr>
            <a:r>
              <a:rPr lang="en-US" sz="1300" b="1" dirty="0">
                <a:solidFill>
                  <a:srgbClr val="FFFFFF"/>
                </a:solidFill>
              </a:rPr>
              <a:t>Durga Tejesh Naramamidi</a:t>
            </a:r>
            <a:endParaRPr lang="en-US" sz="1300" dirty="0"/>
          </a:p>
        </p:txBody>
      </p:sp>
      <p:sp>
        <p:nvSpPr>
          <p:cNvPr id="36" name="Text 34"/>
          <p:cNvSpPr/>
          <p:nvPr/>
        </p:nvSpPr>
        <p:spPr>
          <a:xfrm>
            <a:off x="4864608" y="4078224"/>
            <a:ext cx="2423160" cy="256032"/>
          </a:xfrm>
          <a:prstGeom prst="rect">
            <a:avLst/>
          </a:prstGeom>
          <a:noFill/>
          <a:ln/>
        </p:spPr>
        <p:txBody>
          <a:bodyPr wrap="square" rtlCol="0" anchor="ctr"/>
          <a:lstStyle/>
          <a:p>
            <a:pPr marL="0" indent="0">
              <a:buNone/>
            </a:pPr>
            <a:r>
              <a:rPr lang="en-US" sz="1000" dirty="0">
                <a:solidFill>
                  <a:srgbClr val="5B7DB1"/>
                </a:solidFill>
              </a:rPr>
              <a:t>Roll No: 22JD1A0578</a:t>
            </a:r>
            <a:endParaRPr lang="en-US" sz="1000" dirty="0"/>
          </a:p>
        </p:txBody>
      </p:sp>
      <p:sp>
        <p:nvSpPr>
          <p:cNvPr id="37" name="Shape 35"/>
          <p:cNvSpPr/>
          <p:nvPr/>
        </p:nvSpPr>
        <p:spPr>
          <a:xfrm>
            <a:off x="0" y="4974336"/>
            <a:ext cx="9144000" cy="169164"/>
          </a:xfrm>
          <a:prstGeom prst="rect">
            <a:avLst/>
          </a:prstGeom>
          <a:solidFill>
            <a:srgbClr val="1565C0"/>
          </a:solidFill>
          <a:ln w="12700">
            <a:solidFill>
              <a:srgbClr val="1565C0"/>
            </a:solidFill>
            <a:prstDash val="solid"/>
          </a:ln>
        </p:spPr>
      </p:sp>
      <p:sp>
        <p:nvSpPr>
          <p:cNvPr id="38" name="Text 36"/>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5" name="Shape 3"/>
          <p:cNvSpPr/>
          <p:nvPr/>
        </p:nvSpPr>
        <p:spPr>
          <a:xfrm>
            <a:off x="411480" y="256032"/>
            <a:ext cx="8321040" cy="658368"/>
          </a:xfrm>
          <a:prstGeom prst="rect">
            <a:avLst/>
          </a:prstGeom>
          <a:solidFill>
            <a:srgbClr val="1565C0"/>
          </a:solidFill>
          <a:ln w="12700">
            <a:solidFill>
              <a:srgbClr val="1565C0"/>
            </a:solidFill>
            <a:prstDash val="solid"/>
          </a:ln>
          <a:effectLst>
            <a:outerShdw blurRad="101600" dist="38100" dir="8100000" algn="bl" rotWithShape="0">
              <a:srgbClr val="0D3270">
                <a:alpha val="13000"/>
              </a:srgbClr>
            </a:outerShdw>
          </a:effectLst>
        </p:spPr>
      </p:sp>
      <p:sp>
        <p:nvSpPr>
          <p:cNvPr id="6" name="Text 4"/>
          <p:cNvSpPr/>
          <p:nvPr/>
        </p:nvSpPr>
        <p:spPr>
          <a:xfrm>
            <a:off x="411480" y="256032"/>
            <a:ext cx="8321040" cy="658368"/>
          </a:xfrm>
          <a:prstGeom prst="rect">
            <a:avLst/>
          </a:prstGeom>
          <a:noFill/>
          <a:ln/>
        </p:spPr>
        <p:txBody>
          <a:bodyPr wrap="square" lIns="0" tIns="0" rIns="0" bIns="0" rtlCol="0" anchor="ctr"/>
          <a:lstStyle/>
          <a:p>
            <a:pPr marL="0" indent="0" algn="ctr">
              <a:buNone/>
            </a:pPr>
            <a:r>
              <a:rPr lang="en-US" sz="2200" b="1" dirty="0">
                <a:solidFill>
                  <a:srgbClr val="FFFFFF"/>
                </a:solidFill>
              </a:rPr>
              <a:t>Abstract</a:t>
            </a:r>
            <a:endParaRPr lang="en-US" sz="2200" dirty="0"/>
          </a:p>
        </p:txBody>
      </p:sp>
      <p:sp>
        <p:nvSpPr>
          <p:cNvPr id="7" name="Shape 5"/>
          <p:cNvSpPr/>
          <p:nvPr/>
        </p:nvSpPr>
        <p:spPr>
          <a:xfrm>
            <a:off x="411480" y="1051560"/>
            <a:ext cx="164592" cy="3566160"/>
          </a:xfrm>
          <a:prstGeom prst="rect">
            <a:avLst/>
          </a:prstGeom>
          <a:solidFill>
            <a:srgbClr val="1E88E5"/>
          </a:solidFill>
          <a:ln w="12700">
            <a:solidFill>
              <a:srgbClr val="1E88E5"/>
            </a:solidFill>
            <a:prstDash val="solid"/>
          </a:ln>
        </p:spPr>
      </p:sp>
      <p:sp>
        <p:nvSpPr>
          <p:cNvPr id="8" name="Shape 6"/>
          <p:cNvSpPr/>
          <p:nvPr/>
        </p:nvSpPr>
        <p:spPr>
          <a:xfrm>
            <a:off x="411480" y="1051560"/>
            <a:ext cx="8321040" cy="3566160"/>
          </a:xfrm>
          <a:prstGeom prst="rect">
            <a:avLst/>
          </a:prstGeom>
          <a:solidFill>
            <a:srgbClr val="F0F6FF"/>
          </a:solidFill>
          <a:ln w="12700">
            <a:solidFill>
              <a:srgbClr val="E3F0FF"/>
            </a:solidFill>
            <a:prstDash val="solid"/>
          </a:ln>
        </p:spPr>
      </p:sp>
      <p:sp>
        <p:nvSpPr>
          <p:cNvPr id="9" name="Text 7"/>
          <p:cNvSpPr/>
          <p:nvPr/>
        </p:nvSpPr>
        <p:spPr>
          <a:xfrm>
            <a:off x="411480" y="1213365"/>
            <a:ext cx="8322234" cy="3396799"/>
          </a:xfrm>
          <a:prstGeom prst="rect">
            <a:avLst/>
          </a:prstGeom>
          <a:noFill/>
          <a:ln/>
        </p:spPr>
        <p:txBody>
          <a:bodyPr wrap="square" rtlCol="0" anchor="t"/>
          <a:lstStyle/>
          <a:p>
            <a:pPr marL="0" indent="0" algn="just">
              <a:lnSpc>
                <a:spcPct val="135000"/>
              </a:lnSpc>
              <a:buNone/>
            </a:pPr>
            <a:r>
              <a:rPr lang="en-US" sz="1600" dirty="0">
                <a:solidFill>
                  <a:srgbClr val="1A3A6B"/>
                </a:solidFill>
              </a:rPr>
              <a:t>At present, exponential growth in multimedia data transmission takes place due to a significant rise in network bandwidth and video image compression technologies. However, transmission of videos over wireless channels brings unseen risks of sensitive video details being corrupted and distributed illegally.</a:t>
            </a:r>
            <a:r>
              <a:rPr lang="en-US" sz="1600" dirty="0"/>
              <a:t> </a:t>
            </a:r>
            <a:r>
              <a:rPr lang="en-US" sz="1600" dirty="0">
                <a:solidFill>
                  <a:srgbClr val="1A3A6B"/>
                </a:solidFill>
              </a:rPr>
              <a:t>Several encryption models have been presented, yet performance can be further improved. An efficient novel video encryption technique is presented using an enhanced variant of Fully Homomorphic Encryption (FHE) called the EFHE model.</a:t>
            </a:r>
            <a:r>
              <a:rPr lang="en-US" sz="1600" dirty="0"/>
              <a:t> </a:t>
            </a:r>
            <a:r>
              <a:rPr lang="en-US" sz="1600" dirty="0">
                <a:solidFill>
                  <a:srgbClr val="1A3A6B"/>
                </a:solidFill>
              </a:rPr>
              <a:t>By hybridization of Ducas &amp; Micciancio (DM) with the FHE model by Gentry, Sahai &amp; Waters (GSW), matrix operations and vector additions are employed. A new key generation scheme increases encryption speed. The EFHE model is placed on a cloud environment, reducing communication and computation complexity.</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5" name="Shape 3"/>
          <p:cNvSpPr/>
          <p:nvPr/>
        </p:nvSpPr>
        <p:spPr>
          <a:xfrm>
            <a:off x="411480" y="256032"/>
            <a:ext cx="8321040" cy="658368"/>
          </a:xfrm>
          <a:prstGeom prst="rect">
            <a:avLst/>
          </a:prstGeom>
          <a:solidFill>
            <a:srgbClr val="1565C0"/>
          </a:solidFill>
          <a:ln w="12700">
            <a:solidFill>
              <a:srgbClr val="1565C0"/>
            </a:solidFill>
            <a:prstDash val="solid"/>
          </a:ln>
          <a:effectLst>
            <a:outerShdw blurRad="101600" dist="38100" dir="8100000" algn="bl" rotWithShape="0">
              <a:srgbClr val="0D3270">
                <a:alpha val="13000"/>
              </a:srgbClr>
            </a:outerShdw>
          </a:effectLst>
        </p:spPr>
      </p:sp>
      <p:sp>
        <p:nvSpPr>
          <p:cNvPr id="6" name="Text 4"/>
          <p:cNvSpPr/>
          <p:nvPr/>
        </p:nvSpPr>
        <p:spPr>
          <a:xfrm>
            <a:off x="411480" y="256032"/>
            <a:ext cx="8321040" cy="658368"/>
          </a:xfrm>
          <a:prstGeom prst="rect">
            <a:avLst/>
          </a:prstGeom>
          <a:noFill/>
          <a:ln/>
        </p:spPr>
        <p:txBody>
          <a:bodyPr wrap="square" lIns="0" tIns="0" rIns="0" bIns="0" rtlCol="0" anchor="ctr"/>
          <a:lstStyle/>
          <a:p>
            <a:pPr marL="0" indent="0" algn="ctr">
              <a:buNone/>
            </a:pPr>
            <a:r>
              <a:rPr lang="en-US" sz="2200" b="1" dirty="0">
                <a:solidFill>
                  <a:srgbClr val="FFFFFF"/>
                </a:solidFill>
              </a:rPr>
              <a:t>Introduction</a:t>
            </a:r>
            <a:endParaRPr lang="en-US" sz="2200" dirty="0"/>
          </a:p>
        </p:txBody>
      </p:sp>
      <p:sp>
        <p:nvSpPr>
          <p:cNvPr id="7" name="Shape 5"/>
          <p:cNvSpPr/>
          <p:nvPr/>
        </p:nvSpPr>
        <p:spPr>
          <a:xfrm>
            <a:off x="411480" y="1051560"/>
            <a:ext cx="2629894" cy="3721608"/>
          </a:xfrm>
          <a:prstGeom prst="rect">
            <a:avLst/>
          </a:prstGeom>
          <a:solidFill>
            <a:srgbClr val="0D3270"/>
          </a:solidFill>
          <a:ln w="12700">
            <a:solidFill>
              <a:srgbClr val="0D3270"/>
            </a:solidFill>
            <a:prstDash val="solid"/>
          </a:ln>
          <a:effectLst>
            <a:outerShdw blurRad="101600" dist="38100" dir="8100000" algn="bl" rotWithShape="0">
              <a:srgbClr val="0D3270">
                <a:alpha val="13000"/>
              </a:srgbClr>
            </a:outerShdw>
          </a:effectLst>
        </p:spPr>
      </p:sp>
      <p:sp>
        <p:nvSpPr>
          <p:cNvPr id="8" name="Text 6"/>
          <p:cNvSpPr/>
          <p:nvPr/>
        </p:nvSpPr>
        <p:spPr>
          <a:xfrm>
            <a:off x="109330" y="1051560"/>
            <a:ext cx="3063240" cy="777240"/>
          </a:xfrm>
          <a:prstGeom prst="rect">
            <a:avLst/>
          </a:prstGeom>
          <a:noFill/>
          <a:ln/>
        </p:spPr>
        <p:txBody>
          <a:bodyPr wrap="square" rtlCol="0" anchor="ctr"/>
          <a:lstStyle/>
          <a:p>
            <a:pPr marL="0" indent="0" algn="ctr">
              <a:buNone/>
            </a:pPr>
            <a:r>
              <a:rPr lang="en-US" sz="1400" b="1" dirty="0">
                <a:solidFill>
                  <a:srgbClr val="FFFFFF"/>
                </a:solidFill>
              </a:rPr>
              <a:t>5 Characteristics of</a:t>
            </a:r>
            <a:endParaRPr lang="en-US" sz="1400" dirty="0"/>
          </a:p>
          <a:p>
            <a:pPr marL="0" indent="0" algn="ctr">
              <a:buNone/>
            </a:pPr>
            <a:r>
              <a:rPr lang="en-US" sz="1400" b="1" dirty="0">
                <a:solidFill>
                  <a:srgbClr val="FFFFFF"/>
                </a:solidFill>
              </a:rPr>
              <a:t>Video Encryption</a:t>
            </a:r>
            <a:endParaRPr lang="en-US" sz="1400" dirty="0"/>
          </a:p>
        </p:txBody>
      </p:sp>
      <p:sp>
        <p:nvSpPr>
          <p:cNvPr id="9" name="Shape 7"/>
          <p:cNvSpPr/>
          <p:nvPr/>
        </p:nvSpPr>
        <p:spPr>
          <a:xfrm>
            <a:off x="566928" y="1820155"/>
            <a:ext cx="2297927" cy="45719"/>
          </a:xfrm>
          <a:prstGeom prst="rect">
            <a:avLst/>
          </a:prstGeom>
          <a:solidFill>
            <a:srgbClr val="1E88E5"/>
          </a:solidFill>
          <a:ln w="12700">
            <a:solidFill>
              <a:srgbClr val="1E88E5"/>
            </a:solidFill>
            <a:prstDash val="solid"/>
          </a:ln>
        </p:spPr>
      </p:sp>
      <p:sp>
        <p:nvSpPr>
          <p:cNvPr id="10" name="Shape 8"/>
          <p:cNvSpPr/>
          <p:nvPr/>
        </p:nvSpPr>
        <p:spPr>
          <a:xfrm>
            <a:off x="566928" y="2048256"/>
            <a:ext cx="2325359" cy="420624"/>
          </a:xfrm>
          <a:prstGeom prst="rect">
            <a:avLst/>
          </a:prstGeom>
          <a:solidFill>
            <a:srgbClr val="091E40"/>
          </a:solidFill>
          <a:ln w="6350">
            <a:solidFill>
              <a:srgbClr val="1565C0"/>
            </a:solidFill>
            <a:prstDash val="solid"/>
          </a:ln>
        </p:spPr>
      </p:sp>
      <p:sp>
        <p:nvSpPr>
          <p:cNvPr id="11" name="Text 9"/>
          <p:cNvSpPr/>
          <p:nvPr/>
        </p:nvSpPr>
        <p:spPr>
          <a:xfrm>
            <a:off x="640080" y="2075688"/>
            <a:ext cx="365760" cy="36576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2" name="Text 10"/>
          <p:cNvSpPr/>
          <p:nvPr/>
        </p:nvSpPr>
        <p:spPr>
          <a:xfrm>
            <a:off x="1078992" y="2075688"/>
            <a:ext cx="2286000" cy="365760"/>
          </a:xfrm>
          <a:prstGeom prst="rect">
            <a:avLst/>
          </a:prstGeom>
          <a:noFill/>
          <a:ln/>
        </p:spPr>
        <p:txBody>
          <a:bodyPr wrap="square" rtlCol="0" anchor="ctr"/>
          <a:lstStyle/>
          <a:p>
            <a:pPr marL="0" indent="0">
              <a:buNone/>
            </a:pPr>
            <a:r>
              <a:rPr lang="en-US" sz="1150" dirty="0">
                <a:solidFill>
                  <a:srgbClr val="E3F0FF"/>
                </a:solidFill>
              </a:rPr>
              <a:t>Security</a:t>
            </a:r>
            <a:endParaRPr lang="en-US" sz="1150" dirty="0"/>
          </a:p>
        </p:txBody>
      </p:sp>
      <p:sp>
        <p:nvSpPr>
          <p:cNvPr id="13" name="Shape 11"/>
          <p:cNvSpPr/>
          <p:nvPr/>
        </p:nvSpPr>
        <p:spPr>
          <a:xfrm>
            <a:off x="566928" y="2542032"/>
            <a:ext cx="2325359" cy="420624"/>
          </a:xfrm>
          <a:prstGeom prst="rect">
            <a:avLst/>
          </a:prstGeom>
          <a:solidFill>
            <a:srgbClr val="091E40"/>
          </a:solidFill>
          <a:ln w="6350">
            <a:solidFill>
              <a:srgbClr val="1565C0"/>
            </a:solidFill>
            <a:prstDash val="solid"/>
          </a:ln>
        </p:spPr>
      </p:sp>
      <p:sp>
        <p:nvSpPr>
          <p:cNvPr id="14" name="Text 12"/>
          <p:cNvSpPr/>
          <p:nvPr/>
        </p:nvSpPr>
        <p:spPr>
          <a:xfrm>
            <a:off x="640080" y="2569464"/>
            <a:ext cx="365760" cy="36576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1078992" y="2569464"/>
            <a:ext cx="2286000" cy="365760"/>
          </a:xfrm>
          <a:prstGeom prst="rect">
            <a:avLst/>
          </a:prstGeom>
          <a:noFill/>
          <a:ln/>
        </p:spPr>
        <p:txBody>
          <a:bodyPr wrap="square" rtlCol="0" anchor="ctr"/>
          <a:lstStyle/>
          <a:p>
            <a:pPr marL="0" indent="0">
              <a:buNone/>
            </a:pPr>
            <a:r>
              <a:rPr lang="en-US" sz="1150" dirty="0">
                <a:solidFill>
                  <a:srgbClr val="E3F0FF"/>
                </a:solidFill>
              </a:rPr>
              <a:t>Compression Ratio (CR)</a:t>
            </a:r>
            <a:endParaRPr lang="en-US" sz="1150" dirty="0"/>
          </a:p>
        </p:txBody>
      </p:sp>
      <p:sp>
        <p:nvSpPr>
          <p:cNvPr id="16" name="Shape 14"/>
          <p:cNvSpPr/>
          <p:nvPr/>
        </p:nvSpPr>
        <p:spPr>
          <a:xfrm>
            <a:off x="566928" y="3035808"/>
            <a:ext cx="2325359" cy="420624"/>
          </a:xfrm>
          <a:prstGeom prst="rect">
            <a:avLst/>
          </a:prstGeom>
          <a:solidFill>
            <a:srgbClr val="091E40"/>
          </a:solidFill>
          <a:ln w="6350">
            <a:solidFill>
              <a:srgbClr val="1565C0"/>
            </a:solidFill>
            <a:prstDash val="solid"/>
          </a:ln>
        </p:spPr>
      </p:sp>
      <p:sp>
        <p:nvSpPr>
          <p:cNvPr id="17" name="Text 15"/>
          <p:cNvSpPr/>
          <p:nvPr/>
        </p:nvSpPr>
        <p:spPr>
          <a:xfrm>
            <a:off x="640080" y="3063240"/>
            <a:ext cx="365760" cy="36576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8" name="Text 16"/>
          <p:cNvSpPr/>
          <p:nvPr/>
        </p:nvSpPr>
        <p:spPr>
          <a:xfrm>
            <a:off x="1078992" y="3063240"/>
            <a:ext cx="2286000" cy="365760"/>
          </a:xfrm>
          <a:prstGeom prst="rect">
            <a:avLst/>
          </a:prstGeom>
          <a:noFill/>
          <a:ln/>
        </p:spPr>
        <p:txBody>
          <a:bodyPr wrap="square" rtlCol="0" anchor="ctr"/>
          <a:lstStyle/>
          <a:p>
            <a:pPr marL="0" indent="0">
              <a:buNone/>
            </a:pPr>
            <a:r>
              <a:rPr lang="en-US" sz="1150" dirty="0">
                <a:solidFill>
                  <a:srgbClr val="E3F0FF"/>
                </a:solidFill>
              </a:rPr>
              <a:t>Real-Time Processing</a:t>
            </a:r>
            <a:endParaRPr lang="en-US" sz="1150" dirty="0"/>
          </a:p>
        </p:txBody>
      </p:sp>
      <p:sp>
        <p:nvSpPr>
          <p:cNvPr id="19" name="Shape 17"/>
          <p:cNvSpPr/>
          <p:nvPr/>
        </p:nvSpPr>
        <p:spPr>
          <a:xfrm>
            <a:off x="566928" y="3529584"/>
            <a:ext cx="2325359" cy="420624"/>
          </a:xfrm>
          <a:prstGeom prst="rect">
            <a:avLst/>
          </a:prstGeom>
          <a:solidFill>
            <a:srgbClr val="091E40"/>
          </a:solidFill>
          <a:ln w="6350">
            <a:solidFill>
              <a:srgbClr val="1565C0"/>
            </a:solidFill>
            <a:prstDash val="solid"/>
          </a:ln>
        </p:spPr>
      </p:sp>
      <p:sp>
        <p:nvSpPr>
          <p:cNvPr id="20" name="Text 18"/>
          <p:cNvSpPr/>
          <p:nvPr/>
        </p:nvSpPr>
        <p:spPr>
          <a:xfrm>
            <a:off x="640080" y="3557016"/>
            <a:ext cx="365760" cy="36576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21" name="Text 19"/>
          <p:cNvSpPr/>
          <p:nvPr/>
        </p:nvSpPr>
        <p:spPr>
          <a:xfrm>
            <a:off x="1078992" y="3557016"/>
            <a:ext cx="2286000" cy="365760"/>
          </a:xfrm>
          <a:prstGeom prst="rect">
            <a:avLst/>
          </a:prstGeom>
          <a:noFill/>
          <a:ln/>
        </p:spPr>
        <p:txBody>
          <a:bodyPr wrap="square" rtlCol="0" anchor="ctr"/>
          <a:lstStyle/>
          <a:p>
            <a:pPr marL="0" indent="0">
              <a:buNone/>
            </a:pPr>
            <a:r>
              <a:rPr lang="en-US" sz="1150" dirty="0">
                <a:solidFill>
                  <a:srgbClr val="E3F0FF"/>
                </a:solidFill>
              </a:rPr>
              <a:t>Data Format Invariability</a:t>
            </a:r>
            <a:endParaRPr lang="en-US" sz="1150" dirty="0"/>
          </a:p>
        </p:txBody>
      </p:sp>
      <p:sp>
        <p:nvSpPr>
          <p:cNvPr id="22" name="Shape 20"/>
          <p:cNvSpPr/>
          <p:nvPr/>
        </p:nvSpPr>
        <p:spPr>
          <a:xfrm>
            <a:off x="566928" y="4037076"/>
            <a:ext cx="2325359" cy="420624"/>
          </a:xfrm>
          <a:prstGeom prst="rect">
            <a:avLst/>
          </a:prstGeom>
          <a:solidFill>
            <a:srgbClr val="091E40"/>
          </a:solidFill>
          <a:ln w="6350">
            <a:solidFill>
              <a:srgbClr val="1565C0"/>
            </a:solidFill>
            <a:prstDash val="solid"/>
          </a:ln>
        </p:spPr>
      </p:sp>
      <p:sp>
        <p:nvSpPr>
          <p:cNvPr id="23" name="Text 21"/>
          <p:cNvSpPr/>
          <p:nvPr/>
        </p:nvSpPr>
        <p:spPr>
          <a:xfrm>
            <a:off x="640080" y="4050792"/>
            <a:ext cx="365760" cy="36576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24" name="Text 22"/>
          <p:cNvSpPr/>
          <p:nvPr/>
        </p:nvSpPr>
        <p:spPr>
          <a:xfrm>
            <a:off x="1078992" y="4050792"/>
            <a:ext cx="2286000" cy="365760"/>
          </a:xfrm>
          <a:prstGeom prst="rect">
            <a:avLst/>
          </a:prstGeom>
          <a:noFill/>
          <a:ln/>
        </p:spPr>
        <p:txBody>
          <a:bodyPr wrap="square" rtlCol="0" anchor="ctr"/>
          <a:lstStyle/>
          <a:p>
            <a:pPr marL="0" indent="0">
              <a:buNone/>
            </a:pPr>
            <a:r>
              <a:rPr lang="en-US" sz="1150" dirty="0">
                <a:solidFill>
                  <a:srgbClr val="E3F0FF"/>
                </a:solidFill>
              </a:rPr>
              <a:t>Data Operability</a:t>
            </a:r>
            <a:endParaRPr lang="en-US" sz="1150" dirty="0"/>
          </a:p>
        </p:txBody>
      </p:sp>
      <p:sp>
        <p:nvSpPr>
          <p:cNvPr id="25" name="Shape 23"/>
          <p:cNvSpPr/>
          <p:nvPr/>
        </p:nvSpPr>
        <p:spPr>
          <a:xfrm>
            <a:off x="3114526" y="1051560"/>
            <a:ext cx="5617994" cy="3721608"/>
          </a:xfrm>
          <a:prstGeom prst="rect">
            <a:avLst/>
          </a:prstGeom>
          <a:solidFill>
            <a:srgbClr val="F0F6FF"/>
          </a:solidFill>
          <a:ln w="12700">
            <a:solidFill>
              <a:srgbClr val="E3F0FF"/>
            </a:solidFill>
            <a:prstDash val="solid"/>
          </a:ln>
        </p:spPr>
      </p:sp>
      <p:sp>
        <p:nvSpPr>
          <p:cNvPr id="26" name="Text 24"/>
          <p:cNvSpPr/>
          <p:nvPr/>
        </p:nvSpPr>
        <p:spPr>
          <a:xfrm>
            <a:off x="3053301" y="986359"/>
            <a:ext cx="5752372" cy="3786809"/>
          </a:xfrm>
          <a:prstGeom prst="rect">
            <a:avLst/>
          </a:prstGeom>
          <a:noFill/>
          <a:ln/>
        </p:spPr>
        <p:txBody>
          <a:bodyPr wrap="square" rtlCol="0" anchor="t"/>
          <a:lstStyle/>
          <a:p>
            <a:pPr marL="0" indent="0" algn="just">
              <a:lnSpc>
                <a:spcPct val="140000"/>
              </a:lnSpc>
              <a:buNone/>
            </a:pPr>
            <a:r>
              <a:rPr lang="en-US" sz="1600" dirty="0">
                <a:solidFill>
                  <a:srgbClr val="1A3A6B"/>
                </a:solidFill>
              </a:rPr>
              <a:t>CC offers on-demand solutions for infrastructure, data maintenance, and service organization. Video services stored in the cloud exhibit higher volume, maximum redundancy, and rapid real-time necessity. In compressed video, parameters like data location indexing and controllable coding rate are required. HE enables clients to validate data integrity while supporting data dynamics. By applying HE, bandwidth requirements are minimized, and the model placed on cloud decreases interaction and processing overload. Security, CR invariability, real-time capability, format invariability, and operability are the five key characteristics video encryption must satisfy.</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Objectives of the System">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Footer"/>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p>
        </p:txBody>
      </p:sp>
      <p:sp>
        <p:nvSpPr>
          <p:cNvPr id="5" name="TitleBg"/>
          <p:cNvSpPr/>
          <p:nvPr/>
        </p:nvSpPr>
        <p:spPr>
          <a:xfrm>
            <a:off x="274320" y="256032"/>
            <a:ext cx="8631140" cy="658368"/>
          </a:xfrm>
          <a:prstGeom prst="rect">
            <a:avLst/>
          </a:prstGeom>
          <a:solidFill>
            <a:srgbClr val="1565C0"/>
          </a:solidFill>
          <a:ln w="12700">
            <a:solidFill>
              <a:srgbClr val="1565C0"/>
            </a:solidFill>
            <a:prstDash val="solid"/>
          </a:ln>
        </p:spPr>
      </p:sp>
      <p:sp>
        <p:nvSpPr>
          <p:cNvPr id="6" name="TitleText"/>
          <p:cNvSpPr/>
          <p:nvPr/>
        </p:nvSpPr>
        <p:spPr>
          <a:xfrm>
            <a:off x="411480" y="256032"/>
            <a:ext cx="8321040" cy="658368"/>
          </a:xfrm>
          <a:prstGeom prst="rect">
            <a:avLst/>
          </a:prstGeom>
          <a:noFill/>
          <a:ln/>
        </p:spPr>
        <p:txBody>
          <a:bodyPr wrap="square" lIns="0" tIns="0" rIns="0" bIns="0" rtlCol="0" anchor="ctr"/>
          <a:lstStyle/>
          <a:p>
            <a:pPr marL="0" indent="0" algn="ctr">
              <a:buNone/>
            </a:pPr>
            <a:r>
              <a:rPr lang="en-US" sz="2200" b="1" dirty="0">
                <a:solidFill>
                  <a:srgbClr val="FFFFFF"/>
                </a:solidFill>
              </a:rPr>
              <a:t>Objectives of the System</a:t>
            </a:r>
          </a:p>
        </p:txBody>
      </p:sp>
      <p:sp>
        <p:nvSpPr>
          <p:cNvPr id="7" name="AccentBar"/>
          <p:cNvSpPr/>
          <p:nvPr/>
        </p:nvSpPr>
        <p:spPr>
          <a:xfrm>
            <a:off x="411480" y="1051560"/>
            <a:ext cx="164592" cy="3566160"/>
          </a:xfrm>
          <a:prstGeom prst="rect">
            <a:avLst/>
          </a:prstGeom>
          <a:solidFill>
            <a:srgbClr val="1E88E5"/>
          </a:solidFill>
          <a:ln w="12700">
            <a:solidFill>
              <a:srgbClr val="1E88E5"/>
            </a:solidFill>
            <a:prstDash val="solid"/>
          </a:ln>
        </p:spPr>
      </p:sp>
      <p:sp>
        <p:nvSpPr>
          <p:cNvPr id="8" name="ContentBg"/>
          <p:cNvSpPr/>
          <p:nvPr/>
        </p:nvSpPr>
        <p:spPr>
          <a:xfrm>
            <a:off x="274319" y="1015380"/>
            <a:ext cx="8631141" cy="3884212"/>
          </a:xfrm>
          <a:prstGeom prst="rect">
            <a:avLst/>
          </a:prstGeom>
          <a:solidFill>
            <a:srgbClr val="F0F6FF"/>
          </a:solidFill>
          <a:ln w="12700">
            <a:solidFill>
              <a:srgbClr val="E3F0FF"/>
            </a:solidFill>
            <a:prstDash val="solid"/>
          </a:ln>
        </p:spPr>
      </p:sp>
      <p:sp>
        <p:nvSpPr>
          <p:cNvPr id="9" name="LeftCol"/>
          <p:cNvSpPr/>
          <p:nvPr/>
        </p:nvSpPr>
        <p:spPr>
          <a:xfrm>
            <a:off x="238319" y="960120"/>
            <a:ext cx="4333681" cy="3929932"/>
          </a:xfrm>
          <a:prstGeom prst="rect">
            <a:avLst/>
          </a:prstGeom>
          <a:noFill/>
          <a:ln/>
        </p:spPr>
        <p:txBody>
          <a:bodyPr wrap="square" rtlCol="0" anchor="t"/>
          <a:lstStyle/>
          <a:p>
            <a:pPr marL="0" indent="0" algn="just">
              <a:lnSpc>
                <a:spcPct val="110000"/>
              </a:lnSpc>
              <a:buNone/>
            </a:pPr>
            <a:r>
              <a:rPr lang="en-US" sz="1050" b="1" dirty="0">
                <a:solidFill>
                  <a:srgbClr val="1565C0"/>
                </a:solidFill>
              </a:rPr>
              <a:t>1. </a:t>
            </a:r>
            <a:r>
              <a:rPr lang="en-US" sz="1600" b="1" dirty="0">
                <a:solidFill>
                  <a:srgbClr val="1565C0"/>
                </a:solidFill>
              </a:rPr>
              <a:t>Privacy-Preserving Detection</a:t>
            </a:r>
          </a:p>
          <a:p>
            <a:pPr marL="0" indent="0" algn="just">
              <a:lnSpc>
                <a:spcPct val="110000"/>
              </a:lnSpc>
              <a:buNone/>
            </a:pPr>
            <a:r>
              <a:rPr lang="en-US" sz="1400" dirty="0">
                <a:solidFill>
                  <a:srgbClr val="1A3A6B"/>
                </a:solidFill>
              </a:rPr>
              <a:t>Protect sensitive video data using homomorphic encryption; operations run directly on encrypted data without exposing content.</a:t>
            </a:r>
            <a:endParaRPr lang="en-US" sz="1400" dirty="0"/>
          </a:p>
          <a:p>
            <a:pPr marL="0" indent="0" algn="just">
              <a:lnSpc>
                <a:spcPct val="110000"/>
              </a:lnSpc>
              <a:buNone/>
            </a:pPr>
            <a:r>
              <a:rPr lang="en-US" sz="1050" b="1" dirty="0">
                <a:solidFill>
                  <a:srgbClr val="1565C0"/>
                </a:solidFill>
              </a:rPr>
              <a:t>2. </a:t>
            </a:r>
            <a:r>
              <a:rPr lang="en-US" sz="1600" b="1" dirty="0">
                <a:solidFill>
                  <a:srgbClr val="1565C0"/>
                </a:solidFill>
              </a:rPr>
              <a:t>Secure Cloud-Based Framework</a:t>
            </a:r>
          </a:p>
          <a:p>
            <a:pPr marL="0" indent="0" algn="just">
              <a:lnSpc>
                <a:spcPct val="110000"/>
              </a:lnSpc>
              <a:buNone/>
            </a:pPr>
            <a:r>
              <a:rPr lang="en-US" sz="1400" dirty="0">
                <a:solidFill>
                  <a:srgbClr val="1A3A6B"/>
                </a:solidFill>
              </a:rPr>
              <a:t>Design a cloud architecture that securely stores and processes video data with feature vectors encrypted before uploading.</a:t>
            </a:r>
            <a:endParaRPr lang="en-US" sz="1400" dirty="0"/>
          </a:p>
          <a:p>
            <a:pPr marL="0" indent="0" algn="just">
              <a:lnSpc>
                <a:spcPct val="110000"/>
              </a:lnSpc>
              <a:buNone/>
            </a:pPr>
            <a:r>
              <a:rPr lang="en-US" sz="1050" b="1" dirty="0">
                <a:solidFill>
                  <a:srgbClr val="1565C0"/>
                </a:solidFill>
              </a:rPr>
              <a:t>3. </a:t>
            </a:r>
            <a:r>
              <a:rPr lang="en-US" sz="1600" b="1" dirty="0">
                <a:solidFill>
                  <a:srgbClr val="1565C0"/>
                </a:solidFill>
              </a:rPr>
              <a:t>Accurate Multi-View Detection</a:t>
            </a:r>
          </a:p>
          <a:p>
            <a:pPr marL="0" indent="0" algn="just">
              <a:lnSpc>
                <a:spcPct val="110000"/>
              </a:lnSpc>
              <a:buNone/>
            </a:pPr>
            <a:r>
              <a:rPr lang="en-US" sz="1400" dirty="0">
                <a:solidFill>
                  <a:srgbClr val="1A3A6B"/>
                </a:solidFill>
              </a:rPr>
              <a:t>Handle multi-view video complexity using view-invariant feature extraction for accurate duplicate detection across diverse camera angles.</a:t>
            </a:r>
            <a:endParaRPr lang="en-US" sz="1400" dirty="0"/>
          </a:p>
          <a:p>
            <a:pPr marL="0" indent="0" algn="just">
              <a:lnSpc>
                <a:spcPct val="110000"/>
              </a:lnSpc>
              <a:buNone/>
            </a:pPr>
            <a:r>
              <a:rPr lang="en-US" sz="1050" b="1" dirty="0">
                <a:solidFill>
                  <a:srgbClr val="1565C0"/>
                </a:solidFill>
              </a:rPr>
              <a:t>4. </a:t>
            </a:r>
            <a:r>
              <a:rPr lang="en-US" sz="1600" b="1" dirty="0">
                <a:solidFill>
                  <a:srgbClr val="1565C0"/>
                </a:solidFill>
              </a:rPr>
              <a:t>Encrypted-Domain Feature Matching</a:t>
            </a:r>
          </a:p>
          <a:p>
            <a:pPr marL="0" indent="0" algn="just">
              <a:lnSpc>
                <a:spcPct val="110000"/>
              </a:lnSpc>
              <a:buNone/>
            </a:pPr>
            <a:r>
              <a:rPr lang="en-US" sz="1400" dirty="0">
                <a:solidFill>
                  <a:srgbClr val="1A3A6B"/>
                </a:solidFill>
              </a:rPr>
              <a:t>Perform similarity matching on encrypted feature vectors via homomorphic operations, eliminating the need for decryption during comparison.</a:t>
            </a:r>
          </a:p>
        </p:txBody>
      </p:sp>
      <p:sp>
        <p:nvSpPr>
          <p:cNvPr id="10" name="Divider"/>
          <p:cNvSpPr/>
          <p:nvPr/>
        </p:nvSpPr>
        <p:spPr>
          <a:xfrm>
            <a:off x="4590000" y="1110000"/>
            <a:ext cx="18000" cy="3430000"/>
          </a:xfrm>
          <a:prstGeom prst="rect">
            <a:avLst/>
          </a:prstGeom>
          <a:solidFill>
            <a:srgbClr val="BBDEFB"/>
          </a:solidFill>
          <a:ln>
            <a:noFill/>
          </a:ln>
        </p:spPr>
      </p:sp>
      <p:sp>
        <p:nvSpPr>
          <p:cNvPr id="11" name="RightCol"/>
          <p:cNvSpPr/>
          <p:nvPr/>
        </p:nvSpPr>
        <p:spPr>
          <a:xfrm>
            <a:off x="4644000" y="1015380"/>
            <a:ext cx="4261460" cy="3430000"/>
          </a:xfrm>
          <a:prstGeom prst="rect">
            <a:avLst/>
          </a:prstGeom>
          <a:noFill/>
          <a:ln/>
        </p:spPr>
        <p:txBody>
          <a:bodyPr wrap="square" rtlCol="0" anchor="t"/>
          <a:lstStyle/>
          <a:p>
            <a:pPr marL="0" indent="0" algn="just">
              <a:lnSpc>
                <a:spcPct val="110000"/>
              </a:lnSpc>
              <a:buNone/>
            </a:pPr>
            <a:r>
              <a:rPr lang="en-US" sz="1050" b="1" dirty="0">
                <a:solidFill>
                  <a:srgbClr val="1565C0"/>
                </a:solidFill>
              </a:rPr>
              <a:t>5. </a:t>
            </a:r>
            <a:r>
              <a:rPr lang="en-US" sz="1600" b="1" dirty="0">
                <a:solidFill>
                  <a:srgbClr val="1565C0"/>
                </a:solidFill>
              </a:rPr>
              <a:t>Reduce Video Piracy</a:t>
            </a:r>
          </a:p>
          <a:p>
            <a:pPr marL="0" indent="0" algn="just">
              <a:lnSpc>
                <a:spcPct val="110000"/>
              </a:lnSpc>
              <a:buNone/>
            </a:pPr>
            <a:r>
              <a:rPr lang="en-US" sz="1400" dirty="0">
                <a:solidFill>
                  <a:srgbClr val="1A3A6B"/>
                </a:solidFill>
              </a:rPr>
              <a:t>Identify and prevent storage of duplicate or pirated videos, reducing redundancy and protecting intellectual property rights.</a:t>
            </a:r>
            <a:endParaRPr lang="en-US" sz="1400" dirty="0"/>
          </a:p>
          <a:p>
            <a:pPr marL="0" indent="0" algn="just">
              <a:lnSpc>
                <a:spcPct val="110000"/>
              </a:lnSpc>
              <a:buNone/>
            </a:pPr>
            <a:r>
              <a:rPr lang="en-US" sz="1050" b="1" dirty="0">
                <a:solidFill>
                  <a:srgbClr val="1565C0"/>
                </a:solidFill>
              </a:rPr>
              <a:t>6. </a:t>
            </a:r>
            <a:r>
              <a:rPr lang="en-US" sz="1600" b="1" dirty="0">
                <a:solidFill>
                  <a:srgbClr val="1565C0"/>
                </a:solidFill>
              </a:rPr>
              <a:t>Scalable Real-Time Detection</a:t>
            </a:r>
          </a:p>
          <a:p>
            <a:pPr marL="0" indent="0" algn="just">
              <a:lnSpc>
                <a:spcPct val="110000"/>
              </a:lnSpc>
              <a:buNone/>
            </a:pPr>
            <a:r>
              <a:rPr lang="en-US" sz="1400" dirty="0">
                <a:solidFill>
                  <a:srgbClr val="1A3A6B"/>
                </a:solidFill>
              </a:rPr>
              <a:t>Support large-scale cloud environments with fast processing and real-time querying for platforms handling massive video volumes.</a:t>
            </a:r>
            <a:endParaRPr lang="en-US" sz="1400" dirty="0"/>
          </a:p>
          <a:p>
            <a:pPr marL="0" indent="0" algn="just">
              <a:lnSpc>
                <a:spcPct val="110000"/>
              </a:lnSpc>
              <a:buNone/>
            </a:pPr>
            <a:r>
              <a:rPr lang="en-US" sz="1050" b="1" dirty="0">
                <a:solidFill>
                  <a:srgbClr val="1565C0"/>
                </a:solidFill>
              </a:rPr>
              <a:t>7. </a:t>
            </a:r>
            <a:r>
              <a:rPr lang="en-US" sz="1600" b="1" dirty="0">
                <a:solidFill>
                  <a:srgbClr val="1565C0"/>
                </a:solidFill>
              </a:rPr>
              <a:t>Improve Detection Accuracy</a:t>
            </a:r>
          </a:p>
          <a:p>
            <a:pPr marL="0" indent="0" algn="just">
              <a:lnSpc>
                <a:spcPct val="110000"/>
              </a:lnSpc>
              <a:buNone/>
            </a:pPr>
            <a:r>
              <a:rPr lang="en-US" sz="1400" dirty="0">
                <a:solidFill>
                  <a:srgbClr val="1A3A6B"/>
                </a:solidFill>
              </a:rPr>
              <a:t>Use advanced spatio-temporal and deep learning-based feature extraction to minimize false positives and negatives, even for modified videos.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cope of the System">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FooterText"/>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p>
        </p:txBody>
      </p:sp>
      <p:sp>
        <p:nvSpPr>
          <p:cNvPr id="5" name="TitleBg"/>
          <p:cNvSpPr/>
          <p:nvPr/>
        </p:nvSpPr>
        <p:spPr>
          <a:xfrm>
            <a:off x="411480" y="256032"/>
            <a:ext cx="8321040" cy="658368"/>
          </a:xfrm>
          <a:prstGeom prst="rect">
            <a:avLst/>
          </a:prstGeom>
          <a:solidFill>
            <a:srgbClr val="0D3270"/>
          </a:solidFill>
          <a:ln w="12700">
            <a:solidFill>
              <a:srgbClr val="0D3270"/>
            </a:solidFill>
            <a:prstDash val="solid"/>
          </a:ln>
        </p:spPr>
      </p:sp>
      <p:sp>
        <p:nvSpPr>
          <p:cNvPr id="6" name="TitleText"/>
          <p:cNvSpPr/>
          <p:nvPr/>
        </p:nvSpPr>
        <p:spPr>
          <a:xfrm>
            <a:off x="411480" y="256032"/>
            <a:ext cx="8321040" cy="658368"/>
          </a:xfrm>
          <a:prstGeom prst="rect">
            <a:avLst/>
          </a:prstGeom>
          <a:noFill/>
          <a:ln/>
        </p:spPr>
        <p:txBody>
          <a:bodyPr wrap="square" lIns="0" tIns="0" rIns="0" bIns="0" rtlCol="0" anchor="ctr"/>
          <a:lstStyle/>
          <a:p>
            <a:pPr marL="0" indent="0" algn="ctr">
              <a:buNone/>
            </a:pPr>
            <a:r>
              <a:rPr lang="en-US" sz="2200" b="1" dirty="0">
                <a:solidFill>
                  <a:srgbClr val="FFFFFF"/>
                </a:solidFill>
              </a:rPr>
              <a:t>Scope of the System</a:t>
            </a:r>
          </a:p>
        </p:txBody>
      </p:sp>
      <p:sp>
        <p:nvSpPr>
          <p:cNvPr id="7" name="AccentBar"/>
          <p:cNvSpPr/>
          <p:nvPr/>
        </p:nvSpPr>
        <p:spPr>
          <a:xfrm>
            <a:off x="411480" y="1051560"/>
            <a:ext cx="164592" cy="3566160"/>
          </a:xfrm>
          <a:prstGeom prst="rect">
            <a:avLst/>
          </a:prstGeom>
          <a:solidFill>
            <a:srgbClr val="1E88E5"/>
          </a:solidFill>
          <a:ln w="12700">
            <a:solidFill>
              <a:srgbClr val="1E88E5"/>
            </a:solidFill>
            <a:prstDash val="solid"/>
          </a:ln>
        </p:spPr>
      </p:sp>
      <p:sp>
        <p:nvSpPr>
          <p:cNvPr id="8" name="ContentBg"/>
          <p:cNvSpPr/>
          <p:nvPr/>
        </p:nvSpPr>
        <p:spPr>
          <a:xfrm>
            <a:off x="365280" y="1005840"/>
            <a:ext cx="8321040" cy="3854394"/>
          </a:xfrm>
          <a:prstGeom prst="rect">
            <a:avLst/>
          </a:prstGeom>
          <a:solidFill>
            <a:srgbClr val="EEF4FF"/>
          </a:solidFill>
          <a:ln w="12700">
            <a:solidFill>
              <a:srgbClr val="D0E4FF"/>
            </a:solidFill>
            <a:prstDash val="solid"/>
          </a:ln>
        </p:spPr>
        <p:txBody>
          <a:bodyPr/>
          <a:lstStyle/>
          <a:p>
            <a:endParaRPr lang="en-IN" dirty="0"/>
          </a:p>
        </p:txBody>
      </p:sp>
      <p:sp>
        <p:nvSpPr>
          <p:cNvPr id="9" name="LeftCol"/>
          <p:cNvSpPr/>
          <p:nvPr/>
        </p:nvSpPr>
        <p:spPr>
          <a:xfrm>
            <a:off x="365280" y="930302"/>
            <a:ext cx="4242720" cy="3808675"/>
          </a:xfrm>
          <a:prstGeom prst="rect">
            <a:avLst/>
          </a:prstGeom>
          <a:noFill/>
          <a:ln/>
        </p:spPr>
        <p:txBody>
          <a:bodyPr wrap="square" rtlCol="0" anchor="t"/>
          <a:lstStyle/>
          <a:p>
            <a:pPr marL="0" indent="0" algn="just">
              <a:lnSpc>
                <a:spcPct val="110000"/>
              </a:lnSpc>
              <a:buNone/>
            </a:pPr>
            <a:r>
              <a:rPr lang="en-US" sz="1050" b="1" dirty="0">
                <a:solidFill>
                  <a:srgbClr val="0D3270"/>
                </a:solidFill>
              </a:rPr>
              <a:t>1. </a:t>
            </a:r>
            <a:r>
              <a:rPr lang="en-US" sz="1600" b="1" dirty="0">
                <a:solidFill>
                  <a:srgbClr val="0D3270"/>
                </a:solidFill>
              </a:rPr>
              <a:t>Cloud-Based Video Platforms</a:t>
            </a:r>
          </a:p>
          <a:p>
            <a:pPr marL="0" indent="0" algn="just">
              <a:lnSpc>
                <a:spcPct val="110000"/>
              </a:lnSpc>
              <a:buNone/>
            </a:pPr>
            <a:r>
              <a:rPr lang="en-US" sz="1400" dirty="0">
                <a:solidFill>
                  <a:srgbClr val="1A3A6B"/>
                </a:solidFill>
              </a:rPr>
              <a:t>Deployable in video streaming platforms, social media, and digital content repositories for large-scale video management.</a:t>
            </a:r>
            <a:endParaRPr lang="en-US" sz="1400" dirty="0"/>
          </a:p>
          <a:p>
            <a:pPr marL="0" indent="0" algn="just">
              <a:lnSpc>
                <a:spcPct val="110000"/>
              </a:lnSpc>
              <a:buNone/>
            </a:pPr>
            <a:r>
              <a:rPr lang="en-US" sz="1050" b="1" dirty="0">
                <a:solidFill>
                  <a:srgbClr val="0D3270"/>
                </a:solidFill>
              </a:rPr>
              <a:t>2. </a:t>
            </a:r>
            <a:r>
              <a:rPr lang="en-US" sz="1600" b="1" dirty="0">
                <a:solidFill>
                  <a:srgbClr val="0D3270"/>
                </a:solidFill>
              </a:rPr>
              <a:t>Surveillance &amp; Security Systems</a:t>
            </a:r>
          </a:p>
          <a:p>
            <a:pPr marL="0" indent="0" algn="just">
              <a:lnSpc>
                <a:spcPct val="110000"/>
              </a:lnSpc>
              <a:buNone/>
            </a:pPr>
            <a:r>
              <a:rPr lang="en-US" sz="1400" dirty="0">
                <a:solidFill>
                  <a:srgbClr val="1A3A6B"/>
                </a:solidFill>
              </a:rPr>
              <a:t>Applicable in multi-view surveillance scenarios to detect duplicate footage while maintaining strict privacy for sensitive data.</a:t>
            </a:r>
            <a:endParaRPr lang="en-US" sz="1400" dirty="0"/>
          </a:p>
          <a:p>
            <a:pPr marL="0" indent="0" algn="just">
              <a:lnSpc>
                <a:spcPct val="110000"/>
              </a:lnSpc>
              <a:buNone/>
            </a:pPr>
            <a:r>
              <a:rPr lang="en-US" sz="1050" b="1" dirty="0">
                <a:solidFill>
                  <a:srgbClr val="0D3270"/>
                </a:solidFill>
              </a:rPr>
              <a:t>3. </a:t>
            </a:r>
            <a:r>
              <a:rPr lang="en-US" sz="1600" b="1" dirty="0">
                <a:solidFill>
                  <a:srgbClr val="0D3270"/>
                </a:solidFill>
              </a:rPr>
              <a:t>Copyright Protection</a:t>
            </a:r>
          </a:p>
          <a:p>
            <a:pPr marL="0" indent="0" algn="just">
              <a:lnSpc>
                <a:spcPct val="110000"/>
              </a:lnSpc>
              <a:buNone/>
            </a:pPr>
            <a:r>
              <a:rPr lang="en-US" sz="1400" dirty="0">
                <a:solidFill>
                  <a:srgbClr val="1A3A6B"/>
                </a:solidFill>
              </a:rPr>
              <a:t>Helps content creators and media companies identify unauthorized distribution of copyrighted videos to protect intellectual property.</a:t>
            </a:r>
            <a:endParaRPr lang="en-US" sz="1400" dirty="0"/>
          </a:p>
          <a:p>
            <a:pPr marL="0" indent="0" algn="just">
              <a:lnSpc>
                <a:spcPct val="110000"/>
              </a:lnSpc>
              <a:buNone/>
            </a:pPr>
            <a:r>
              <a:rPr lang="en-US" sz="1050" b="1" dirty="0">
                <a:solidFill>
                  <a:srgbClr val="0D3270"/>
                </a:solidFill>
              </a:rPr>
              <a:t>4. </a:t>
            </a:r>
            <a:r>
              <a:rPr lang="en-US" sz="1600" b="1" dirty="0">
                <a:solidFill>
                  <a:srgbClr val="0D3270"/>
                </a:solidFill>
              </a:rPr>
              <a:t>Scalable Multimedia Databases</a:t>
            </a:r>
          </a:p>
          <a:p>
            <a:pPr marL="0" indent="0" algn="just">
              <a:lnSpc>
                <a:spcPct val="110000"/>
              </a:lnSpc>
              <a:buNone/>
            </a:pPr>
            <a:r>
              <a:rPr lang="en-US" sz="1400" dirty="0">
                <a:solidFill>
                  <a:srgbClr val="1A3A6B"/>
                </a:solidFill>
              </a:rPr>
              <a:t>Efficiently handles large datasets using cloud infrastructure, supporting indexing across millions of encrypted video features.</a:t>
            </a:r>
          </a:p>
        </p:txBody>
      </p:sp>
      <p:sp>
        <p:nvSpPr>
          <p:cNvPr id="10" name="Divider"/>
          <p:cNvSpPr/>
          <p:nvPr/>
        </p:nvSpPr>
        <p:spPr>
          <a:xfrm>
            <a:off x="4590000" y="1110000"/>
            <a:ext cx="18000" cy="3430000"/>
          </a:xfrm>
          <a:prstGeom prst="rect">
            <a:avLst/>
          </a:prstGeom>
          <a:solidFill>
            <a:srgbClr val="90CAF9"/>
          </a:solidFill>
          <a:ln>
            <a:noFill/>
          </a:ln>
        </p:spPr>
      </p:sp>
      <p:sp>
        <p:nvSpPr>
          <p:cNvPr id="11" name="RightCol"/>
          <p:cNvSpPr/>
          <p:nvPr/>
        </p:nvSpPr>
        <p:spPr>
          <a:xfrm>
            <a:off x="4590000" y="930302"/>
            <a:ext cx="4096320" cy="3850419"/>
          </a:xfrm>
          <a:prstGeom prst="rect">
            <a:avLst/>
          </a:prstGeom>
          <a:noFill/>
          <a:ln/>
        </p:spPr>
        <p:txBody>
          <a:bodyPr wrap="square" rtlCol="0" anchor="t"/>
          <a:lstStyle/>
          <a:p>
            <a:pPr marL="0" indent="0" algn="just">
              <a:lnSpc>
                <a:spcPct val="110000"/>
              </a:lnSpc>
              <a:buNone/>
            </a:pPr>
            <a:r>
              <a:rPr lang="en-US" sz="1050" b="1" dirty="0">
                <a:solidFill>
                  <a:srgbClr val="0D3270"/>
                </a:solidFill>
              </a:rPr>
              <a:t>5. </a:t>
            </a:r>
            <a:r>
              <a:rPr lang="en-US" sz="1600" b="1" dirty="0">
                <a:solidFill>
                  <a:srgbClr val="0D3270"/>
                </a:solidFill>
              </a:rPr>
              <a:t>Integration with Privacy Technologies</a:t>
            </a:r>
          </a:p>
          <a:p>
            <a:pPr marL="0" indent="0" algn="just">
              <a:lnSpc>
                <a:spcPct val="110000"/>
              </a:lnSpc>
              <a:buNone/>
            </a:pPr>
            <a:r>
              <a:rPr lang="en-US" sz="1400" dirty="0">
                <a:solidFill>
                  <a:srgbClr val="1A3A6B"/>
                </a:solidFill>
              </a:rPr>
              <a:t>Provides a foundation for integrating federated learning and secure multi-party computation in future secure applications.</a:t>
            </a:r>
            <a:endParaRPr lang="en-US" sz="1400" dirty="0"/>
          </a:p>
          <a:p>
            <a:pPr marL="0" indent="0" algn="just">
              <a:lnSpc>
                <a:spcPct val="110000"/>
              </a:lnSpc>
              <a:buNone/>
            </a:pPr>
            <a:r>
              <a:rPr lang="en-US" sz="1050" b="1" dirty="0">
                <a:solidFill>
                  <a:srgbClr val="0D3270"/>
                </a:solidFill>
              </a:rPr>
              <a:t>6. </a:t>
            </a:r>
            <a:r>
              <a:rPr lang="en-US" sz="1600" b="1" dirty="0">
                <a:solidFill>
                  <a:srgbClr val="0D3270"/>
                </a:solidFill>
              </a:rPr>
              <a:t>Extension to Other Media Formats</a:t>
            </a:r>
          </a:p>
          <a:p>
            <a:pPr marL="0" indent="0" algn="just">
              <a:lnSpc>
                <a:spcPct val="110000"/>
              </a:lnSpc>
              <a:buNone/>
            </a:pPr>
            <a:r>
              <a:rPr lang="en-US" sz="1400" dirty="0">
                <a:solidFill>
                  <a:srgbClr val="1A3A6B"/>
                </a:solidFill>
              </a:rPr>
              <a:t>Extendable to audio, images, and 3D data using similar encrypted feature-based approaches beyond video copy detection.</a:t>
            </a:r>
            <a:endParaRPr lang="en-US" sz="1400" dirty="0"/>
          </a:p>
          <a:p>
            <a:pPr marL="0" indent="0" algn="just">
              <a:lnSpc>
                <a:spcPct val="110000"/>
              </a:lnSpc>
              <a:buNone/>
            </a:pPr>
            <a:r>
              <a:rPr lang="en-US" sz="1050" b="1" dirty="0">
                <a:solidFill>
                  <a:srgbClr val="0D3270"/>
                </a:solidFill>
              </a:rPr>
              <a:t>7. </a:t>
            </a:r>
            <a:r>
              <a:rPr lang="en-US" sz="1600" b="1" dirty="0">
                <a:solidFill>
                  <a:srgbClr val="0D3270"/>
                </a:solidFill>
              </a:rPr>
              <a:t>Real-Time Monitoring Systems</a:t>
            </a:r>
          </a:p>
          <a:p>
            <a:pPr marL="0" indent="0" algn="just">
              <a:lnSpc>
                <a:spcPct val="110000"/>
              </a:lnSpc>
              <a:buNone/>
            </a:pPr>
            <a:r>
              <a:rPr lang="en-US" sz="1400" dirty="0">
                <a:solidFill>
                  <a:srgbClr val="1A3A6B"/>
                </a:solidFill>
              </a:rPr>
              <a:t>Implementable in live streaming platforms and online content moderation for immediate real-time detection of duplicate content.</a:t>
            </a:r>
            <a:endParaRPr lang="en-US" sz="1400" dirty="0"/>
          </a:p>
          <a:p>
            <a:pPr marL="0" indent="0" algn="just">
              <a:lnSpc>
                <a:spcPct val="110000"/>
              </a:lnSpc>
              <a:buNone/>
            </a:pPr>
            <a:r>
              <a:rPr lang="en-US" sz="1050" b="1" dirty="0">
                <a:solidFill>
                  <a:srgbClr val="0D3270"/>
                </a:solidFill>
              </a:rPr>
              <a:t>8. </a:t>
            </a:r>
            <a:r>
              <a:rPr lang="en-US" sz="1600" b="1" dirty="0">
                <a:solidFill>
                  <a:srgbClr val="0D3270"/>
                </a:solidFill>
              </a:rPr>
              <a:t>Data Protection Compliance</a:t>
            </a:r>
          </a:p>
          <a:p>
            <a:pPr marL="0" indent="0" algn="just">
              <a:lnSpc>
                <a:spcPct val="110000"/>
              </a:lnSpc>
              <a:buNone/>
            </a:pPr>
            <a:r>
              <a:rPr lang="en-US" sz="1400" dirty="0">
                <a:solidFill>
                  <a:srgbClr val="1A3A6B"/>
                </a:solidFill>
              </a:rPr>
              <a:t>Ensures compliance with modern data privacy laws by keeping all sensitive data encrypted throughout the processing pipeline.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5" name="Shape 3"/>
          <p:cNvSpPr/>
          <p:nvPr/>
        </p:nvSpPr>
        <p:spPr>
          <a:xfrm>
            <a:off x="411480" y="256032"/>
            <a:ext cx="8321040" cy="658368"/>
          </a:xfrm>
          <a:prstGeom prst="rect">
            <a:avLst/>
          </a:prstGeom>
          <a:solidFill>
            <a:srgbClr val="1565C0"/>
          </a:solidFill>
          <a:ln w="12700">
            <a:solidFill>
              <a:srgbClr val="1565C0"/>
            </a:solidFill>
            <a:prstDash val="solid"/>
          </a:ln>
          <a:effectLst>
            <a:outerShdw blurRad="101600" dist="38100" dir="8100000" algn="bl" rotWithShape="0">
              <a:srgbClr val="0D3270">
                <a:alpha val="13000"/>
              </a:srgbClr>
            </a:outerShdw>
          </a:effectLst>
        </p:spPr>
      </p:sp>
      <p:sp>
        <p:nvSpPr>
          <p:cNvPr id="6" name="Text 4"/>
          <p:cNvSpPr/>
          <p:nvPr/>
        </p:nvSpPr>
        <p:spPr>
          <a:xfrm>
            <a:off x="411480" y="256032"/>
            <a:ext cx="8321040" cy="658368"/>
          </a:xfrm>
          <a:prstGeom prst="rect">
            <a:avLst/>
          </a:prstGeom>
          <a:noFill/>
          <a:ln/>
        </p:spPr>
        <p:txBody>
          <a:bodyPr wrap="square" lIns="0" tIns="0" rIns="0" bIns="0" rtlCol="0" anchor="ctr"/>
          <a:lstStyle/>
          <a:p>
            <a:pPr marL="0" indent="0" algn="ctr">
              <a:buNone/>
            </a:pPr>
            <a:r>
              <a:rPr lang="en-US" sz="2200" b="1" dirty="0">
                <a:solidFill>
                  <a:srgbClr val="FFFFFF"/>
                </a:solidFill>
              </a:rPr>
              <a:t>System Requirements</a:t>
            </a:r>
            <a:endParaRPr lang="en-US" sz="2200" dirty="0"/>
          </a:p>
        </p:txBody>
      </p:sp>
      <p:sp>
        <p:nvSpPr>
          <p:cNvPr id="7" name="Shape 5"/>
          <p:cNvSpPr/>
          <p:nvPr/>
        </p:nvSpPr>
        <p:spPr>
          <a:xfrm>
            <a:off x="411480" y="1051560"/>
            <a:ext cx="4041648" cy="438912"/>
          </a:xfrm>
          <a:prstGeom prst="rect">
            <a:avLst/>
          </a:prstGeom>
          <a:solidFill>
            <a:srgbClr val="0D3270"/>
          </a:solidFill>
          <a:ln w="12700">
            <a:solidFill>
              <a:srgbClr val="0D3270"/>
            </a:solidFill>
            <a:prstDash val="solid"/>
          </a:ln>
        </p:spPr>
      </p:sp>
      <p:sp>
        <p:nvSpPr>
          <p:cNvPr id="8" name="Text 6"/>
          <p:cNvSpPr/>
          <p:nvPr/>
        </p:nvSpPr>
        <p:spPr>
          <a:xfrm>
            <a:off x="502920" y="1051560"/>
            <a:ext cx="3858768" cy="438912"/>
          </a:xfrm>
          <a:prstGeom prst="rect">
            <a:avLst/>
          </a:prstGeom>
          <a:noFill/>
          <a:ln/>
        </p:spPr>
        <p:txBody>
          <a:bodyPr wrap="square" rtlCol="0" anchor="ctr"/>
          <a:lstStyle/>
          <a:p>
            <a:pPr marL="0" indent="0">
              <a:buNone/>
            </a:pPr>
            <a:r>
              <a:rPr lang="en-US" sz="1400" b="1" dirty="0">
                <a:solidFill>
                  <a:srgbClr val="FFFFFF"/>
                </a:solidFill>
              </a:rPr>
              <a:t>⚙  </a:t>
            </a:r>
            <a:r>
              <a:rPr lang="en-US" b="1" dirty="0">
                <a:solidFill>
                  <a:srgbClr val="FFFFFF"/>
                </a:solidFill>
              </a:rPr>
              <a:t>Hardware Requirements</a:t>
            </a:r>
            <a:endParaRPr lang="en-US" dirty="0"/>
          </a:p>
        </p:txBody>
      </p:sp>
      <p:sp>
        <p:nvSpPr>
          <p:cNvPr id="9" name="Shape 7"/>
          <p:cNvSpPr/>
          <p:nvPr/>
        </p:nvSpPr>
        <p:spPr>
          <a:xfrm>
            <a:off x="411480" y="1513332"/>
            <a:ext cx="4041648" cy="566928"/>
          </a:xfrm>
          <a:prstGeom prst="rect">
            <a:avLst/>
          </a:prstGeom>
          <a:solidFill>
            <a:srgbClr val="F0F6FF"/>
          </a:solidFill>
          <a:ln w="10160">
            <a:solidFill>
              <a:srgbClr val="E3F0FF"/>
            </a:solidFill>
            <a:prstDash val="solid"/>
          </a:ln>
        </p:spPr>
      </p:sp>
      <p:sp>
        <p:nvSpPr>
          <p:cNvPr id="10" name="Text 8"/>
          <p:cNvSpPr/>
          <p:nvPr/>
        </p:nvSpPr>
        <p:spPr>
          <a:xfrm>
            <a:off x="594360" y="1536192"/>
            <a:ext cx="1645920" cy="457200"/>
          </a:xfrm>
          <a:prstGeom prst="rect">
            <a:avLst/>
          </a:prstGeom>
          <a:noFill/>
          <a:ln/>
        </p:spPr>
        <p:txBody>
          <a:bodyPr wrap="square" rtlCol="0" anchor="ctr"/>
          <a:lstStyle/>
          <a:p>
            <a:pPr marL="0" indent="0">
              <a:buNone/>
            </a:pPr>
            <a:r>
              <a:rPr lang="en-US" sz="1600" b="1" dirty="0">
                <a:solidFill>
                  <a:srgbClr val="0D3270"/>
                </a:solidFill>
              </a:rPr>
              <a:t>Processor</a:t>
            </a:r>
            <a:endParaRPr lang="en-US" sz="1600" dirty="0"/>
          </a:p>
        </p:txBody>
      </p:sp>
      <p:sp>
        <p:nvSpPr>
          <p:cNvPr id="11" name="Text 9"/>
          <p:cNvSpPr/>
          <p:nvPr/>
        </p:nvSpPr>
        <p:spPr>
          <a:xfrm>
            <a:off x="2377440" y="1536192"/>
            <a:ext cx="1965960" cy="457200"/>
          </a:xfrm>
          <a:prstGeom prst="rect">
            <a:avLst/>
          </a:prstGeom>
          <a:noFill/>
          <a:ln/>
        </p:spPr>
        <p:txBody>
          <a:bodyPr wrap="square" rtlCol="0" anchor="ctr"/>
          <a:lstStyle/>
          <a:p>
            <a:pPr marL="0" indent="0">
              <a:buNone/>
            </a:pPr>
            <a:r>
              <a:rPr lang="en-US" sz="1600" dirty="0">
                <a:solidFill>
                  <a:srgbClr val="1A3A6B"/>
                </a:solidFill>
              </a:rPr>
              <a:t>Pentium IV 2.4 GHz</a:t>
            </a:r>
            <a:endParaRPr lang="en-US" sz="1600" dirty="0"/>
          </a:p>
        </p:txBody>
      </p:sp>
      <p:sp>
        <p:nvSpPr>
          <p:cNvPr id="12" name="Shape 10"/>
          <p:cNvSpPr/>
          <p:nvPr/>
        </p:nvSpPr>
        <p:spPr>
          <a:xfrm>
            <a:off x="411480" y="2084832"/>
            <a:ext cx="4041648" cy="566928"/>
          </a:xfrm>
          <a:prstGeom prst="rect">
            <a:avLst/>
          </a:prstGeom>
          <a:solidFill>
            <a:srgbClr val="FFFFFF"/>
          </a:solidFill>
          <a:ln w="10160">
            <a:solidFill>
              <a:srgbClr val="E3F0FF"/>
            </a:solidFill>
            <a:prstDash val="solid"/>
          </a:ln>
        </p:spPr>
      </p:sp>
      <p:sp>
        <p:nvSpPr>
          <p:cNvPr id="13" name="Text 11"/>
          <p:cNvSpPr/>
          <p:nvPr/>
        </p:nvSpPr>
        <p:spPr>
          <a:xfrm>
            <a:off x="594360" y="2130552"/>
            <a:ext cx="1645920" cy="457200"/>
          </a:xfrm>
          <a:prstGeom prst="rect">
            <a:avLst/>
          </a:prstGeom>
          <a:noFill/>
          <a:ln/>
        </p:spPr>
        <p:txBody>
          <a:bodyPr wrap="square" rtlCol="0" anchor="ctr"/>
          <a:lstStyle/>
          <a:p>
            <a:pPr marL="0" indent="0">
              <a:buNone/>
            </a:pPr>
            <a:r>
              <a:rPr lang="en-US" sz="1600" b="1" dirty="0">
                <a:solidFill>
                  <a:srgbClr val="0D3270"/>
                </a:solidFill>
              </a:rPr>
              <a:t>Hard Disk</a:t>
            </a:r>
            <a:endParaRPr lang="en-US" sz="1600" dirty="0"/>
          </a:p>
        </p:txBody>
      </p:sp>
      <p:sp>
        <p:nvSpPr>
          <p:cNvPr id="14" name="Text 12"/>
          <p:cNvSpPr/>
          <p:nvPr/>
        </p:nvSpPr>
        <p:spPr>
          <a:xfrm>
            <a:off x="2377440" y="2130552"/>
            <a:ext cx="1965960" cy="457200"/>
          </a:xfrm>
          <a:prstGeom prst="rect">
            <a:avLst/>
          </a:prstGeom>
          <a:noFill/>
          <a:ln/>
        </p:spPr>
        <p:txBody>
          <a:bodyPr wrap="square" rtlCol="0" anchor="ctr"/>
          <a:lstStyle/>
          <a:p>
            <a:pPr marL="0" indent="0">
              <a:buNone/>
            </a:pPr>
            <a:r>
              <a:rPr lang="en-US" sz="1600" dirty="0">
                <a:solidFill>
                  <a:srgbClr val="1A3A6B"/>
                </a:solidFill>
              </a:rPr>
              <a:t>40 GB</a:t>
            </a:r>
            <a:endParaRPr lang="en-US" sz="1600" dirty="0"/>
          </a:p>
        </p:txBody>
      </p:sp>
      <p:sp>
        <p:nvSpPr>
          <p:cNvPr id="15" name="Shape 13"/>
          <p:cNvSpPr/>
          <p:nvPr/>
        </p:nvSpPr>
        <p:spPr>
          <a:xfrm>
            <a:off x="411480" y="2679192"/>
            <a:ext cx="4041648" cy="566928"/>
          </a:xfrm>
          <a:prstGeom prst="rect">
            <a:avLst/>
          </a:prstGeom>
          <a:solidFill>
            <a:srgbClr val="F0F6FF"/>
          </a:solidFill>
          <a:ln w="10160">
            <a:solidFill>
              <a:srgbClr val="E3F0FF"/>
            </a:solidFill>
            <a:prstDash val="solid"/>
          </a:ln>
        </p:spPr>
      </p:sp>
      <p:sp>
        <p:nvSpPr>
          <p:cNvPr id="16" name="Text 14"/>
          <p:cNvSpPr/>
          <p:nvPr/>
        </p:nvSpPr>
        <p:spPr>
          <a:xfrm>
            <a:off x="594360" y="2724912"/>
            <a:ext cx="1645920" cy="457200"/>
          </a:xfrm>
          <a:prstGeom prst="rect">
            <a:avLst/>
          </a:prstGeom>
          <a:noFill/>
          <a:ln/>
        </p:spPr>
        <p:txBody>
          <a:bodyPr wrap="square" rtlCol="0" anchor="ctr"/>
          <a:lstStyle/>
          <a:p>
            <a:pPr marL="0" indent="0">
              <a:buNone/>
            </a:pPr>
            <a:r>
              <a:rPr lang="en-US" sz="1600" b="1" dirty="0">
                <a:solidFill>
                  <a:srgbClr val="0D3270"/>
                </a:solidFill>
              </a:rPr>
              <a:t>RAM</a:t>
            </a:r>
            <a:endParaRPr lang="en-US" sz="1600" dirty="0"/>
          </a:p>
        </p:txBody>
      </p:sp>
      <p:sp>
        <p:nvSpPr>
          <p:cNvPr id="17" name="Text 15"/>
          <p:cNvSpPr/>
          <p:nvPr/>
        </p:nvSpPr>
        <p:spPr>
          <a:xfrm>
            <a:off x="2377440" y="2724912"/>
            <a:ext cx="1965960" cy="457200"/>
          </a:xfrm>
          <a:prstGeom prst="rect">
            <a:avLst/>
          </a:prstGeom>
          <a:noFill/>
          <a:ln/>
        </p:spPr>
        <p:txBody>
          <a:bodyPr wrap="square" rtlCol="0" anchor="ctr"/>
          <a:lstStyle/>
          <a:p>
            <a:pPr marL="0" indent="0">
              <a:buNone/>
            </a:pPr>
            <a:r>
              <a:rPr lang="en-US" sz="1600" dirty="0">
                <a:solidFill>
                  <a:srgbClr val="1A3A6B"/>
                </a:solidFill>
              </a:rPr>
              <a:t>512 MB</a:t>
            </a:r>
            <a:endParaRPr lang="en-US" sz="1600" dirty="0"/>
          </a:p>
        </p:txBody>
      </p:sp>
      <p:sp>
        <p:nvSpPr>
          <p:cNvPr id="18" name="Shape 16"/>
          <p:cNvSpPr/>
          <p:nvPr/>
        </p:nvSpPr>
        <p:spPr>
          <a:xfrm>
            <a:off x="411480" y="3273552"/>
            <a:ext cx="4041648" cy="566928"/>
          </a:xfrm>
          <a:prstGeom prst="rect">
            <a:avLst/>
          </a:prstGeom>
          <a:solidFill>
            <a:srgbClr val="FFFFFF"/>
          </a:solidFill>
          <a:ln w="10160">
            <a:solidFill>
              <a:srgbClr val="E3F0FF"/>
            </a:solidFill>
            <a:prstDash val="solid"/>
          </a:ln>
        </p:spPr>
      </p:sp>
      <p:sp>
        <p:nvSpPr>
          <p:cNvPr id="19" name="Text 17"/>
          <p:cNvSpPr/>
          <p:nvPr/>
        </p:nvSpPr>
        <p:spPr>
          <a:xfrm>
            <a:off x="594360" y="3319272"/>
            <a:ext cx="1645920" cy="457200"/>
          </a:xfrm>
          <a:prstGeom prst="rect">
            <a:avLst/>
          </a:prstGeom>
          <a:noFill/>
          <a:ln/>
        </p:spPr>
        <p:txBody>
          <a:bodyPr wrap="square" rtlCol="0" anchor="ctr"/>
          <a:lstStyle/>
          <a:p>
            <a:pPr marL="0" indent="0">
              <a:buNone/>
            </a:pPr>
            <a:r>
              <a:rPr lang="en-US" sz="1600" b="1" dirty="0">
                <a:solidFill>
                  <a:srgbClr val="0D3270"/>
                </a:solidFill>
              </a:rPr>
              <a:t>Display</a:t>
            </a:r>
            <a:endParaRPr lang="en-US" sz="1600" dirty="0"/>
          </a:p>
        </p:txBody>
      </p:sp>
      <p:sp>
        <p:nvSpPr>
          <p:cNvPr id="20" name="Text 18"/>
          <p:cNvSpPr/>
          <p:nvPr/>
        </p:nvSpPr>
        <p:spPr>
          <a:xfrm>
            <a:off x="2377440" y="3319272"/>
            <a:ext cx="1965960" cy="457200"/>
          </a:xfrm>
          <a:prstGeom prst="rect">
            <a:avLst/>
          </a:prstGeom>
          <a:noFill/>
          <a:ln/>
        </p:spPr>
        <p:txBody>
          <a:bodyPr wrap="square" rtlCol="0" anchor="ctr"/>
          <a:lstStyle/>
          <a:p>
            <a:pPr marL="0" indent="0">
              <a:buNone/>
            </a:pPr>
            <a:r>
              <a:rPr lang="en-US" sz="1600" dirty="0">
                <a:solidFill>
                  <a:srgbClr val="1A3A6B"/>
                </a:solidFill>
              </a:rPr>
              <a:t>15" Monitor</a:t>
            </a:r>
            <a:endParaRPr lang="en-US" sz="1600" dirty="0"/>
          </a:p>
        </p:txBody>
      </p:sp>
      <p:sp>
        <p:nvSpPr>
          <p:cNvPr id="21" name="Shape 19"/>
          <p:cNvSpPr/>
          <p:nvPr/>
        </p:nvSpPr>
        <p:spPr>
          <a:xfrm>
            <a:off x="411480" y="3867912"/>
            <a:ext cx="4041648" cy="566928"/>
          </a:xfrm>
          <a:prstGeom prst="rect">
            <a:avLst/>
          </a:prstGeom>
          <a:solidFill>
            <a:srgbClr val="F0F6FF"/>
          </a:solidFill>
          <a:ln w="10160">
            <a:solidFill>
              <a:srgbClr val="E3F0FF"/>
            </a:solidFill>
            <a:prstDash val="solid"/>
          </a:ln>
        </p:spPr>
      </p:sp>
      <p:sp>
        <p:nvSpPr>
          <p:cNvPr id="22" name="Text 20"/>
          <p:cNvSpPr/>
          <p:nvPr/>
        </p:nvSpPr>
        <p:spPr>
          <a:xfrm>
            <a:off x="594360" y="3913632"/>
            <a:ext cx="1645920" cy="457200"/>
          </a:xfrm>
          <a:prstGeom prst="rect">
            <a:avLst/>
          </a:prstGeom>
          <a:noFill/>
          <a:ln/>
        </p:spPr>
        <p:txBody>
          <a:bodyPr wrap="square" rtlCol="0" anchor="ctr"/>
          <a:lstStyle/>
          <a:p>
            <a:pPr marL="0" indent="0">
              <a:buNone/>
            </a:pPr>
            <a:r>
              <a:rPr lang="en-US" sz="1600" b="1" dirty="0">
                <a:solidFill>
                  <a:srgbClr val="0D3270"/>
                </a:solidFill>
              </a:rPr>
              <a:t>Input</a:t>
            </a:r>
            <a:endParaRPr lang="en-US" sz="1600" dirty="0"/>
          </a:p>
        </p:txBody>
      </p:sp>
      <p:sp>
        <p:nvSpPr>
          <p:cNvPr id="23" name="Text 21"/>
          <p:cNvSpPr/>
          <p:nvPr/>
        </p:nvSpPr>
        <p:spPr>
          <a:xfrm>
            <a:off x="2377440" y="3913632"/>
            <a:ext cx="1965960" cy="457200"/>
          </a:xfrm>
          <a:prstGeom prst="rect">
            <a:avLst/>
          </a:prstGeom>
          <a:noFill/>
          <a:ln/>
        </p:spPr>
        <p:txBody>
          <a:bodyPr wrap="square" rtlCol="0" anchor="ctr"/>
          <a:lstStyle/>
          <a:p>
            <a:pPr marL="0" indent="0">
              <a:buNone/>
            </a:pPr>
            <a:r>
              <a:rPr lang="en-US" sz="1600" dirty="0">
                <a:solidFill>
                  <a:srgbClr val="1A3A6B"/>
                </a:solidFill>
              </a:rPr>
              <a:t>Keyboard &amp; Mouse</a:t>
            </a:r>
            <a:endParaRPr lang="en-US" sz="1600" dirty="0"/>
          </a:p>
        </p:txBody>
      </p:sp>
      <p:sp>
        <p:nvSpPr>
          <p:cNvPr id="24" name="Shape 22"/>
          <p:cNvSpPr/>
          <p:nvPr/>
        </p:nvSpPr>
        <p:spPr>
          <a:xfrm>
            <a:off x="4690872" y="1051560"/>
            <a:ext cx="4041648" cy="438912"/>
          </a:xfrm>
          <a:prstGeom prst="rect">
            <a:avLst/>
          </a:prstGeom>
          <a:solidFill>
            <a:srgbClr val="1565C0"/>
          </a:solidFill>
          <a:ln w="12700">
            <a:solidFill>
              <a:srgbClr val="1565C0"/>
            </a:solidFill>
            <a:prstDash val="solid"/>
          </a:ln>
        </p:spPr>
      </p:sp>
      <p:sp>
        <p:nvSpPr>
          <p:cNvPr id="25" name="Text 23"/>
          <p:cNvSpPr/>
          <p:nvPr/>
        </p:nvSpPr>
        <p:spPr>
          <a:xfrm>
            <a:off x="4782312" y="1051560"/>
            <a:ext cx="3858768" cy="438912"/>
          </a:xfrm>
          <a:prstGeom prst="rect">
            <a:avLst/>
          </a:prstGeom>
          <a:noFill/>
          <a:ln/>
        </p:spPr>
        <p:txBody>
          <a:bodyPr wrap="square" rtlCol="0" anchor="ctr"/>
          <a:lstStyle/>
          <a:p>
            <a:pPr marL="0" indent="0">
              <a:buNone/>
            </a:pPr>
            <a:r>
              <a:rPr lang="en-US" sz="1400" b="1" dirty="0">
                <a:solidFill>
                  <a:srgbClr val="FFFFFF"/>
                </a:solidFill>
              </a:rPr>
              <a:t>💻  </a:t>
            </a:r>
            <a:r>
              <a:rPr lang="en-US" b="1" dirty="0">
                <a:solidFill>
                  <a:srgbClr val="FFFFFF"/>
                </a:solidFill>
              </a:rPr>
              <a:t>Software Requirements</a:t>
            </a:r>
            <a:endParaRPr lang="en-US" dirty="0"/>
          </a:p>
        </p:txBody>
      </p:sp>
      <p:sp>
        <p:nvSpPr>
          <p:cNvPr id="26" name="Shape 24"/>
          <p:cNvSpPr/>
          <p:nvPr/>
        </p:nvSpPr>
        <p:spPr>
          <a:xfrm>
            <a:off x="4690872" y="1490472"/>
            <a:ext cx="4041648" cy="566928"/>
          </a:xfrm>
          <a:prstGeom prst="rect">
            <a:avLst/>
          </a:prstGeom>
          <a:solidFill>
            <a:srgbClr val="F0F6FF"/>
          </a:solidFill>
          <a:ln w="10160">
            <a:solidFill>
              <a:srgbClr val="E3F0FF"/>
            </a:solidFill>
            <a:prstDash val="solid"/>
          </a:ln>
        </p:spPr>
      </p:sp>
      <p:sp>
        <p:nvSpPr>
          <p:cNvPr id="27" name="Text 25"/>
          <p:cNvSpPr/>
          <p:nvPr/>
        </p:nvSpPr>
        <p:spPr>
          <a:xfrm>
            <a:off x="4873752" y="1536192"/>
            <a:ext cx="1371600" cy="457200"/>
          </a:xfrm>
          <a:prstGeom prst="rect">
            <a:avLst/>
          </a:prstGeom>
          <a:noFill/>
          <a:ln/>
        </p:spPr>
        <p:txBody>
          <a:bodyPr wrap="square" rtlCol="0" anchor="ctr"/>
          <a:lstStyle/>
          <a:p>
            <a:pPr marL="0" indent="0">
              <a:buNone/>
            </a:pPr>
            <a:r>
              <a:rPr lang="en-US" sz="1600" b="1" dirty="0">
                <a:solidFill>
                  <a:srgbClr val="0D3270"/>
                </a:solidFill>
              </a:rPr>
              <a:t>OS</a:t>
            </a:r>
            <a:endParaRPr lang="en-US" sz="1600" dirty="0"/>
          </a:p>
        </p:txBody>
      </p:sp>
      <p:sp>
        <p:nvSpPr>
          <p:cNvPr id="28" name="Text 26"/>
          <p:cNvSpPr/>
          <p:nvPr/>
        </p:nvSpPr>
        <p:spPr>
          <a:xfrm>
            <a:off x="6355080" y="1536192"/>
            <a:ext cx="2240280" cy="457200"/>
          </a:xfrm>
          <a:prstGeom prst="rect">
            <a:avLst/>
          </a:prstGeom>
          <a:noFill/>
          <a:ln/>
        </p:spPr>
        <p:txBody>
          <a:bodyPr wrap="square" rtlCol="0" anchor="ctr"/>
          <a:lstStyle/>
          <a:p>
            <a:pPr marL="0" indent="0">
              <a:buNone/>
            </a:pPr>
            <a:r>
              <a:rPr lang="en-US" sz="1600" dirty="0">
                <a:solidFill>
                  <a:srgbClr val="1A3A6B"/>
                </a:solidFill>
              </a:rPr>
              <a:t>Windows</a:t>
            </a:r>
            <a:endParaRPr lang="en-US" sz="1600" dirty="0"/>
          </a:p>
        </p:txBody>
      </p:sp>
      <p:sp>
        <p:nvSpPr>
          <p:cNvPr id="29" name="Shape 27"/>
          <p:cNvSpPr/>
          <p:nvPr/>
        </p:nvSpPr>
        <p:spPr>
          <a:xfrm>
            <a:off x="4690872" y="2084832"/>
            <a:ext cx="4041648" cy="566928"/>
          </a:xfrm>
          <a:prstGeom prst="rect">
            <a:avLst/>
          </a:prstGeom>
          <a:solidFill>
            <a:srgbClr val="FFFFFF"/>
          </a:solidFill>
          <a:ln w="10160">
            <a:solidFill>
              <a:srgbClr val="E3F0FF"/>
            </a:solidFill>
            <a:prstDash val="solid"/>
          </a:ln>
        </p:spPr>
      </p:sp>
      <p:sp>
        <p:nvSpPr>
          <p:cNvPr id="30" name="Text 28"/>
          <p:cNvSpPr/>
          <p:nvPr/>
        </p:nvSpPr>
        <p:spPr>
          <a:xfrm>
            <a:off x="4873752" y="2130552"/>
            <a:ext cx="1371600" cy="457200"/>
          </a:xfrm>
          <a:prstGeom prst="rect">
            <a:avLst/>
          </a:prstGeom>
          <a:noFill/>
          <a:ln/>
        </p:spPr>
        <p:txBody>
          <a:bodyPr wrap="square" rtlCol="0" anchor="ctr"/>
          <a:lstStyle/>
          <a:p>
            <a:pPr marL="0" indent="0">
              <a:buNone/>
            </a:pPr>
            <a:r>
              <a:rPr lang="en-US" sz="1600" b="1" dirty="0">
                <a:solidFill>
                  <a:srgbClr val="0D3270"/>
                </a:solidFill>
              </a:rPr>
              <a:t>Language</a:t>
            </a:r>
            <a:endParaRPr lang="en-US" sz="1600" dirty="0"/>
          </a:p>
        </p:txBody>
      </p:sp>
      <p:sp>
        <p:nvSpPr>
          <p:cNvPr id="31" name="Text 29"/>
          <p:cNvSpPr/>
          <p:nvPr/>
        </p:nvSpPr>
        <p:spPr>
          <a:xfrm>
            <a:off x="6355080" y="2130552"/>
            <a:ext cx="2240280" cy="457200"/>
          </a:xfrm>
          <a:prstGeom prst="rect">
            <a:avLst/>
          </a:prstGeom>
          <a:noFill/>
          <a:ln/>
        </p:spPr>
        <p:txBody>
          <a:bodyPr wrap="square" rtlCol="0" anchor="ctr"/>
          <a:lstStyle/>
          <a:p>
            <a:pPr marL="0" indent="0">
              <a:buNone/>
            </a:pPr>
            <a:r>
              <a:rPr lang="en-US" sz="1600" dirty="0">
                <a:solidFill>
                  <a:srgbClr val="1A3A6B"/>
                </a:solidFill>
              </a:rPr>
              <a:t>Python</a:t>
            </a:r>
            <a:endParaRPr lang="en-US" sz="1600" dirty="0"/>
          </a:p>
        </p:txBody>
      </p:sp>
      <p:sp>
        <p:nvSpPr>
          <p:cNvPr id="32" name="Shape 30"/>
          <p:cNvSpPr/>
          <p:nvPr/>
        </p:nvSpPr>
        <p:spPr>
          <a:xfrm>
            <a:off x="4690872" y="2679192"/>
            <a:ext cx="4041648" cy="566928"/>
          </a:xfrm>
          <a:prstGeom prst="rect">
            <a:avLst/>
          </a:prstGeom>
          <a:solidFill>
            <a:srgbClr val="F0F6FF"/>
          </a:solidFill>
          <a:ln w="10160">
            <a:solidFill>
              <a:srgbClr val="E3F0FF"/>
            </a:solidFill>
            <a:prstDash val="solid"/>
          </a:ln>
        </p:spPr>
      </p:sp>
      <p:sp>
        <p:nvSpPr>
          <p:cNvPr id="33" name="Text 31"/>
          <p:cNvSpPr/>
          <p:nvPr/>
        </p:nvSpPr>
        <p:spPr>
          <a:xfrm>
            <a:off x="4873752" y="2724912"/>
            <a:ext cx="1371600" cy="457200"/>
          </a:xfrm>
          <a:prstGeom prst="rect">
            <a:avLst/>
          </a:prstGeom>
          <a:noFill/>
          <a:ln/>
        </p:spPr>
        <p:txBody>
          <a:bodyPr wrap="square" rtlCol="0" anchor="ctr"/>
          <a:lstStyle/>
          <a:p>
            <a:pPr marL="0" indent="0">
              <a:buNone/>
            </a:pPr>
            <a:r>
              <a:rPr lang="en-US" sz="1600" b="1" dirty="0">
                <a:solidFill>
                  <a:srgbClr val="0D3270"/>
                </a:solidFill>
              </a:rPr>
              <a:t>IDE</a:t>
            </a:r>
            <a:endParaRPr lang="en-US" sz="1600" dirty="0"/>
          </a:p>
        </p:txBody>
      </p:sp>
      <p:sp>
        <p:nvSpPr>
          <p:cNvPr id="34" name="Text 32"/>
          <p:cNvSpPr/>
          <p:nvPr/>
        </p:nvSpPr>
        <p:spPr>
          <a:xfrm>
            <a:off x="6355080" y="2724912"/>
            <a:ext cx="2240280" cy="457200"/>
          </a:xfrm>
          <a:prstGeom prst="rect">
            <a:avLst/>
          </a:prstGeom>
          <a:noFill/>
          <a:ln/>
        </p:spPr>
        <p:txBody>
          <a:bodyPr wrap="square" rtlCol="0" anchor="ctr"/>
          <a:lstStyle/>
          <a:p>
            <a:pPr marL="0" indent="0">
              <a:buNone/>
            </a:pPr>
            <a:r>
              <a:rPr lang="en-US" sz="1600" dirty="0">
                <a:solidFill>
                  <a:srgbClr val="1A3A6B"/>
                </a:solidFill>
              </a:rPr>
              <a:t>VS Code</a:t>
            </a:r>
            <a:endParaRPr lang="en-US" sz="1600" dirty="0"/>
          </a:p>
        </p:txBody>
      </p:sp>
      <p:sp>
        <p:nvSpPr>
          <p:cNvPr id="35" name="Shape 33"/>
          <p:cNvSpPr/>
          <p:nvPr/>
        </p:nvSpPr>
        <p:spPr>
          <a:xfrm>
            <a:off x="4690872" y="3273552"/>
            <a:ext cx="4041648" cy="566928"/>
          </a:xfrm>
          <a:prstGeom prst="rect">
            <a:avLst/>
          </a:prstGeom>
          <a:solidFill>
            <a:srgbClr val="FFFFFF"/>
          </a:solidFill>
          <a:ln w="10160">
            <a:solidFill>
              <a:srgbClr val="E3F0FF"/>
            </a:solidFill>
            <a:prstDash val="solid"/>
          </a:ln>
        </p:spPr>
      </p:sp>
      <p:sp>
        <p:nvSpPr>
          <p:cNvPr id="36" name="Text 34"/>
          <p:cNvSpPr/>
          <p:nvPr/>
        </p:nvSpPr>
        <p:spPr>
          <a:xfrm>
            <a:off x="4873752" y="3319272"/>
            <a:ext cx="1371600" cy="457200"/>
          </a:xfrm>
          <a:prstGeom prst="rect">
            <a:avLst/>
          </a:prstGeom>
          <a:noFill/>
          <a:ln/>
        </p:spPr>
        <p:txBody>
          <a:bodyPr wrap="square" rtlCol="0" anchor="ctr"/>
          <a:lstStyle/>
          <a:p>
            <a:pPr marL="0" indent="0">
              <a:buNone/>
            </a:pPr>
            <a:r>
              <a:rPr lang="en-US" sz="1600" b="1" dirty="0">
                <a:solidFill>
                  <a:srgbClr val="0D3270"/>
                </a:solidFill>
              </a:rPr>
              <a:t>DB</a:t>
            </a:r>
            <a:endParaRPr lang="en-US" sz="1600" dirty="0"/>
          </a:p>
        </p:txBody>
      </p:sp>
      <p:sp>
        <p:nvSpPr>
          <p:cNvPr id="37" name="Text 35"/>
          <p:cNvSpPr/>
          <p:nvPr/>
        </p:nvSpPr>
        <p:spPr>
          <a:xfrm>
            <a:off x="6355080" y="3319272"/>
            <a:ext cx="2240280" cy="457200"/>
          </a:xfrm>
          <a:prstGeom prst="rect">
            <a:avLst/>
          </a:prstGeom>
          <a:noFill/>
          <a:ln/>
        </p:spPr>
        <p:txBody>
          <a:bodyPr wrap="square" rtlCol="0" anchor="ctr"/>
          <a:lstStyle/>
          <a:p>
            <a:pPr marL="0" indent="0">
              <a:buNone/>
            </a:pPr>
            <a:r>
              <a:rPr lang="en-US" sz="1600" dirty="0">
                <a:solidFill>
                  <a:srgbClr val="1A3A6B"/>
                </a:solidFill>
              </a:rPr>
              <a:t>Local / Cloud</a:t>
            </a:r>
            <a:endParaRPr lang="en-US" sz="1600" dirty="0"/>
          </a:p>
        </p:txBody>
      </p:sp>
      <p:sp>
        <p:nvSpPr>
          <p:cNvPr id="38" name="Shape 36"/>
          <p:cNvSpPr/>
          <p:nvPr/>
        </p:nvSpPr>
        <p:spPr>
          <a:xfrm>
            <a:off x="4690872" y="3867912"/>
            <a:ext cx="4041648" cy="566928"/>
          </a:xfrm>
          <a:prstGeom prst="rect">
            <a:avLst/>
          </a:prstGeom>
          <a:solidFill>
            <a:srgbClr val="F0F6FF"/>
          </a:solidFill>
          <a:ln w="10160">
            <a:solidFill>
              <a:srgbClr val="E3F0FF"/>
            </a:solidFill>
            <a:prstDash val="solid"/>
          </a:ln>
        </p:spPr>
      </p:sp>
      <p:sp>
        <p:nvSpPr>
          <p:cNvPr id="39" name="Text 37"/>
          <p:cNvSpPr/>
          <p:nvPr/>
        </p:nvSpPr>
        <p:spPr>
          <a:xfrm>
            <a:off x="4873752" y="3913632"/>
            <a:ext cx="1371600" cy="457200"/>
          </a:xfrm>
          <a:prstGeom prst="rect">
            <a:avLst/>
          </a:prstGeom>
          <a:noFill/>
          <a:ln/>
        </p:spPr>
        <p:txBody>
          <a:bodyPr wrap="square" rtlCol="0" anchor="ctr"/>
          <a:lstStyle/>
          <a:p>
            <a:pPr marL="0" indent="0">
              <a:buNone/>
            </a:pPr>
            <a:r>
              <a:rPr lang="en-US" sz="1600" b="1" dirty="0">
                <a:solidFill>
                  <a:srgbClr val="0D3270"/>
                </a:solidFill>
              </a:rPr>
              <a:t>Libraries</a:t>
            </a:r>
            <a:endParaRPr lang="en-US" sz="1600" dirty="0"/>
          </a:p>
        </p:txBody>
      </p:sp>
      <p:sp>
        <p:nvSpPr>
          <p:cNvPr id="40" name="Text 38"/>
          <p:cNvSpPr/>
          <p:nvPr/>
        </p:nvSpPr>
        <p:spPr>
          <a:xfrm>
            <a:off x="6355080" y="3913632"/>
            <a:ext cx="2240280" cy="457200"/>
          </a:xfrm>
          <a:prstGeom prst="rect">
            <a:avLst/>
          </a:prstGeom>
          <a:noFill/>
          <a:ln/>
        </p:spPr>
        <p:txBody>
          <a:bodyPr wrap="square" rtlCol="0" anchor="ctr"/>
          <a:lstStyle/>
          <a:p>
            <a:pPr marL="0" indent="0">
              <a:buNone/>
            </a:pPr>
            <a:r>
              <a:rPr lang="en-US" sz="1600" dirty="0">
                <a:solidFill>
                  <a:srgbClr val="1A3A6B"/>
                </a:solidFill>
              </a:rPr>
              <a:t>NumPy, OpenCV, PyCryptodome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5" name="Shape 3"/>
          <p:cNvSpPr/>
          <p:nvPr/>
        </p:nvSpPr>
        <p:spPr>
          <a:xfrm>
            <a:off x="411480" y="249174"/>
            <a:ext cx="8321040" cy="658368"/>
          </a:xfrm>
          <a:prstGeom prst="rect">
            <a:avLst/>
          </a:prstGeom>
          <a:solidFill>
            <a:srgbClr val="1565C0"/>
          </a:solidFill>
          <a:ln w="12700">
            <a:solidFill>
              <a:srgbClr val="1565C0"/>
            </a:solidFill>
            <a:prstDash val="solid"/>
          </a:ln>
          <a:effectLst>
            <a:outerShdw blurRad="101600" dist="38100" dir="8100000" algn="bl" rotWithShape="0">
              <a:srgbClr val="0D3270">
                <a:alpha val="13000"/>
              </a:srgbClr>
            </a:outerShdw>
          </a:effectLst>
        </p:spPr>
      </p:sp>
      <p:sp>
        <p:nvSpPr>
          <p:cNvPr id="6" name="Text 4"/>
          <p:cNvSpPr/>
          <p:nvPr/>
        </p:nvSpPr>
        <p:spPr>
          <a:xfrm>
            <a:off x="411480" y="256032"/>
            <a:ext cx="8321040" cy="658368"/>
          </a:xfrm>
          <a:prstGeom prst="rect">
            <a:avLst/>
          </a:prstGeom>
          <a:noFill/>
          <a:ln/>
        </p:spPr>
        <p:txBody>
          <a:bodyPr wrap="square" lIns="0" tIns="0" rIns="0" bIns="0" rtlCol="0" anchor="ctr"/>
          <a:lstStyle/>
          <a:p>
            <a:pPr marL="0" indent="0" algn="ctr">
              <a:buNone/>
            </a:pPr>
            <a:r>
              <a:rPr lang="en-US" sz="2200" b="1" dirty="0">
                <a:solidFill>
                  <a:srgbClr val="FFFFFF"/>
                </a:solidFill>
              </a:rPr>
              <a:t>Functional Requirements</a:t>
            </a:r>
            <a:endParaRPr lang="en-US" sz="2200" dirty="0"/>
          </a:p>
        </p:txBody>
      </p:sp>
      <p:sp>
        <p:nvSpPr>
          <p:cNvPr id="9" name="Shape 7"/>
          <p:cNvSpPr/>
          <p:nvPr/>
        </p:nvSpPr>
        <p:spPr>
          <a:xfrm>
            <a:off x="411480" y="1060303"/>
            <a:ext cx="8321040" cy="3710480"/>
          </a:xfrm>
          <a:prstGeom prst="rect">
            <a:avLst/>
          </a:prstGeom>
          <a:solidFill>
            <a:srgbClr val="E3F2F5"/>
          </a:solidFill>
          <a:ln w="12700">
            <a:solidFill>
              <a:srgbClr val="1E88E5"/>
            </a:solidFill>
            <a:prstDash val="solid"/>
          </a:ln>
          <a:effectLst>
            <a:outerShdw blurRad="101600" dist="38100" dir="8100000" algn="bl" rotWithShape="0">
              <a:srgbClr val="0D3270">
                <a:alpha val="13000"/>
              </a:srgbClr>
            </a:outerShdw>
          </a:effectLst>
        </p:spPr>
      </p:sp>
      <p:sp>
        <p:nvSpPr>
          <p:cNvPr id="13" name="Text 11"/>
          <p:cNvSpPr/>
          <p:nvPr/>
        </p:nvSpPr>
        <p:spPr>
          <a:xfrm>
            <a:off x="585216" y="998684"/>
            <a:ext cx="3657600" cy="384048"/>
          </a:xfrm>
          <a:prstGeom prst="rect">
            <a:avLst/>
          </a:prstGeom>
          <a:noFill/>
          <a:ln/>
        </p:spPr>
        <p:txBody>
          <a:bodyPr wrap="square" rtlCol="0" anchor="ctr"/>
          <a:lstStyle/>
          <a:p>
            <a:pPr marL="0" indent="0" algn="ctr">
              <a:buNone/>
            </a:pPr>
            <a:endParaRPr lang="en-US" dirty="0"/>
          </a:p>
        </p:txBody>
      </p:sp>
      <p:sp>
        <p:nvSpPr>
          <p:cNvPr id="15" name="Text 13"/>
          <p:cNvSpPr/>
          <p:nvPr/>
        </p:nvSpPr>
        <p:spPr>
          <a:xfrm>
            <a:off x="740265" y="1831491"/>
            <a:ext cx="7992255" cy="2336428"/>
          </a:xfrm>
          <a:prstGeom prst="rect">
            <a:avLst/>
          </a:prstGeom>
          <a:noFill/>
          <a:ln/>
        </p:spPr>
        <p:txBody>
          <a:bodyPr wrap="square" rtlCol="0" anchor="ctr"/>
          <a:lstStyle/>
          <a:p>
            <a:pPr algn="just">
              <a:lnSpc>
                <a:spcPct val="130000"/>
              </a:lnSpc>
            </a:pPr>
            <a:r>
              <a:rPr lang="en-US" sz="1900" b="1" dirty="0">
                <a:solidFill>
                  <a:schemeClr val="accent1">
                    <a:lumMod val="50000"/>
                  </a:schemeClr>
                </a:solidFill>
              </a:rPr>
              <a:t>2. User Login: </a:t>
            </a:r>
            <a:r>
              <a:rPr lang="en-US" sz="1900" dirty="0">
                <a:solidFill>
                  <a:schemeClr val="accent1">
                    <a:lumMod val="50000"/>
                  </a:schemeClr>
                </a:solidFill>
              </a:rPr>
              <a:t>Authenticates users to access the system. </a:t>
            </a:r>
          </a:p>
          <a:p>
            <a:pPr algn="just">
              <a:lnSpc>
                <a:spcPct val="130000"/>
              </a:lnSpc>
            </a:pPr>
            <a:r>
              <a:rPr lang="en-US" sz="1900" b="1" dirty="0">
                <a:solidFill>
                  <a:schemeClr val="accent1">
                    <a:lumMod val="50000"/>
                  </a:schemeClr>
                </a:solidFill>
              </a:rPr>
              <a:t>3. Video Upload: </a:t>
            </a:r>
            <a:r>
              <a:rPr lang="en-US" sz="1900" dirty="0">
                <a:solidFill>
                  <a:schemeClr val="accent1">
                    <a:lumMod val="50000"/>
                  </a:schemeClr>
                </a:solidFill>
              </a:rPr>
              <a:t>Enables users to upload videos to the cloud. </a:t>
            </a:r>
          </a:p>
          <a:p>
            <a:pPr algn="just">
              <a:lnSpc>
                <a:spcPct val="130000"/>
              </a:lnSpc>
            </a:pPr>
            <a:r>
              <a:rPr lang="en-US" sz="1900" b="1" dirty="0">
                <a:solidFill>
                  <a:schemeClr val="accent1">
                    <a:lumMod val="50000"/>
                  </a:schemeClr>
                </a:solidFill>
              </a:rPr>
              <a:t>4. Feature Extraction: </a:t>
            </a:r>
            <a:r>
              <a:rPr lang="en-US" sz="1900" dirty="0">
                <a:solidFill>
                  <a:schemeClr val="accent1">
                    <a:lumMod val="50000"/>
                  </a:schemeClr>
                </a:solidFill>
              </a:rPr>
              <a:t>Extracts important features from videos for comparison. </a:t>
            </a:r>
          </a:p>
          <a:p>
            <a:pPr algn="just">
              <a:lnSpc>
                <a:spcPct val="130000"/>
              </a:lnSpc>
            </a:pPr>
            <a:r>
              <a:rPr lang="en-US" sz="1900" b="1" dirty="0">
                <a:solidFill>
                  <a:schemeClr val="accent1">
                    <a:lumMod val="50000"/>
                  </a:schemeClr>
                </a:solidFill>
              </a:rPr>
              <a:t>5. Encrypted Comparison: </a:t>
            </a:r>
            <a:r>
              <a:rPr lang="en-US" sz="1900" dirty="0">
                <a:solidFill>
                  <a:schemeClr val="accent1">
                    <a:lumMod val="50000"/>
                  </a:schemeClr>
                </a:solidFill>
              </a:rPr>
              <a:t>Compares videos in encrypted form to detect copies. </a:t>
            </a:r>
          </a:p>
          <a:p>
            <a:pPr algn="just">
              <a:lnSpc>
                <a:spcPct val="130000"/>
              </a:lnSpc>
            </a:pPr>
            <a:r>
              <a:rPr lang="en-US" sz="1900" b="1" dirty="0">
                <a:solidFill>
                  <a:schemeClr val="accent1">
                    <a:lumMod val="50000"/>
                  </a:schemeClr>
                </a:solidFill>
              </a:rPr>
              <a:t>6. Copy Detection Output: </a:t>
            </a:r>
            <a:r>
              <a:rPr lang="en-US" sz="1900" dirty="0">
                <a:solidFill>
                  <a:schemeClr val="accent1">
                    <a:lumMod val="50000"/>
                  </a:schemeClr>
                </a:solidFill>
              </a:rPr>
              <a:t>Identifies and marks videos as unique or duplicate</a:t>
            </a:r>
          </a:p>
          <a:p>
            <a:pPr algn="just">
              <a:lnSpc>
                <a:spcPct val="130000"/>
              </a:lnSpc>
            </a:pPr>
            <a:r>
              <a:rPr lang="en-US" sz="1900" dirty="0">
                <a:solidFill>
                  <a:schemeClr val="accent1">
                    <a:lumMod val="50000"/>
                  </a:schemeClr>
                </a:solidFill>
              </a:rPr>
              <a:t>preferences.</a:t>
            </a:r>
          </a:p>
        </p:txBody>
      </p:sp>
      <p:sp>
        <p:nvSpPr>
          <p:cNvPr id="19" name="Text 17"/>
          <p:cNvSpPr/>
          <p:nvPr/>
        </p:nvSpPr>
        <p:spPr>
          <a:xfrm>
            <a:off x="6217920" y="2267712"/>
            <a:ext cx="932688" cy="932688"/>
          </a:xfrm>
          <a:prstGeom prst="rect">
            <a:avLst/>
          </a:prstGeom>
          <a:noFill/>
          <a:ln/>
        </p:spPr>
        <p:txBody>
          <a:bodyPr wrap="square" rtlCol="0" anchor="ctr"/>
          <a:lstStyle/>
          <a:p>
            <a:pPr marL="0" indent="0" algn="ctr">
              <a:buNone/>
            </a:pPr>
            <a:endParaRPr lang="en-US" sz="2800" dirty="0"/>
          </a:p>
        </p:txBody>
      </p:sp>
      <p:sp>
        <p:nvSpPr>
          <p:cNvPr id="11" name="TextBox 10"/>
          <p:cNvSpPr txBox="1"/>
          <p:nvPr/>
        </p:nvSpPr>
        <p:spPr>
          <a:xfrm>
            <a:off x="740265" y="1509062"/>
            <a:ext cx="7833227" cy="384721"/>
          </a:xfrm>
          <a:prstGeom prst="rect">
            <a:avLst/>
          </a:prstGeom>
          <a:noFill/>
        </p:spPr>
        <p:txBody>
          <a:bodyPr wrap="square" rtlCol="0">
            <a:spAutoFit/>
          </a:bodyPr>
          <a:lstStyle/>
          <a:p>
            <a:r>
              <a:rPr lang="en-US" sz="1900" b="1" dirty="0">
                <a:solidFill>
                  <a:schemeClr val="accent1">
                    <a:lumMod val="50000"/>
                  </a:schemeClr>
                </a:solidFill>
              </a:rPr>
              <a:t>1. User Registration: </a:t>
            </a:r>
            <a:r>
              <a:rPr lang="en-US" sz="1900" dirty="0">
                <a:solidFill>
                  <a:schemeClr val="accent1">
                    <a:lumMod val="50000"/>
                  </a:schemeClr>
                </a:solidFill>
              </a:rPr>
              <a:t>Allows new users to create an account.</a:t>
            </a:r>
            <a:endParaRPr lang="en-IN" sz="1900" dirty="0">
              <a:solidFill>
                <a:schemeClr val="accent1">
                  <a:lumMod val="50000"/>
                </a:schemeClr>
              </a:solidFill>
            </a:endParaRPr>
          </a:p>
        </p:txBody>
      </p:sp>
    </p:spTree>
    <p:extLst>
      <p:ext uri="{BB962C8B-B14F-4D97-AF65-F5344CB8AC3E}">
        <p14:creationId xmlns:p14="http://schemas.microsoft.com/office/powerpoint/2010/main" val="2182821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5" name="Shape 3"/>
          <p:cNvSpPr/>
          <p:nvPr/>
        </p:nvSpPr>
        <p:spPr>
          <a:xfrm>
            <a:off x="411480" y="249174"/>
            <a:ext cx="8321040" cy="658368"/>
          </a:xfrm>
          <a:prstGeom prst="rect">
            <a:avLst/>
          </a:prstGeom>
          <a:solidFill>
            <a:schemeClr val="accent1">
              <a:lumMod val="50000"/>
            </a:schemeClr>
          </a:solidFill>
          <a:ln w="12700">
            <a:solidFill>
              <a:srgbClr val="1565C0"/>
            </a:solidFill>
            <a:prstDash val="solid"/>
          </a:ln>
          <a:effectLst>
            <a:outerShdw blurRad="101600" dist="38100" dir="8100000" algn="bl" rotWithShape="0">
              <a:srgbClr val="0D3270">
                <a:alpha val="13000"/>
              </a:srgbClr>
            </a:outerShdw>
          </a:effectLst>
        </p:spPr>
      </p:sp>
      <p:sp>
        <p:nvSpPr>
          <p:cNvPr id="6" name="Text 4"/>
          <p:cNvSpPr/>
          <p:nvPr/>
        </p:nvSpPr>
        <p:spPr>
          <a:xfrm>
            <a:off x="411480" y="256032"/>
            <a:ext cx="8321040" cy="658368"/>
          </a:xfrm>
          <a:prstGeom prst="rect">
            <a:avLst/>
          </a:prstGeom>
          <a:noFill/>
          <a:ln/>
        </p:spPr>
        <p:txBody>
          <a:bodyPr wrap="square" lIns="0" tIns="0" rIns="0" bIns="0" rtlCol="0" anchor="ctr"/>
          <a:lstStyle/>
          <a:p>
            <a:pPr marL="0" indent="0" algn="ctr">
              <a:buNone/>
            </a:pPr>
            <a:r>
              <a:rPr lang="en-US" sz="2200" b="1" dirty="0">
                <a:solidFill>
                  <a:srgbClr val="FFFFFF"/>
                </a:solidFill>
              </a:rPr>
              <a:t>Non-Functional Requirements</a:t>
            </a:r>
            <a:endParaRPr lang="en-US" sz="2200" dirty="0"/>
          </a:p>
        </p:txBody>
      </p:sp>
      <p:sp>
        <p:nvSpPr>
          <p:cNvPr id="16" name="Shape 14"/>
          <p:cNvSpPr/>
          <p:nvPr/>
        </p:nvSpPr>
        <p:spPr>
          <a:xfrm>
            <a:off x="411480" y="1040477"/>
            <a:ext cx="8321040" cy="3726180"/>
          </a:xfrm>
          <a:prstGeom prst="rect">
            <a:avLst/>
          </a:prstGeom>
          <a:solidFill>
            <a:schemeClr val="accent1">
              <a:lumMod val="20000"/>
              <a:lumOff val="80000"/>
            </a:schemeClr>
          </a:solidFill>
          <a:ln w="12700">
            <a:solidFill>
              <a:srgbClr val="1E88E5"/>
            </a:solidFill>
            <a:prstDash val="solid"/>
          </a:ln>
          <a:effectLst>
            <a:outerShdw blurRad="101600" dist="38100" dir="8100000" algn="bl" rotWithShape="0">
              <a:srgbClr val="0D3270">
                <a:alpha val="13000"/>
              </a:srgbClr>
            </a:outerShdw>
          </a:effectLst>
        </p:spPr>
      </p:sp>
      <p:sp>
        <p:nvSpPr>
          <p:cNvPr id="19" name="Text 17"/>
          <p:cNvSpPr/>
          <p:nvPr/>
        </p:nvSpPr>
        <p:spPr>
          <a:xfrm>
            <a:off x="6217920" y="2267712"/>
            <a:ext cx="932688" cy="932688"/>
          </a:xfrm>
          <a:prstGeom prst="rect">
            <a:avLst/>
          </a:prstGeom>
          <a:noFill/>
          <a:ln/>
        </p:spPr>
        <p:txBody>
          <a:bodyPr wrap="square" rtlCol="0" anchor="ctr"/>
          <a:lstStyle/>
          <a:p>
            <a:pPr marL="0" indent="0" algn="ctr">
              <a:buNone/>
            </a:pPr>
            <a:endParaRPr lang="en-US" sz="2800" dirty="0"/>
          </a:p>
        </p:txBody>
      </p:sp>
      <p:sp>
        <p:nvSpPr>
          <p:cNvPr id="22" name="Text 20"/>
          <p:cNvSpPr/>
          <p:nvPr/>
        </p:nvSpPr>
        <p:spPr>
          <a:xfrm>
            <a:off x="745434" y="1251286"/>
            <a:ext cx="7623313" cy="3181565"/>
          </a:xfrm>
          <a:prstGeom prst="rect">
            <a:avLst/>
          </a:prstGeom>
          <a:noFill/>
          <a:ln/>
        </p:spPr>
        <p:txBody>
          <a:bodyPr wrap="square" rtlCol="0" anchor="ctr"/>
          <a:lstStyle/>
          <a:p>
            <a:pPr marL="457200" indent="-457200" algn="just">
              <a:lnSpc>
                <a:spcPct val="130000"/>
              </a:lnSpc>
              <a:buAutoNum type="arabicPeriod"/>
            </a:pPr>
            <a:r>
              <a:rPr lang="en-US" sz="1900" b="1" dirty="0">
                <a:solidFill>
                  <a:schemeClr val="accent1">
                    <a:lumMod val="50000"/>
                  </a:schemeClr>
                </a:solidFill>
              </a:rPr>
              <a:t>Performance Security: </a:t>
            </a:r>
            <a:r>
              <a:rPr lang="en-US" sz="1900" dirty="0">
                <a:solidFill>
                  <a:schemeClr val="accent1">
                    <a:lumMod val="50000"/>
                  </a:schemeClr>
                </a:solidFill>
              </a:rPr>
              <a:t>Ensures data is protected using encryption. </a:t>
            </a:r>
          </a:p>
          <a:p>
            <a:pPr marL="457200" indent="-457200" algn="just">
              <a:lnSpc>
                <a:spcPct val="130000"/>
              </a:lnSpc>
              <a:buAutoNum type="arabicPeriod"/>
            </a:pPr>
            <a:r>
              <a:rPr lang="en-US" sz="1900" b="1" dirty="0">
                <a:solidFill>
                  <a:schemeClr val="accent1">
                    <a:lumMod val="50000"/>
                  </a:schemeClr>
                </a:solidFill>
              </a:rPr>
              <a:t>Performance: </a:t>
            </a:r>
            <a:r>
              <a:rPr lang="en-US" sz="1900" dirty="0">
                <a:solidFill>
                  <a:schemeClr val="accent1">
                    <a:lumMod val="50000"/>
                  </a:schemeClr>
                </a:solidFill>
              </a:rPr>
              <a:t>System should process videos efficiently with minimal delay. </a:t>
            </a:r>
          </a:p>
          <a:p>
            <a:pPr marL="457200" indent="-457200" algn="just">
              <a:lnSpc>
                <a:spcPct val="130000"/>
              </a:lnSpc>
              <a:buAutoNum type="arabicPeriod"/>
            </a:pPr>
            <a:r>
              <a:rPr lang="en-US" sz="1900" b="1" dirty="0">
                <a:solidFill>
                  <a:schemeClr val="accent1">
                    <a:lumMod val="50000"/>
                  </a:schemeClr>
                </a:solidFill>
              </a:rPr>
              <a:t>Scalability: </a:t>
            </a:r>
            <a:r>
              <a:rPr lang="en-US" sz="1900" dirty="0">
                <a:solidFill>
                  <a:schemeClr val="accent1">
                    <a:lumMod val="50000"/>
                  </a:schemeClr>
                </a:solidFill>
              </a:rPr>
              <a:t>Can handle increasing number of videos and users.</a:t>
            </a:r>
          </a:p>
          <a:p>
            <a:pPr marL="457200" indent="-457200" algn="just">
              <a:lnSpc>
                <a:spcPct val="130000"/>
              </a:lnSpc>
              <a:buAutoNum type="arabicPeriod"/>
            </a:pPr>
            <a:r>
              <a:rPr lang="en-US" sz="1900" b="1" dirty="0">
                <a:solidFill>
                  <a:schemeClr val="accent1">
                    <a:lumMod val="50000"/>
                  </a:schemeClr>
                </a:solidFill>
              </a:rPr>
              <a:t>Reliability: </a:t>
            </a:r>
            <a:r>
              <a:rPr lang="en-US" sz="1900" dirty="0">
                <a:solidFill>
                  <a:schemeClr val="accent1">
                    <a:lumMod val="50000"/>
                  </a:schemeClr>
                </a:solidFill>
              </a:rPr>
              <a:t>Provides consistent and accurate results. </a:t>
            </a:r>
          </a:p>
          <a:p>
            <a:pPr marL="457200" indent="-457200" algn="just">
              <a:lnSpc>
                <a:spcPct val="130000"/>
              </a:lnSpc>
              <a:buAutoNum type="arabicPeriod"/>
            </a:pPr>
            <a:r>
              <a:rPr lang="en-US" sz="1900" b="1" dirty="0">
                <a:solidFill>
                  <a:schemeClr val="accent1">
                    <a:lumMod val="50000"/>
                  </a:schemeClr>
                </a:solidFill>
              </a:rPr>
              <a:t>Usability: </a:t>
            </a:r>
            <a:r>
              <a:rPr lang="en-US" sz="1900" dirty="0">
                <a:solidFill>
                  <a:schemeClr val="accent1">
                    <a:lumMod val="50000"/>
                  </a:schemeClr>
                </a:solidFill>
              </a:rPr>
              <a:t>Easy for users to interact with the system.</a:t>
            </a:r>
          </a:p>
          <a:p>
            <a:pPr marL="457200" indent="-457200" algn="just">
              <a:lnSpc>
                <a:spcPct val="130000"/>
              </a:lnSpc>
              <a:buAutoNum type="arabicPeriod"/>
            </a:pPr>
            <a:r>
              <a:rPr lang="en-US" sz="1900" b="1" dirty="0">
                <a:solidFill>
                  <a:schemeClr val="accent1">
                    <a:lumMod val="50000"/>
                  </a:schemeClr>
                </a:solidFill>
              </a:rPr>
              <a:t>Availability: </a:t>
            </a:r>
            <a:r>
              <a:rPr lang="en-US" sz="1900" dirty="0">
                <a:solidFill>
                  <a:schemeClr val="accent1">
                    <a:lumMod val="50000"/>
                  </a:schemeClr>
                </a:solidFill>
              </a:rPr>
              <a:t>System should be accessible whenever needed.</a:t>
            </a:r>
          </a:p>
        </p:txBody>
      </p:sp>
    </p:spTree>
    <p:extLst>
      <p:ext uri="{BB962C8B-B14F-4D97-AF65-F5344CB8AC3E}">
        <p14:creationId xmlns:p14="http://schemas.microsoft.com/office/powerpoint/2010/main" val="2641062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5" name="Shape 3"/>
          <p:cNvSpPr/>
          <p:nvPr/>
        </p:nvSpPr>
        <p:spPr>
          <a:xfrm>
            <a:off x="411480" y="256032"/>
            <a:ext cx="8321040" cy="658368"/>
          </a:xfrm>
          <a:prstGeom prst="rect">
            <a:avLst/>
          </a:prstGeom>
          <a:solidFill>
            <a:srgbClr val="1565C0"/>
          </a:solidFill>
          <a:ln w="12700">
            <a:solidFill>
              <a:srgbClr val="1565C0"/>
            </a:solidFill>
            <a:prstDash val="solid"/>
          </a:ln>
          <a:effectLst>
            <a:outerShdw blurRad="101600" dist="38100" dir="8100000" algn="bl" rotWithShape="0">
              <a:srgbClr val="0D3270">
                <a:alpha val="13000"/>
              </a:srgbClr>
            </a:outerShdw>
          </a:effectLst>
        </p:spPr>
      </p:sp>
      <p:sp>
        <p:nvSpPr>
          <p:cNvPr id="6" name="Text 4"/>
          <p:cNvSpPr/>
          <p:nvPr/>
        </p:nvSpPr>
        <p:spPr>
          <a:xfrm>
            <a:off x="411480" y="256032"/>
            <a:ext cx="8321040" cy="658368"/>
          </a:xfrm>
          <a:prstGeom prst="rect">
            <a:avLst/>
          </a:prstGeom>
          <a:noFill/>
          <a:ln/>
        </p:spPr>
        <p:txBody>
          <a:bodyPr wrap="square" lIns="0" tIns="0" rIns="0" bIns="0" rtlCol="0" anchor="ctr"/>
          <a:lstStyle/>
          <a:p>
            <a:pPr marL="0" indent="0" algn="ctr">
              <a:buNone/>
            </a:pPr>
            <a:r>
              <a:rPr lang="en-US" sz="2200" b="1" dirty="0">
                <a:solidFill>
                  <a:srgbClr val="FFFFFF"/>
                </a:solidFill>
              </a:rPr>
              <a:t>Existing System</a:t>
            </a:r>
            <a:endParaRPr lang="en-US" sz="2200" dirty="0"/>
          </a:p>
        </p:txBody>
      </p:sp>
      <p:sp>
        <p:nvSpPr>
          <p:cNvPr id="7" name="Shape 5"/>
          <p:cNvSpPr/>
          <p:nvPr/>
        </p:nvSpPr>
        <p:spPr>
          <a:xfrm>
            <a:off x="411480" y="1051560"/>
            <a:ext cx="8321040" cy="914400"/>
          </a:xfrm>
          <a:prstGeom prst="rect">
            <a:avLst/>
          </a:prstGeom>
          <a:solidFill>
            <a:srgbClr val="F0F6FF"/>
          </a:solidFill>
          <a:ln w="12700">
            <a:solidFill>
              <a:srgbClr val="E3F0FF"/>
            </a:solidFill>
            <a:prstDash val="solid"/>
          </a:ln>
        </p:spPr>
      </p:sp>
      <p:sp>
        <p:nvSpPr>
          <p:cNvPr id="8" name="Text 6"/>
          <p:cNvSpPr/>
          <p:nvPr/>
        </p:nvSpPr>
        <p:spPr>
          <a:xfrm>
            <a:off x="594360" y="1097280"/>
            <a:ext cx="7955280" cy="822960"/>
          </a:xfrm>
          <a:prstGeom prst="rect">
            <a:avLst/>
          </a:prstGeom>
          <a:noFill/>
          <a:ln/>
        </p:spPr>
        <p:txBody>
          <a:bodyPr wrap="square" rtlCol="0" anchor="ctr"/>
          <a:lstStyle/>
          <a:p>
            <a:pPr marL="0" indent="0" algn="just">
              <a:lnSpc>
                <a:spcPct val="130000"/>
              </a:lnSpc>
              <a:buNone/>
            </a:pPr>
            <a:r>
              <a:rPr lang="en-US" sz="1600" dirty="0">
                <a:solidFill>
                  <a:srgbClr val="1A3A6B"/>
                </a:solidFill>
              </a:rPr>
              <a:t>Existing systems rely on feature extraction and matching performed locally or in the cloud, analyzing spatial and temporal features. Multi-view video adds complexity. Most solutions use plaintext processing — requiring videos to be decrypted in the cloud for comparison.</a:t>
            </a:r>
            <a:endParaRPr lang="en-US" sz="1600" dirty="0"/>
          </a:p>
        </p:txBody>
      </p:sp>
      <p:sp>
        <p:nvSpPr>
          <p:cNvPr id="9" name="Shape 7"/>
          <p:cNvSpPr/>
          <p:nvPr/>
        </p:nvSpPr>
        <p:spPr>
          <a:xfrm>
            <a:off x="411480" y="2148045"/>
            <a:ext cx="2651760" cy="2468880"/>
          </a:xfrm>
          <a:prstGeom prst="rect">
            <a:avLst/>
          </a:prstGeom>
          <a:solidFill>
            <a:srgbClr val="0D3270"/>
          </a:solidFill>
          <a:ln w="12700">
            <a:solidFill>
              <a:srgbClr val="0D3270"/>
            </a:solidFill>
            <a:prstDash val="solid"/>
          </a:ln>
          <a:effectLst>
            <a:outerShdw blurRad="101600" dist="38100" dir="8100000" algn="bl" rotWithShape="0">
              <a:srgbClr val="0D3270">
                <a:alpha val="13000"/>
              </a:srgbClr>
            </a:outerShdw>
          </a:effectLst>
        </p:spPr>
      </p:sp>
      <p:sp>
        <p:nvSpPr>
          <p:cNvPr id="10" name="Shape 8"/>
          <p:cNvSpPr/>
          <p:nvPr/>
        </p:nvSpPr>
        <p:spPr>
          <a:xfrm>
            <a:off x="594360" y="2286000"/>
            <a:ext cx="457200" cy="457200"/>
          </a:xfrm>
          <a:prstGeom prst="rect">
            <a:avLst/>
          </a:prstGeom>
          <a:solidFill>
            <a:srgbClr val="FFFFFF">
              <a:alpha val="75000"/>
            </a:srgbClr>
          </a:solidFill>
          <a:ln w="12700">
            <a:solidFill>
              <a:srgbClr val="FFFFFF"/>
            </a:solidFill>
            <a:prstDash val="solid"/>
          </a:ln>
        </p:spPr>
      </p:sp>
      <p:sp>
        <p:nvSpPr>
          <p:cNvPr id="11" name="Text 9"/>
          <p:cNvSpPr/>
          <p:nvPr/>
        </p:nvSpPr>
        <p:spPr>
          <a:xfrm>
            <a:off x="594360" y="2286000"/>
            <a:ext cx="457200" cy="457200"/>
          </a:xfrm>
          <a:prstGeom prst="rect">
            <a:avLst/>
          </a:prstGeom>
          <a:noFill/>
          <a:ln/>
        </p:spPr>
        <p:txBody>
          <a:bodyPr wrap="square" rtlCol="0" anchor="ctr"/>
          <a:lstStyle/>
          <a:p>
            <a:pPr marL="0" indent="0" algn="ctr">
              <a:buNone/>
            </a:pPr>
            <a:r>
              <a:rPr lang="en-US" sz="1600" b="1" dirty="0">
                <a:solidFill>
                  <a:srgbClr val="FFFFFF"/>
                </a:solidFill>
              </a:rPr>
              <a:t>1</a:t>
            </a:r>
            <a:endParaRPr lang="en-US" sz="1600" dirty="0"/>
          </a:p>
        </p:txBody>
      </p:sp>
      <p:sp>
        <p:nvSpPr>
          <p:cNvPr id="12" name="Text 10"/>
          <p:cNvSpPr/>
          <p:nvPr/>
        </p:nvSpPr>
        <p:spPr>
          <a:xfrm>
            <a:off x="576072" y="2733261"/>
            <a:ext cx="2331720" cy="384048"/>
          </a:xfrm>
          <a:prstGeom prst="rect">
            <a:avLst/>
          </a:prstGeom>
          <a:noFill/>
          <a:ln/>
        </p:spPr>
        <p:txBody>
          <a:bodyPr wrap="square" rtlCol="0" anchor="ctr"/>
          <a:lstStyle/>
          <a:p>
            <a:pPr marL="0" indent="0">
              <a:buNone/>
            </a:pPr>
            <a:r>
              <a:rPr lang="en-US" sz="1600" b="1" dirty="0">
                <a:solidFill>
                  <a:srgbClr val="FFFFFF"/>
                </a:solidFill>
              </a:rPr>
              <a:t>Lack of Privacy</a:t>
            </a:r>
            <a:endParaRPr lang="en-US" sz="1600" dirty="0"/>
          </a:p>
        </p:txBody>
      </p:sp>
      <p:sp>
        <p:nvSpPr>
          <p:cNvPr id="13" name="Text 11"/>
          <p:cNvSpPr/>
          <p:nvPr/>
        </p:nvSpPr>
        <p:spPr>
          <a:xfrm>
            <a:off x="571500" y="3087889"/>
            <a:ext cx="2331720" cy="1234440"/>
          </a:xfrm>
          <a:prstGeom prst="rect">
            <a:avLst/>
          </a:prstGeom>
          <a:noFill/>
          <a:ln/>
        </p:spPr>
        <p:txBody>
          <a:bodyPr wrap="square" rtlCol="0" anchor="ctr"/>
          <a:lstStyle/>
          <a:p>
            <a:pPr marL="0" indent="0" algn="just">
              <a:lnSpc>
                <a:spcPct val="130000"/>
              </a:lnSpc>
              <a:buNone/>
            </a:pPr>
            <a:r>
              <a:rPr lang="en-US" sz="1400" dirty="0">
                <a:solidFill>
                  <a:srgbClr val="E3F0FF"/>
                </a:solidFill>
              </a:rPr>
              <a:t>Videos must be decrypted in the cloud for processing, exposing them to potential misuse or unauthorized access.</a:t>
            </a:r>
            <a:endParaRPr lang="en-US" sz="1400" dirty="0"/>
          </a:p>
        </p:txBody>
      </p:sp>
      <p:sp>
        <p:nvSpPr>
          <p:cNvPr id="14" name="Shape 12"/>
          <p:cNvSpPr/>
          <p:nvPr/>
        </p:nvSpPr>
        <p:spPr>
          <a:xfrm>
            <a:off x="3246120" y="2148840"/>
            <a:ext cx="2651760" cy="2468880"/>
          </a:xfrm>
          <a:prstGeom prst="rect">
            <a:avLst/>
          </a:prstGeom>
          <a:solidFill>
            <a:srgbClr val="1565C0"/>
          </a:solidFill>
          <a:ln w="12700">
            <a:solidFill>
              <a:srgbClr val="1565C0"/>
            </a:solidFill>
            <a:prstDash val="solid"/>
          </a:ln>
          <a:effectLst>
            <a:outerShdw blurRad="101600" dist="38100" dir="8100000" algn="bl" rotWithShape="0">
              <a:srgbClr val="0D3270">
                <a:alpha val="13000"/>
              </a:srgbClr>
            </a:outerShdw>
          </a:effectLst>
        </p:spPr>
      </p:sp>
      <p:sp>
        <p:nvSpPr>
          <p:cNvPr id="15" name="Shape 13"/>
          <p:cNvSpPr/>
          <p:nvPr/>
        </p:nvSpPr>
        <p:spPr>
          <a:xfrm>
            <a:off x="3429000" y="2286000"/>
            <a:ext cx="457200" cy="457200"/>
          </a:xfrm>
          <a:prstGeom prst="rect">
            <a:avLst/>
          </a:prstGeom>
          <a:solidFill>
            <a:srgbClr val="FFFFFF">
              <a:alpha val="75000"/>
            </a:srgbClr>
          </a:solidFill>
          <a:ln w="12700">
            <a:solidFill>
              <a:srgbClr val="FFFFFF"/>
            </a:solidFill>
            <a:prstDash val="solid"/>
          </a:ln>
        </p:spPr>
      </p:sp>
      <p:sp>
        <p:nvSpPr>
          <p:cNvPr id="16" name="Text 14"/>
          <p:cNvSpPr/>
          <p:nvPr/>
        </p:nvSpPr>
        <p:spPr>
          <a:xfrm>
            <a:off x="3429000" y="2286000"/>
            <a:ext cx="457200" cy="457200"/>
          </a:xfrm>
          <a:prstGeom prst="rect">
            <a:avLst/>
          </a:prstGeom>
          <a:noFill/>
          <a:ln/>
        </p:spPr>
        <p:txBody>
          <a:bodyPr wrap="square" rtlCol="0" anchor="ctr"/>
          <a:lstStyle/>
          <a:p>
            <a:pPr marL="0" indent="0" algn="ctr">
              <a:buNone/>
            </a:pPr>
            <a:r>
              <a:rPr lang="en-US" sz="1600" b="1" dirty="0">
                <a:solidFill>
                  <a:srgbClr val="FFFFFF"/>
                </a:solidFill>
              </a:rPr>
              <a:t>2</a:t>
            </a:r>
            <a:endParaRPr lang="en-US" sz="1600" dirty="0"/>
          </a:p>
        </p:txBody>
      </p:sp>
      <p:sp>
        <p:nvSpPr>
          <p:cNvPr id="17" name="Text 15"/>
          <p:cNvSpPr/>
          <p:nvPr/>
        </p:nvSpPr>
        <p:spPr>
          <a:xfrm>
            <a:off x="3410712" y="2724912"/>
            <a:ext cx="2331720" cy="384048"/>
          </a:xfrm>
          <a:prstGeom prst="rect">
            <a:avLst/>
          </a:prstGeom>
          <a:noFill/>
          <a:ln/>
        </p:spPr>
        <p:txBody>
          <a:bodyPr wrap="square" rtlCol="0" anchor="ctr"/>
          <a:lstStyle/>
          <a:p>
            <a:pPr marL="0" indent="0">
              <a:buNone/>
            </a:pPr>
            <a:r>
              <a:rPr lang="en-US" sz="1600" b="1" dirty="0">
                <a:solidFill>
                  <a:srgbClr val="FFFFFF"/>
                </a:solidFill>
              </a:rPr>
              <a:t>Single-View Limitations</a:t>
            </a:r>
            <a:endParaRPr lang="en-US" sz="1600" dirty="0"/>
          </a:p>
        </p:txBody>
      </p:sp>
      <p:sp>
        <p:nvSpPr>
          <p:cNvPr id="18" name="Text 16"/>
          <p:cNvSpPr/>
          <p:nvPr/>
        </p:nvSpPr>
        <p:spPr>
          <a:xfrm>
            <a:off x="3406140" y="3087889"/>
            <a:ext cx="2331720" cy="1234440"/>
          </a:xfrm>
          <a:prstGeom prst="rect">
            <a:avLst/>
          </a:prstGeom>
          <a:noFill/>
          <a:ln/>
        </p:spPr>
        <p:txBody>
          <a:bodyPr wrap="square" rtlCol="0" anchor="ctr"/>
          <a:lstStyle/>
          <a:p>
            <a:pPr marL="0" indent="0" algn="just">
              <a:lnSpc>
                <a:spcPct val="130000"/>
              </a:lnSpc>
              <a:buNone/>
            </a:pPr>
            <a:r>
              <a:rPr lang="en-US" sz="1400" dirty="0">
                <a:solidFill>
                  <a:srgbClr val="E3F0FF"/>
                </a:solidFill>
              </a:rPr>
              <a:t>Inefficient handling of multi-view video data due to limited feature fusion and perspective comparison support.</a:t>
            </a:r>
            <a:endParaRPr lang="en-US" sz="1400" dirty="0"/>
          </a:p>
        </p:txBody>
      </p:sp>
      <p:sp>
        <p:nvSpPr>
          <p:cNvPr id="19" name="Shape 17"/>
          <p:cNvSpPr/>
          <p:nvPr/>
        </p:nvSpPr>
        <p:spPr>
          <a:xfrm>
            <a:off x="6080760" y="2148840"/>
            <a:ext cx="2651760" cy="2468880"/>
          </a:xfrm>
          <a:prstGeom prst="rect">
            <a:avLst/>
          </a:prstGeom>
          <a:solidFill>
            <a:srgbClr val="1E88E5"/>
          </a:solidFill>
          <a:ln w="12700">
            <a:solidFill>
              <a:srgbClr val="1E88E5"/>
            </a:solidFill>
            <a:prstDash val="solid"/>
          </a:ln>
          <a:effectLst>
            <a:outerShdw blurRad="101600" dist="38100" dir="8100000" algn="bl" rotWithShape="0">
              <a:srgbClr val="0D3270">
                <a:alpha val="13000"/>
              </a:srgbClr>
            </a:outerShdw>
          </a:effectLst>
        </p:spPr>
      </p:sp>
      <p:sp>
        <p:nvSpPr>
          <p:cNvPr id="20" name="Shape 18"/>
          <p:cNvSpPr/>
          <p:nvPr/>
        </p:nvSpPr>
        <p:spPr>
          <a:xfrm>
            <a:off x="6263640" y="2286000"/>
            <a:ext cx="457200" cy="457200"/>
          </a:xfrm>
          <a:prstGeom prst="rect">
            <a:avLst/>
          </a:prstGeom>
          <a:solidFill>
            <a:srgbClr val="FFFFFF">
              <a:alpha val="75000"/>
            </a:srgbClr>
          </a:solidFill>
          <a:ln w="12700">
            <a:solidFill>
              <a:srgbClr val="FFFFFF"/>
            </a:solidFill>
            <a:prstDash val="solid"/>
          </a:ln>
        </p:spPr>
      </p:sp>
      <p:sp>
        <p:nvSpPr>
          <p:cNvPr id="21" name="Text 19"/>
          <p:cNvSpPr/>
          <p:nvPr/>
        </p:nvSpPr>
        <p:spPr>
          <a:xfrm>
            <a:off x="6263640" y="2286000"/>
            <a:ext cx="457200" cy="457200"/>
          </a:xfrm>
          <a:prstGeom prst="rect">
            <a:avLst/>
          </a:prstGeom>
          <a:noFill/>
          <a:ln/>
        </p:spPr>
        <p:txBody>
          <a:bodyPr wrap="square" rtlCol="0" anchor="ctr"/>
          <a:lstStyle/>
          <a:p>
            <a:pPr marL="0" indent="0" algn="ctr">
              <a:buNone/>
            </a:pPr>
            <a:r>
              <a:rPr lang="en-US" sz="1600" b="1" dirty="0">
                <a:solidFill>
                  <a:srgbClr val="FFFFFF"/>
                </a:solidFill>
              </a:rPr>
              <a:t>3</a:t>
            </a:r>
            <a:endParaRPr lang="en-US" sz="1600" dirty="0"/>
          </a:p>
        </p:txBody>
      </p:sp>
      <p:sp>
        <p:nvSpPr>
          <p:cNvPr id="22" name="Text 20"/>
          <p:cNvSpPr/>
          <p:nvPr/>
        </p:nvSpPr>
        <p:spPr>
          <a:xfrm>
            <a:off x="6245352" y="2732466"/>
            <a:ext cx="2331720" cy="384048"/>
          </a:xfrm>
          <a:prstGeom prst="rect">
            <a:avLst/>
          </a:prstGeom>
          <a:noFill/>
          <a:ln/>
        </p:spPr>
        <p:txBody>
          <a:bodyPr wrap="square" rtlCol="0" anchor="ctr"/>
          <a:lstStyle/>
          <a:p>
            <a:pPr marL="0" indent="0">
              <a:buNone/>
            </a:pPr>
            <a:r>
              <a:rPr lang="en-US" sz="1600" b="1" dirty="0">
                <a:solidFill>
                  <a:srgbClr val="FFFFFF"/>
                </a:solidFill>
              </a:rPr>
              <a:t>High Computational Cost</a:t>
            </a:r>
            <a:endParaRPr lang="en-US" sz="1600" dirty="0"/>
          </a:p>
        </p:txBody>
      </p:sp>
      <p:sp>
        <p:nvSpPr>
          <p:cNvPr id="23" name="Text 21"/>
          <p:cNvSpPr/>
          <p:nvPr/>
        </p:nvSpPr>
        <p:spPr>
          <a:xfrm>
            <a:off x="6240780" y="3117309"/>
            <a:ext cx="2331720" cy="1234440"/>
          </a:xfrm>
          <a:prstGeom prst="rect">
            <a:avLst/>
          </a:prstGeom>
          <a:noFill/>
          <a:ln/>
        </p:spPr>
        <p:txBody>
          <a:bodyPr wrap="square" rtlCol="0" anchor="ctr"/>
          <a:lstStyle/>
          <a:p>
            <a:pPr marL="0" indent="0" algn="just">
              <a:lnSpc>
                <a:spcPct val="130000"/>
              </a:lnSpc>
              <a:buNone/>
            </a:pPr>
            <a:r>
              <a:rPr lang="en-US" sz="1400" dirty="0">
                <a:solidFill>
                  <a:srgbClr val="E3F0FF"/>
                </a:solidFill>
              </a:rPr>
              <a:t>Feature extraction and comparison for high-resolution multi-view videos are computationally expensive.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5" name="Shape 3"/>
          <p:cNvSpPr/>
          <p:nvPr/>
        </p:nvSpPr>
        <p:spPr>
          <a:xfrm>
            <a:off x="411480" y="256032"/>
            <a:ext cx="8321040" cy="658368"/>
          </a:xfrm>
          <a:prstGeom prst="rect">
            <a:avLst/>
          </a:prstGeom>
          <a:solidFill>
            <a:srgbClr val="1565C0"/>
          </a:solidFill>
          <a:ln w="12700">
            <a:solidFill>
              <a:srgbClr val="1565C0"/>
            </a:solidFill>
            <a:prstDash val="solid"/>
          </a:ln>
          <a:effectLst>
            <a:outerShdw blurRad="101600" dist="38100" dir="8100000" algn="bl" rotWithShape="0">
              <a:srgbClr val="0D3270">
                <a:alpha val="13000"/>
              </a:srgbClr>
            </a:outerShdw>
          </a:effectLst>
        </p:spPr>
      </p:sp>
      <p:sp>
        <p:nvSpPr>
          <p:cNvPr id="6" name="Text 4"/>
          <p:cNvSpPr/>
          <p:nvPr/>
        </p:nvSpPr>
        <p:spPr>
          <a:xfrm>
            <a:off x="411480" y="256032"/>
            <a:ext cx="8321040" cy="658368"/>
          </a:xfrm>
          <a:prstGeom prst="rect">
            <a:avLst/>
          </a:prstGeom>
          <a:noFill/>
          <a:ln/>
        </p:spPr>
        <p:txBody>
          <a:bodyPr wrap="square" lIns="0" tIns="0" rIns="0" bIns="0" rtlCol="0" anchor="ctr"/>
          <a:lstStyle/>
          <a:p>
            <a:pPr marL="0" indent="0" algn="ctr">
              <a:buNone/>
            </a:pPr>
            <a:r>
              <a:rPr lang="en-US" sz="2200" b="1" dirty="0">
                <a:solidFill>
                  <a:srgbClr val="FFFFFF"/>
                </a:solidFill>
              </a:rPr>
              <a:t>Proposed System (EFHE)</a:t>
            </a:r>
            <a:endParaRPr lang="en-US" sz="2200" dirty="0"/>
          </a:p>
        </p:txBody>
      </p:sp>
      <p:sp>
        <p:nvSpPr>
          <p:cNvPr id="7" name="Shape 5"/>
          <p:cNvSpPr/>
          <p:nvPr/>
        </p:nvSpPr>
        <p:spPr>
          <a:xfrm>
            <a:off x="411480" y="1033272"/>
            <a:ext cx="8321040" cy="914400"/>
          </a:xfrm>
          <a:prstGeom prst="rect">
            <a:avLst/>
          </a:prstGeom>
          <a:solidFill>
            <a:srgbClr val="0D3270"/>
          </a:solidFill>
          <a:ln w="12700">
            <a:solidFill>
              <a:srgbClr val="0D3270"/>
            </a:solidFill>
            <a:prstDash val="solid"/>
          </a:ln>
          <a:effectLst>
            <a:outerShdw blurRad="101600" dist="38100" dir="8100000" algn="bl" rotWithShape="0">
              <a:srgbClr val="0D3270">
                <a:alpha val="13000"/>
              </a:srgbClr>
            </a:outerShdw>
          </a:effectLst>
        </p:spPr>
      </p:sp>
      <p:sp>
        <p:nvSpPr>
          <p:cNvPr id="8" name="Text 6"/>
          <p:cNvSpPr/>
          <p:nvPr/>
        </p:nvSpPr>
        <p:spPr>
          <a:xfrm>
            <a:off x="594360" y="1097280"/>
            <a:ext cx="7955280" cy="822960"/>
          </a:xfrm>
          <a:prstGeom prst="rect">
            <a:avLst/>
          </a:prstGeom>
          <a:noFill/>
          <a:ln/>
        </p:spPr>
        <p:txBody>
          <a:bodyPr wrap="square" rtlCol="0" anchor="ctr"/>
          <a:lstStyle/>
          <a:p>
            <a:pPr marL="0" indent="0" algn="just">
              <a:lnSpc>
                <a:spcPct val="125000"/>
              </a:lnSpc>
              <a:buNone/>
            </a:pPr>
            <a:r>
              <a:rPr lang="en-US" sz="1600" dirty="0">
                <a:solidFill>
                  <a:srgbClr val="FFFFFF"/>
                </a:solidFill>
              </a:rPr>
              <a:t>Introduces the EFHE model by hybridizing DM with GSW to perform privacy-preserving video copy detection. Encrypted features are uploaded to the cloud where detection runs directly on encrypted data — the server never sees raw content.</a:t>
            </a:r>
            <a:endParaRPr lang="en-US" sz="1600" dirty="0"/>
          </a:p>
        </p:txBody>
      </p:sp>
      <p:sp>
        <p:nvSpPr>
          <p:cNvPr id="9" name="Shape 7"/>
          <p:cNvSpPr/>
          <p:nvPr/>
        </p:nvSpPr>
        <p:spPr>
          <a:xfrm>
            <a:off x="411480" y="2084832"/>
            <a:ext cx="4041648" cy="2633472"/>
          </a:xfrm>
          <a:prstGeom prst="rect">
            <a:avLst/>
          </a:prstGeom>
          <a:solidFill>
            <a:srgbClr val="0D3270"/>
          </a:solidFill>
          <a:ln w="12700">
            <a:solidFill>
              <a:srgbClr val="1E88E5"/>
            </a:solidFill>
            <a:prstDash val="solid"/>
          </a:ln>
          <a:effectLst>
            <a:outerShdw blurRad="101600" dist="38100" dir="8100000" algn="bl" rotWithShape="0">
              <a:srgbClr val="0D3270">
                <a:alpha val="13000"/>
              </a:srgbClr>
            </a:outerShdw>
          </a:effectLst>
        </p:spPr>
      </p:sp>
      <p:sp>
        <p:nvSpPr>
          <p:cNvPr id="10" name="Shape 8"/>
          <p:cNvSpPr/>
          <p:nvPr/>
        </p:nvSpPr>
        <p:spPr>
          <a:xfrm>
            <a:off x="411480" y="2084832"/>
            <a:ext cx="4041648" cy="73152"/>
          </a:xfrm>
          <a:prstGeom prst="rect">
            <a:avLst/>
          </a:prstGeom>
          <a:solidFill>
            <a:srgbClr val="1E88E5"/>
          </a:solidFill>
          <a:ln w="12700">
            <a:solidFill>
              <a:srgbClr val="1E88E5"/>
            </a:solidFill>
            <a:prstDash val="solid"/>
          </a:ln>
        </p:spPr>
      </p:sp>
      <p:sp>
        <p:nvSpPr>
          <p:cNvPr id="13" name="Text 11"/>
          <p:cNvSpPr/>
          <p:nvPr/>
        </p:nvSpPr>
        <p:spPr>
          <a:xfrm>
            <a:off x="411480" y="2221992"/>
            <a:ext cx="3657600" cy="384048"/>
          </a:xfrm>
          <a:prstGeom prst="rect">
            <a:avLst/>
          </a:prstGeom>
          <a:noFill/>
          <a:ln/>
        </p:spPr>
        <p:txBody>
          <a:bodyPr wrap="square" rtlCol="0" anchor="ctr"/>
          <a:lstStyle/>
          <a:p>
            <a:pPr marL="0" indent="0" algn="ctr">
              <a:buNone/>
            </a:pPr>
            <a:r>
              <a:rPr lang="en-US" b="1" dirty="0">
                <a:solidFill>
                  <a:srgbClr val="FFFFFF"/>
                </a:solidFill>
              </a:rPr>
              <a:t>Privacy-Preserving</a:t>
            </a:r>
            <a:endParaRPr lang="en-US" dirty="0"/>
          </a:p>
        </p:txBody>
      </p:sp>
      <p:sp>
        <p:nvSpPr>
          <p:cNvPr id="14" name="Shape 12"/>
          <p:cNvSpPr/>
          <p:nvPr/>
        </p:nvSpPr>
        <p:spPr>
          <a:xfrm>
            <a:off x="941832" y="2688336"/>
            <a:ext cx="2944368" cy="27432"/>
          </a:xfrm>
          <a:prstGeom prst="rect">
            <a:avLst/>
          </a:prstGeom>
          <a:solidFill>
            <a:srgbClr val="1E88E5">
              <a:alpha val="60000"/>
            </a:srgbClr>
          </a:solidFill>
          <a:ln w="12700">
            <a:solidFill>
              <a:srgbClr val="1E88E5"/>
            </a:solidFill>
            <a:prstDash val="solid"/>
          </a:ln>
        </p:spPr>
      </p:sp>
      <p:sp>
        <p:nvSpPr>
          <p:cNvPr id="15" name="Text 13"/>
          <p:cNvSpPr/>
          <p:nvPr/>
        </p:nvSpPr>
        <p:spPr>
          <a:xfrm>
            <a:off x="585216" y="3067812"/>
            <a:ext cx="3657600" cy="1078992"/>
          </a:xfrm>
          <a:prstGeom prst="rect">
            <a:avLst/>
          </a:prstGeom>
          <a:noFill/>
          <a:ln/>
        </p:spPr>
        <p:txBody>
          <a:bodyPr wrap="square" rtlCol="0" anchor="ctr"/>
          <a:lstStyle/>
          <a:p>
            <a:pPr marL="0" indent="0" algn="just">
              <a:lnSpc>
                <a:spcPct val="130000"/>
              </a:lnSpc>
              <a:buNone/>
            </a:pPr>
            <a:r>
              <a:rPr lang="en-US" sz="1600" dirty="0">
                <a:solidFill>
                  <a:srgbClr val="E3F0FF"/>
                </a:solidFill>
              </a:rPr>
              <a:t>The cloud never accesses raw video content, ensuring end-to-end data confidentiality. Features are encrypted on the user side before uploading — the server never sees raw content.</a:t>
            </a:r>
            <a:endParaRPr lang="en-US" sz="1600" dirty="0"/>
          </a:p>
        </p:txBody>
      </p:sp>
      <p:sp>
        <p:nvSpPr>
          <p:cNvPr id="16" name="Shape 14"/>
          <p:cNvSpPr/>
          <p:nvPr/>
        </p:nvSpPr>
        <p:spPr>
          <a:xfrm>
            <a:off x="4663440" y="2084832"/>
            <a:ext cx="4041648" cy="2633472"/>
          </a:xfrm>
          <a:prstGeom prst="rect">
            <a:avLst/>
          </a:prstGeom>
          <a:solidFill>
            <a:srgbClr val="1565C0"/>
          </a:solidFill>
          <a:ln w="12700">
            <a:solidFill>
              <a:srgbClr val="1E88E5"/>
            </a:solidFill>
            <a:prstDash val="solid"/>
          </a:ln>
          <a:effectLst>
            <a:outerShdw blurRad="101600" dist="38100" dir="8100000" algn="bl" rotWithShape="0">
              <a:srgbClr val="0D3270">
                <a:alpha val="13000"/>
              </a:srgbClr>
            </a:outerShdw>
          </a:effectLst>
        </p:spPr>
      </p:sp>
      <p:sp>
        <p:nvSpPr>
          <p:cNvPr id="17" name="Shape 15"/>
          <p:cNvSpPr/>
          <p:nvPr/>
        </p:nvSpPr>
        <p:spPr>
          <a:xfrm>
            <a:off x="4663440" y="2084832"/>
            <a:ext cx="4041648" cy="73152"/>
          </a:xfrm>
          <a:prstGeom prst="rect">
            <a:avLst/>
          </a:prstGeom>
          <a:solidFill>
            <a:srgbClr val="1E88E5"/>
          </a:solidFill>
          <a:ln w="12700">
            <a:solidFill>
              <a:srgbClr val="1E88E5"/>
            </a:solidFill>
            <a:prstDash val="solid"/>
          </a:ln>
        </p:spPr>
      </p:sp>
      <p:sp>
        <p:nvSpPr>
          <p:cNvPr id="19" name="Text 17"/>
          <p:cNvSpPr/>
          <p:nvPr/>
        </p:nvSpPr>
        <p:spPr>
          <a:xfrm>
            <a:off x="6217920" y="2267712"/>
            <a:ext cx="932688" cy="932688"/>
          </a:xfrm>
          <a:prstGeom prst="rect">
            <a:avLst/>
          </a:prstGeom>
          <a:noFill/>
          <a:ln/>
        </p:spPr>
        <p:txBody>
          <a:bodyPr wrap="square" rtlCol="0" anchor="ctr"/>
          <a:lstStyle/>
          <a:p>
            <a:pPr marL="0" indent="0" algn="ctr">
              <a:buNone/>
            </a:pPr>
            <a:endParaRPr lang="en-US" sz="2800" dirty="0"/>
          </a:p>
        </p:txBody>
      </p:sp>
      <p:sp>
        <p:nvSpPr>
          <p:cNvPr id="20" name="Text 18"/>
          <p:cNvSpPr/>
          <p:nvPr/>
        </p:nvSpPr>
        <p:spPr>
          <a:xfrm>
            <a:off x="4846320" y="2226166"/>
            <a:ext cx="3657600" cy="384048"/>
          </a:xfrm>
          <a:prstGeom prst="rect">
            <a:avLst/>
          </a:prstGeom>
          <a:noFill/>
          <a:ln/>
        </p:spPr>
        <p:txBody>
          <a:bodyPr wrap="square" rtlCol="0" anchor="ctr"/>
          <a:lstStyle/>
          <a:p>
            <a:pPr marL="0" indent="0" algn="ctr">
              <a:buNone/>
            </a:pPr>
            <a:r>
              <a:rPr lang="en-US" b="1" dirty="0">
                <a:solidFill>
                  <a:srgbClr val="FFFFFF"/>
                </a:solidFill>
              </a:rPr>
              <a:t>Supports Multi-View Analysis</a:t>
            </a:r>
            <a:endParaRPr lang="en-US" dirty="0"/>
          </a:p>
        </p:txBody>
      </p:sp>
      <p:sp>
        <p:nvSpPr>
          <p:cNvPr id="21" name="Shape 19"/>
          <p:cNvSpPr/>
          <p:nvPr/>
        </p:nvSpPr>
        <p:spPr>
          <a:xfrm>
            <a:off x="5202936" y="2688336"/>
            <a:ext cx="2944368" cy="27432"/>
          </a:xfrm>
          <a:prstGeom prst="rect">
            <a:avLst/>
          </a:prstGeom>
          <a:solidFill>
            <a:srgbClr val="1E88E5">
              <a:alpha val="60000"/>
            </a:srgbClr>
          </a:solidFill>
          <a:ln w="12700">
            <a:solidFill>
              <a:srgbClr val="1E88E5"/>
            </a:solidFill>
            <a:prstDash val="solid"/>
          </a:ln>
        </p:spPr>
      </p:sp>
      <p:sp>
        <p:nvSpPr>
          <p:cNvPr id="22" name="Text 20"/>
          <p:cNvSpPr/>
          <p:nvPr/>
        </p:nvSpPr>
        <p:spPr>
          <a:xfrm>
            <a:off x="4855464" y="3067812"/>
            <a:ext cx="3657600" cy="1078992"/>
          </a:xfrm>
          <a:prstGeom prst="rect">
            <a:avLst/>
          </a:prstGeom>
          <a:noFill/>
          <a:ln/>
        </p:spPr>
        <p:txBody>
          <a:bodyPr wrap="square" rtlCol="0" anchor="ctr"/>
          <a:lstStyle/>
          <a:p>
            <a:pPr marL="0" indent="0" algn="just">
              <a:lnSpc>
                <a:spcPct val="130000"/>
              </a:lnSpc>
              <a:buNone/>
            </a:pPr>
            <a:r>
              <a:rPr lang="en-US" sz="1600" dirty="0">
                <a:solidFill>
                  <a:srgbClr val="E3F0FF"/>
                </a:solidFill>
              </a:rPr>
              <a:t>Capable of accurately detecting copies across various camera angles and views using integrated feature models. Multi-view alignment integrates information from diverse perspectives.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5" name="Shape 3"/>
          <p:cNvSpPr/>
          <p:nvPr/>
        </p:nvSpPr>
        <p:spPr>
          <a:xfrm>
            <a:off x="411480" y="256032"/>
            <a:ext cx="8321040" cy="658368"/>
          </a:xfrm>
          <a:prstGeom prst="rect">
            <a:avLst/>
          </a:prstGeom>
          <a:solidFill>
            <a:srgbClr val="1565C0"/>
          </a:solidFill>
          <a:ln w="12700">
            <a:solidFill>
              <a:srgbClr val="1565C0"/>
            </a:solidFill>
            <a:prstDash val="solid"/>
          </a:ln>
          <a:effectLst>
            <a:outerShdw blurRad="101600" dist="38100" dir="8100000" algn="bl" rotWithShape="0">
              <a:srgbClr val="0D3270">
                <a:alpha val="13000"/>
              </a:srgbClr>
            </a:outerShdw>
          </a:effectLst>
        </p:spPr>
      </p:sp>
      <p:sp>
        <p:nvSpPr>
          <p:cNvPr id="6" name="Text 4"/>
          <p:cNvSpPr/>
          <p:nvPr/>
        </p:nvSpPr>
        <p:spPr>
          <a:xfrm>
            <a:off x="411480" y="256032"/>
            <a:ext cx="8321040" cy="658368"/>
          </a:xfrm>
          <a:prstGeom prst="rect">
            <a:avLst/>
          </a:prstGeom>
          <a:noFill/>
          <a:ln/>
        </p:spPr>
        <p:txBody>
          <a:bodyPr wrap="square" lIns="0" tIns="0" rIns="0" bIns="0" rtlCol="0" anchor="ctr"/>
          <a:lstStyle/>
          <a:p>
            <a:pPr marL="0" indent="0" algn="ctr">
              <a:buNone/>
            </a:pPr>
            <a:r>
              <a:rPr lang="en-US" sz="2200" b="1" dirty="0">
                <a:solidFill>
                  <a:srgbClr val="FFFFFF"/>
                </a:solidFill>
              </a:rPr>
              <a:t>System Architecture — EFHE Working Process</a:t>
            </a:r>
            <a:endParaRPr lang="en-US" sz="2200" dirty="0"/>
          </a:p>
        </p:txBody>
      </p:sp>
      <p:sp>
        <p:nvSpPr>
          <p:cNvPr id="7" name="Shape 5"/>
          <p:cNvSpPr/>
          <p:nvPr/>
        </p:nvSpPr>
        <p:spPr>
          <a:xfrm>
            <a:off x="411480" y="1051560"/>
            <a:ext cx="8321040" cy="530352"/>
          </a:xfrm>
          <a:prstGeom prst="rect">
            <a:avLst/>
          </a:prstGeom>
          <a:solidFill>
            <a:srgbClr val="F0F6FF"/>
          </a:solidFill>
          <a:ln w="10160">
            <a:solidFill>
              <a:srgbClr val="E3F0FF"/>
            </a:solidFill>
            <a:prstDash val="solid"/>
          </a:ln>
        </p:spPr>
      </p:sp>
      <p:sp>
        <p:nvSpPr>
          <p:cNvPr id="8" name="Shape 6"/>
          <p:cNvSpPr/>
          <p:nvPr/>
        </p:nvSpPr>
        <p:spPr>
          <a:xfrm>
            <a:off x="411480" y="1051560"/>
            <a:ext cx="182880" cy="530352"/>
          </a:xfrm>
          <a:prstGeom prst="rect">
            <a:avLst/>
          </a:prstGeom>
          <a:solidFill>
            <a:srgbClr val="1E88E5"/>
          </a:solidFill>
          <a:ln w="12700">
            <a:solidFill>
              <a:srgbClr val="1E88E5"/>
            </a:solidFill>
            <a:prstDash val="solid"/>
          </a:ln>
        </p:spPr>
      </p:sp>
      <p:sp>
        <p:nvSpPr>
          <p:cNvPr id="9" name="Text 7"/>
          <p:cNvSpPr/>
          <p:nvPr/>
        </p:nvSpPr>
        <p:spPr>
          <a:xfrm>
            <a:off x="685800" y="1078992"/>
            <a:ext cx="7909560" cy="475488"/>
          </a:xfrm>
          <a:prstGeom prst="rect">
            <a:avLst/>
          </a:prstGeom>
          <a:noFill/>
          <a:ln/>
        </p:spPr>
        <p:txBody>
          <a:bodyPr wrap="square" rtlCol="0" anchor="ctr"/>
          <a:lstStyle/>
          <a:p>
            <a:pPr marL="0" indent="0" algn="just">
              <a:buNone/>
            </a:pPr>
            <a:r>
              <a:rPr lang="en-US" sz="1400" dirty="0">
                <a:solidFill>
                  <a:srgbClr val="1A3A6B"/>
                </a:solidFill>
              </a:rPr>
              <a:t>The EFHE model shows three parties: Other Participants (Cloud Service), Untrusted Party (Data Processing + Memory), and Trusted Party (User + Homomorphic Encryption/Decryption Scheme).</a:t>
            </a:r>
            <a:endParaRPr lang="en-US" sz="1400" dirty="0"/>
          </a:p>
        </p:txBody>
      </p:sp>
      <p:sp>
        <p:nvSpPr>
          <p:cNvPr id="10" name="Shape 8"/>
          <p:cNvSpPr/>
          <p:nvPr/>
        </p:nvSpPr>
        <p:spPr>
          <a:xfrm>
            <a:off x="411480" y="1691640"/>
            <a:ext cx="8321040" cy="3063240"/>
          </a:xfrm>
          <a:prstGeom prst="rect">
            <a:avLst/>
          </a:prstGeom>
          <a:solidFill>
            <a:srgbClr val="FFFFFF"/>
          </a:solidFill>
          <a:ln w="12700">
            <a:solidFill>
              <a:srgbClr val="E3F0FF"/>
            </a:solidFill>
            <a:prstDash val="solid"/>
          </a:ln>
          <a:effectLst>
            <a:outerShdw blurRad="101600" dist="38100" dir="8100000" algn="bl" rotWithShape="0">
              <a:srgbClr val="0D3270">
                <a:alpha val="13000"/>
              </a:srgbClr>
            </a:outerShdw>
          </a:effectLst>
        </p:spPr>
      </p:sp>
      <p:sp>
        <p:nvSpPr>
          <p:cNvPr id="12" name="Text 9"/>
          <p:cNvSpPr/>
          <p:nvPr/>
        </p:nvSpPr>
        <p:spPr>
          <a:xfrm>
            <a:off x="411480" y="4773168"/>
            <a:ext cx="8321040" cy="201168"/>
          </a:xfrm>
          <a:prstGeom prst="rect">
            <a:avLst/>
          </a:prstGeom>
          <a:noFill/>
          <a:ln/>
        </p:spPr>
        <p:txBody>
          <a:bodyPr wrap="square" rtlCol="0" anchor="ctr"/>
          <a:lstStyle/>
          <a:p>
            <a:pPr marL="0" indent="0" algn="ctr">
              <a:buNone/>
            </a:pPr>
            <a:r>
              <a:rPr lang="en-US" sz="900" i="1" dirty="0">
                <a:solidFill>
                  <a:srgbClr val="5B7DB1"/>
                </a:solidFill>
              </a:rPr>
              <a:t>Fig. 3 — Working Process of EFHE Method  (Source: Geetha N &amp; Mahesh K, Alagappa University)</a:t>
            </a:r>
            <a:endParaRPr lang="en-US" sz="900" dirty="0"/>
          </a:p>
        </p:txBody>
      </p:sp>
      <p:pic>
        <p:nvPicPr>
          <p:cNvPr id="13" name="Image 7" descr="Towards Secure Big Data Analysis via Fully Homomorphic Encryption Algorithms">
            <a:extLst>
              <a:ext uri="{FF2B5EF4-FFF2-40B4-BE49-F238E27FC236}">
                <a16:creationId xmlns:a16="http://schemas.microsoft.com/office/drawing/2014/main" id="{888DDC2D-FE1E-4F40-7D15-9AB5B7AC4B4C}"/>
              </a:ext>
            </a:extLst>
          </p:cNvPr>
          <p:cNvPicPr>
            <a:picLocks/>
          </p:cNvPicPr>
          <p:nvPr/>
        </p:nvPicPr>
        <p:blipFill>
          <a:blip r:embed="rId3" cstate="print"/>
          <a:stretch>
            <a:fillRect/>
          </a:stretch>
        </p:blipFill>
        <p:spPr>
          <a:xfrm>
            <a:off x="1332986" y="1749425"/>
            <a:ext cx="6238875" cy="294767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5" name="Shape 3"/>
          <p:cNvSpPr/>
          <p:nvPr/>
        </p:nvSpPr>
        <p:spPr>
          <a:xfrm>
            <a:off x="411480" y="256032"/>
            <a:ext cx="8321040" cy="658368"/>
          </a:xfrm>
          <a:prstGeom prst="rect">
            <a:avLst/>
          </a:prstGeom>
          <a:solidFill>
            <a:srgbClr val="1565C0"/>
          </a:solidFill>
          <a:ln w="12700">
            <a:solidFill>
              <a:srgbClr val="1565C0"/>
            </a:solidFill>
            <a:prstDash val="solid"/>
          </a:ln>
          <a:effectLst>
            <a:outerShdw blurRad="101600" dist="38100" dir="8100000" algn="bl" rotWithShape="0">
              <a:srgbClr val="0D3270">
                <a:alpha val="13000"/>
              </a:srgbClr>
            </a:outerShdw>
          </a:effectLst>
        </p:spPr>
      </p:sp>
      <p:sp>
        <p:nvSpPr>
          <p:cNvPr id="6" name="Text 4"/>
          <p:cNvSpPr/>
          <p:nvPr/>
        </p:nvSpPr>
        <p:spPr>
          <a:xfrm>
            <a:off x="411480" y="256032"/>
            <a:ext cx="8321040" cy="658368"/>
          </a:xfrm>
          <a:prstGeom prst="rect">
            <a:avLst/>
          </a:prstGeom>
          <a:noFill/>
          <a:ln/>
        </p:spPr>
        <p:txBody>
          <a:bodyPr wrap="square" lIns="0" tIns="0" rIns="0" bIns="0" rtlCol="0" anchor="ctr"/>
          <a:lstStyle/>
          <a:p>
            <a:pPr marL="0" indent="0" algn="ctr">
              <a:buNone/>
            </a:pPr>
            <a:r>
              <a:rPr lang="en-US" sz="2200" b="1" dirty="0">
                <a:solidFill>
                  <a:srgbClr val="FFFFFF"/>
                </a:solidFill>
              </a:rPr>
              <a:t>Design — UML Diagrams</a:t>
            </a:r>
            <a:endParaRPr lang="en-US" sz="2200" dirty="0"/>
          </a:p>
        </p:txBody>
      </p:sp>
      <p:sp>
        <p:nvSpPr>
          <p:cNvPr id="7" name="Text 5"/>
          <p:cNvSpPr/>
          <p:nvPr/>
        </p:nvSpPr>
        <p:spPr>
          <a:xfrm>
            <a:off x="411480" y="1051560"/>
            <a:ext cx="8321040" cy="658368"/>
          </a:xfrm>
          <a:prstGeom prst="rect">
            <a:avLst/>
          </a:prstGeom>
          <a:noFill/>
          <a:ln/>
        </p:spPr>
        <p:txBody>
          <a:bodyPr wrap="square" rtlCol="0" anchor="ctr"/>
          <a:lstStyle/>
          <a:p>
            <a:pPr marL="0" indent="0">
              <a:lnSpc>
                <a:spcPct val="130000"/>
              </a:lnSpc>
              <a:buNone/>
            </a:pPr>
            <a:r>
              <a:rPr lang="en-US" sz="1400" dirty="0">
                <a:solidFill>
                  <a:srgbClr val="1A3A6B"/>
                </a:solidFill>
              </a:rPr>
              <a:t>UML (Unified Modeling Language) is a standardized general-purpose modeling language managed by the Object Management Group (OMG). The following four UML diagrams are included in this project:</a:t>
            </a:r>
            <a:endParaRPr lang="en-US" sz="1400" dirty="0"/>
          </a:p>
        </p:txBody>
      </p:sp>
      <p:sp>
        <p:nvSpPr>
          <p:cNvPr id="8" name="Shape 6"/>
          <p:cNvSpPr/>
          <p:nvPr/>
        </p:nvSpPr>
        <p:spPr>
          <a:xfrm>
            <a:off x="411480" y="1874520"/>
            <a:ext cx="4041648" cy="1389888"/>
          </a:xfrm>
          <a:prstGeom prst="rect">
            <a:avLst/>
          </a:prstGeom>
          <a:solidFill>
            <a:srgbClr val="0D3270"/>
          </a:solidFill>
          <a:ln w="12700">
            <a:solidFill>
              <a:srgbClr val="1E88E5"/>
            </a:solidFill>
            <a:prstDash val="solid"/>
          </a:ln>
          <a:effectLst>
            <a:outerShdw blurRad="101600" dist="38100" dir="8100000" algn="bl" rotWithShape="0">
              <a:srgbClr val="0D3270">
                <a:alpha val="13000"/>
              </a:srgbClr>
            </a:outerShdw>
          </a:effectLst>
        </p:spPr>
      </p:sp>
      <p:sp>
        <p:nvSpPr>
          <p:cNvPr id="9" name="Text 7"/>
          <p:cNvSpPr/>
          <p:nvPr/>
        </p:nvSpPr>
        <p:spPr>
          <a:xfrm>
            <a:off x="576072" y="2002536"/>
            <a:ext cx="502920" cy="502920"/>
          </a:xfrm>
          <a:prstGeom prst="rect">
            <a:avLst/>
          </a:prstGeom>
          <a:noFill/>
          <a:ln/>
        </p:spPr>
        <p:txBody>
          <a:bodyPr wrap="square" rtlCol="0" anchor="ctr"/>
          <a:lstStyle/>
          <a:p>
            <a:pPr marL="0" indent="0" algn="ctr">
              <a:buNone/>
            </a:pPr>
            <a:r>
              <a:rPr lang="en-US" sz="1800" b="1" dirty="0">
                <a:solidFill>
                  <a:srgbClr val="E3F0FF"/>
                </a:solidFill>
              </a:rPr>
              <a:t>01</a:t>
            </a:r>
            <a:endParaRPr lang="en-US" sz="1800" dirty="0"/>
          </a:p>
        </p:txBody>
      </p:sp>
      <p:sp>
        <p:nvSpPr>
          <p:cNvPr id="10" name="Text 8"/>
          <p:cNvSpPr/>
          <p:nvPr/>
        </p:nvSpPr>
        <p:spPr>
          <a:xfrm>
            <a:off x="1161288" y="1932763"/>
            <a:ext cx="3154680" cy="329184"/>
          </a:xfrm>
          <a:prstGeom prst="rect">
            <a:avLst/>
          </a:prstGeom>
          <a:noFill/>
          <a:ln/>
        </p:spPr>
        <p:txBody>
          <a:bodyPr wrap="square" rtlCol="0" anchor="ctr"/>
          <a:lstStyle/>
          <a:p>
            <a:pPr marL="0" indent="0">
              <a:buNone/>
            </a:pPr>
            <a:r>
              <a:rPr lang="en-US" sz="1600" b="1" dirty="0">
                <a:solidFill>
                  <a:srgbClr val="FFFFFF"/>
                </a:solidFill>
              </a:rPr>
              <a:t>Class Diagram</a:t>
            </a:r>
            <a:endParaRPr lang="en-US" sz="1600" dirty="0"/>
          </a:p>
        </p:txBody>
      </p:sp>
      <p:sp>
        <p:nvSpPr>
          <p:cNvPr id="11" name="Text 9"/>
          <p:cNvSpPr/>
          <p:nvPr/>
        </p:nvSpPr>
        <p:spPr>
          <a:xfrm>
            <a:off x="1161288" y="2253996"/>
            <a:ext cx="3154680" cy="868680"/>
          </a:xfrm>
          <a:prstGeom prst="rect">
            <a:avLst/>
          </a:prstGeom>
          <a:noFill/>
          <a:ln/>
        </p:spPr>
        <p:txBody>
          <a:bodyPr wrap="square" rtlCol="0" anchor="ctr"/>
          <a:lstStyle/>
          <a:p>
            <a:pPr marL="0" indent="0" algn="just">
              <a:lnSpc>
                <a:spcPct val="125000"/>
              </a:lnSpc>
              <a:buNone/>
            </a:pPr>
            <a:r>
              <a:rPr lang="en-US" sz="1400" dirty="0">
                <a:solidFill>
                  <a:srgbClr val="E3F0FF"/>
                </a:solidFill>
              </a:rPr>
              <a:t>Refines the use-case diagram and defines detailed design by classifying actors into interrelated classes with methods and attributes.</a:t>
            </a:r>
            <a:endParaRPr lang="en-US" sz="1400" dirty="0"/>
          </a:p>
        </p:txBody>
      </p:sp>
      <p:sp>
        <p:nvSpPr>
          <p:cNvPr id="12" name="Shape 10"/>
          <p:cNvSpPr/>
          <p:nvPr/>
        </p:nvSpPr>
        <p:spPr>
          <a:xfrm>
            <a:off x="4663440" y="1874520"/>
            <a:ext cx="4041648" cy="1389888"/>
          </a:xfrm>
          <a:prstGeom prst="rect">
            <a:avLst/>
          </a:prstGeom>
          <a:solidFill>
            <a:srgbClr val="0D3270"/>
          </a:solidFill>
          <a:ln w="12700">
            <a:solidFill>
              <a:srgbClr val="1E88E5"/>
            </a:solidFill>
            <a:prstDash val="solid"/>
          </a:ln>
          <a:effectLst>
            <a:outerShdw blurRad="101600" dist="38100" dir="8100000" algn="bl" rotWithShape="0">
              <a:srgbClr val="0D3270">
                <a:alpha val="13000"/>
              </a:srgbClr>
            </a:outerShdw>
          </a:effectLst>
        </p:spPr>
      </p:sp>
      <p:sp>
        <p:nvSpPr>
          <p:cNvPr id="13" name="Text 11"/>
          <p:cNvSpPr/>
          <p:nvPr/>
        </p:nvSpPr>
        <p:spPr>
          <a:xfrm>
            <a:off x="4828032" y="2002536"/>
            <a:ext cx="502920" cy="502920"/>
          </a:xfrm>
          <a:prstGeom prst="rect">
            <a:avLst/>
          </a:prstGeom>
          <a:noFill/>
          <a:ln/>
        </p:spPr>
        <p:txBody>
          <a:bodyPr wrap="square" rtlCol="0" anchor="ctr"/>
          <a:lstStyle/>
          <a:p>
            <a:pPr marL="0" indent="0" algn="ctr">
              <a:buNone/>
            </a:pPr>
            <a:r>
              <a:rPr lang="en-US" sz="1800" b="1" dirty="0">
                <a:solidFill>
                  <a:srgbClr val="E3F0FF"/>
                </a:solidFill>
              </a:rPr>
              <a:t>02</a:t>
            </a:r>
            <a:endParaRPr lang="en-US" sz="1800" dirty="0"/>
          </a:p>
        </p:txBody>
      </p:sp>
      <p:sp>
        <p:nvSpPr>
          <p:cNvPr id="14" name="Text 12"/>
          <p:cNvSpPr/>
          <p:nvPr/>
        </p:nvSpPr>
        <p:spPr>
          <a:xfrm>
            <a:off x="5413248" y="1924812"/>
            <a:ext cx="3154680" cy="329184"/>
          </a:xfrm>
          <a:prstGeom prst="rect">
            <a:avLst/>
          </a:prstGeom>
          <a:noFill/>
          <a:ln/>
        </p:spPr>
        <p:txBody>
          <a:bodyPr wrap="square" rtlCol="0" anchor="ctr"/>
          <a:lstStyle/>
          <a:p>
            <a:pPr marL="0" indent="0">
              <a:buNone/>
            </a:pPr>
            <a:r>
              <a:rPr lang="en-US" sz="1600" b="1" dirty="0">
                <a:solidFill>
                  <a:srgbClr val="FFFFFF"/>
                </a:solidFill>
              </a:rPr>
              <a:t>Use-Case Diagram</a:t>
            </a:r>
            <a:endParaRPr lang="en-US" sz="1600" dirty="0"/>
          </a:p>
        </p:txBody>
      </p:sp>
      <p:sp>
        <p:nvSpPr>
          <p:cNvPr id="15" name="Text 13"/>
          <p:cNvSpPr/>
          <p:nvPr/>
        </p:nvSpPr>
        <p:spPr>
          <a:xfrm>
            <a:off x="5413248" y="2261947"/>
            <a:ext cx="3154680" cy="868680"/>
          </a:xfrm>
          <a:prstGeom prst="rect">
            <a:avLst/>
          </a:prstGeom>
          <a:noFill/>
          <a:ln/>
        </p:spPr>
        <p:txBody>
          <a:bodyPr wrap="square" rtlCol="0" anchor="ctr"/>
          <a:lstStyle/>
          <a:p>
            <a:pPr marL="0" indent="0" algn="just">
              <a:lnSpc>
                <a:spcPct val="125000"/>
              </a:lnSpc>
              <a:buNone/>
            </a:pPr>
            <a:r>
              <a:rPr lang="en-US" sz="1400" dirty="0">
                <a:solidFill>
                  <a:srgbClr val="E3F0FF"/>
                </a:solidFill>
              </a:rPr>
              <a:t>Presents a graphical overview of system functionality in terms of actors, goals (use cases), and dependencies between use cases.</a:t>
            </a:r>
            <a:endParaRPr lang="en-US" sz="1400" dirty="0"/>
          </a:p>
        </p:txBody>
      </p:sp>
      <p:sp>
        <p:nvSpPr>
          <p:cNvPr id="16" name="Shape 14"/>
          <p:cNvSpPr/>
          <p:nvPr/>
        </p:nvSpPr>
        <p:spPr>
          <a:xfrm>
            <a:off x="411480" y="3383280"/>
            <a:ext cx="4041648" cy="1389888"/>
          </a:xfrm>
          <a:prstGeom prst="rect">
            <a:avLst/>
          </a:prstGeom>
          <a:solidFill>
            <a:srgbClr val="1565C0"/>
          </a:solidFill>
          <a:ln w="12700">
            <a:solidFill>
              <a:srgbClr val="1E88E5"/>
            </a:solidFill>
            <a:prstDash val="solid"/>
          </a:ln>
          <a:effectLst>
            <a:outerShdw blurRad="101600" dist="38100" dir="8100000" algn="bl" rotWithShape="0">
              <a:srgbClr val="0D3270">
                <a:alpha val="13000"/>
              </a:srgbClr>
            </a:outerShdw>
          </a:effectLst>
        </p:spPr>
      </p:sp>
      <p:sp>
        <p:nvSpPr>
          <p:cNvPr id="17" name="Text 15"/>
          <p:cNvSpPr/>
          <p:nvPr/>
        </p:nvSpPr>
        <p:spPr>
          <a:xfrm>
            <a:off x="576072" y="3511296"/>
            <a:ext cx="502920" cy="502920"/>
          </a:xfrm>
          <a:prstGeom prst="rect">
            <a:avLst/>
          </a:prstGeom>
          <a:noFill/>
          <a:ln/>
        </p:spPr>
        <p:txBody>
          <a:bodyPr wrap="square" rtlCol="0" anchor="ctr"/>
          <a:lstStyle/>
          <a:p>
            <a:pPr marL="0" indent="0" algn="ctr">
              <a:buNone/>
            </a:pPr>
            <a:r>
              <a:rPr lang="en-US" sz="1800" b="1" dirty="0">
                <a:solidFill>
                  <a:srgbClr val="E3F0FF"/>
                </a:solidFill>
              </a:rPr>
              <a:t>03</a:t>
            </a:r>
            <a:endParaRPr lang="en-US" sz="1800" dirty="0"/>
          </a:p>
        </p:txBody>
      </p:sp>
      <p:sp>
        <p:nvSpPr>
          <p:cNvPr id="18" name="Text 16"/>
          <p:cNvSpPr/>
          <p:nvPr/>
        </p:nvSpPr>
        <p:spPr>
          <a:xfrm>
            <a:off x="1161288" y="3405146"/>
            <a:ext cx="3154680" cy="329184"/>
          </a:xfrm>
          <a:prstGeom prst="rect">
            <a:avLst/>
          </a:prstGeom>
          <a:noFill/>
          <a:ln/>
        </p:spPr>
        <p:txBody>
          <a:bodyPr wrap="square" rtlCol="0" anchor="ctr"/>
          <a:lstStyle/>
          <a:p>
            <a:pPr marL="0" indent="0">
              <a:buNone/>
            </a:pPr>
            <a:r>
              <a:rPr lang="en-US" sz="1600" b="1" dirty="0">
                <a:solidFill>
                  <a:srgbClr val="FFFFFF"/>
                </a:solidFill>
              </a:rPr>
              <a:t>Sequence Diagram</a:t>
            </a:r>
            <a:endParaRPr lang="en-US" sz="1600" dirty="0"/>
          </a:p>
        </p:txBody>
      </p:sp>
      <p:sp>
        <p:nvSpPr>
          <p:cNvPr id="19" name="Text 17"/>
          <p:cNvSpPr/>
          <p:nvPr/>
        </p:nvSpPr>
        <p:spPr>
          <a:xfrm>
            <a:off x="1161288" y="3765539"/>
            <a:ext cx="3154680" cy="868680"/>
          </a:xfrm>
          <a:prstGeom prst="rect">
            <a:avLst/>
          </a:prstGeom>
          <a:noFill/>
          <a:ln/>
        </p:spPr>
        <p:txBody>
          <a:bodyPr wrap="square" rtlCol="0" anchor="ctr"/>
          <a:lstStyle/>
          <a:p>
            <a:pPr marL="0" indent="0" algn="just">
              <a:lnSpc>
                <a:spcPct val="125000"/>
              </a:lnSpc>
              <a:buNone/>
            </a:pPr>
            <a:r>
              <a:rPr lang="en-US" sz="1400" dirty="0">
                <a:solidFill>
                  <a:srgbClr val="E3F0FF"/>
                </a:solidFill>
              </a:rPr>
              <a:t>Represents time-ordered interactions between objects, showing the exact step-by-step sequence of messages passed.</a:t>
            </a:r>
            <a:endParaRPr lang="en-US" sz="1400" dirty="0"/>
          </a:p>
        </p:txBody>
      </p:sp>
      <p:sp>
        <p:nvSpPr>
          <p:cNvPr id="20" name="Shape 18"/>
          <p:cNvSpPr/>
          <p:nvPr/>
        </p:nvSpPr>
        <p:spPr>
          <a:xfrm>
            <a:off x="4663440" y="3383280"/>
            <a:ext cx="4041648" cy="1389888"/>
          </a:xfrm>
          <a:prstGeom prst="rect">
            <a:avLst/>
          </a:prstGeom>
          <a:solidFill>
            <a:srgbClr val="1565C0"/>
          </a:solidFill>
          <a:ln w="12700">
            <a:solidFill>
              <a:srgbClr val="1E88E5"/>
            </a:solidFill>
            <a:prstDash val="solid"/>
          </a:ln>
          <a:effectLst>
            <a:outerShdw blurRad="101600" dist="38100" dir="8100000" algn="bl" rotWithShape="0">
              <a:srgbClr val="0D3270">
                <a:alpha val="13000"/>
              </a:srgbClr>
            </a:outerShdw>
          </a:effectLst>
        </p:spPr>
      </p:sp>
      <p:sp>
        <p:nvSpPr>
          <p:cNvPr id="21" name="Text 19"/>
          <p:cNvSpPr/>
          <p:nvPr/>
        </p:nvSpPr>
        <p:spPr>
          <a:xfrm>
            <a:off x="4828032" y="3511296"/>
            <a:ext cx="502920" cy="502920"/>
          </a:xfrm>
          <a:prstGeom prst="rect">
            <a:avLst/>
          </a:prstGeom>
          <a:noFill/>
          <a:ln/>
        </p:spPr>
        <p:txBody>
          <a:bodyPr wrap="square" rtlCol="0" anchor="ctr"/>
          <a:lstStyle/>
          <a:p>
            <a:pPr marL="0" indent="0" algn="ctr">
              <a:buNone/>
            </a:pPr>
            <a:r>
              <a:rPr lang="en-US" sz="1800" b="1" dirty="0">
                <a:solidFill>
                  <a:srgbClr val="E3F0FF"/>
                </a:solidFill>
              </a:rPr>
              <a:t>04</a:t>
            </a:r>
            <a:endParaRPr lang="en-US" sz="1800" dirty="0"/>
          </a:p>
        </p:txBody>
      </p:sp>
      <p:sp>
        <p:nvSpPr>
          <p:cNvPr id="22" name="Text 20"/>
          <p:cNvSpPr/>
          <p:nvPr/>
        </p:nvSpPr>
        <p:spPr>
          <a:xfrm>
            <a:off x="5413248" y="3405146"/>
            <a:ext cx="3154680" cy="329184"/>
          </a:xfrm>
          <a:prstGeom prst="rect">
            <a:avLst/>
          </a:prstGeom>
          <a:noFill/>
          <a:ln/>
        </p:spPr>
        <p:txBody>
          <a:bodyPr wrap="square" rtlCol="0" anchor="ctr"/>
          <a:lstStyle/>
          <a:p>
            <a:pPr marL="0" indent="0">
              <a:buNone/>
            </a:pPr>
            <a:r>
              <a:rPr lang="en-US" sz="1600" b="1" dirty="0">
                <a:solidFill>
                  <a:srgbClr val="FFFFFF"/>
                </a:solidFill>
              </a:rPr>
              <a:t>Collaboration Diagram</a:t>
            </a:r>
            <a:endParaRPr lang="en-US" sz="1600" dirty="0"/>
          </a:p>
        </p:txBody>
      </p:sp>
      <p:sp>
        <p:nvSpPr>
          <p:cNvPr id="23" name="Text 21"/>
          <p:cNvSpPr/>
          <p:nvPr/>
        </p:nvSpPr>
        <p:spPr>
          <a:xfrm>
            <a:off x="5413248" y="3765539"/>
            <a:ext cx="3154680" cy="868680"/>
          </a:xfrm>
          <a:prstGeom prst="rect">
            <a:avLst/>
          </a:prstGeom>
          <a:noFill/>
          <a:ln/>
        </p:spPr>
        <p:txBody>
          <a:bodyPr wrap="square" rtlCol="0" anchor="ctr"/>
          <a:lstStyle/>
          <a:p>
            <a:pPr marL="0" indent="0" algn="just">
              <a:lnSpc>
                <a:spcPct val="125000"/>
              </a:lnSpc>
              <a:buNone/>
            </a:pPr>
            <a:r>
              <a:rPr lang="en-US" sz="1400" dirty="0">
                <a:solidFill>
                  <a:srgbClr val="E3F0FF"/>
                </a:solidFill>
              </a:rPr>
              <a:t>Groups interactions between objects as numbered interactions to trace sequence and identify all possible communications.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5" name="Shape 3"/>
          <p:cNvSpPr/>
          <p:nvPr/>
        </p:nvSpPr>
        <p:spPr>
          <a:xfrm>
            <a:off x="411480" y="256032"/>
            <a:ext cx="8321040" cy="658368"/>
          </a:xfrm>
          <a:prstGeom prst="rect">
            <a:avLst/>
          </a:prstGeom>
          <a:solidFill>
            <a:srgbClr val="1565C0"/>
          </a:solidFill>
          <a:ln w="12700">
            <a:solidFill>
              <a:srgbClr val="1565C0"/>
            </a:solidFill>
            <a:prstDash val="solid"/>
          </a:ln>
          <a:effectLst>
            <a:outerShdw blurRad="101600" dist="38100" dir="8100000" algn="bl" rotWithShape="0">
              <a:srgbClr val="0D3270">
                <a:alpha val="13000"/>
              </a:srgbClr>
            </a:outerShdw>
          </a:effectLst>
        </p:spPr>
      </p:sp>
      <p:sp>
        <p:nvSpPr>
          <p:cNvPr id="6" name="Text 4"/>
          <p:cNvSpPr/>
          <p:nvPr/>
        </p:nvSpPr>
        <p:spPr>
          <a:xfrm>
            <a:off x="411480" y="256032"/>
            <a:ext cx="8321040" cy="658368"/>
          </a:xfrm>
          <a:prstGeom prst="rect">
            <a:avLst/>
          </a:prstGeom>
          <a:noFill/>
          <a:ln/>
        </p:spPr>
        <p:txBody>
          <a:bodyPr wrap="square" lIns="0" tIns="0" rIns="0" bIns="0" rtlCol="0" anchor="ctr"/>
          <a:lstStyle/>
          <a:p>
            <a:pPr marL="0" indent="0" algn="ctr">
              <a:buNone/>
            </a:pPr>
            <a:r>
              <a:rPr lang="en-US" sz="2200" b="1" dirty="0">
                <a:solidFill>
                  <a:srgbClr val="FFFFFF"/>
                </a:solidFill>
              </a:rPr>
              <a:t>Class Diagram</a:t>
            </a:r>
            <a:endParaRPr lang="en-US" sz="2200" dirty="0"/>
          </a:p>
        </p:txBody>
      </p:sp>
      <p:sp>
        <p:nvSpPr>
          <p:cNvPr id="7" name="Shape 5"/>
          <p:cNvSpPr/>
          <p:nvPr/>
        </p:nvSpPr>
        <p:spPr>
          <a:xfrm>
            <a:off x="411480" y="1040032"/>
            <a:ext cx="8321040" cy="740861"/>
          </a:xfrm>
          <a:prstGeom prst="rect">
            <a:avLst/>
          </a:prstGeom>
          <a:solidFill>
            <a:srgbClr val="F0F6FF"/>
          </a:solidFill>
          <a:ln w="10160">
            <a:solidFill>
              <a:srgbClr val="E3F0FF"/>
            </a:solidFill>
            <a:prstDash val="solid"/>
          </a:ln>
        </p:spPr>
      </p:sp>
      <p:sp>
        <p:nvSpPr>
          <p:cNvPr id="8" name="Shape 6"/>
          <p:cNvSpPr/>
          <p:nvPr/>
        </p:nvSpPr>
        <p:spPr>
          <a:xfrm>
            <a:off x="411480" y="1040033"/>
            <a:ext cx="137160" cy="740860"/>
          </a:xfrm>
          <a:prstGeom prst="rect">
            <a:avLst/>
          </a:prstGeom>
          <a:solidFill>
            <a:srgbClr val="1E88E5"/>
          </a:solidFill>
          <a:ln w="12700">
            <a:solidFill>
              <a:srgbClr val="1E88E5"/>
            </a:solidFill>
            <a:prstDash val="solid"/>
          </a:ln>
        </p:spPr>
      </p:sp>
      <p:sp>
        <p:nvSpPr>
          <p:cNvPr id="9" name="Text 7"/>
          <p:cNvSpPr/>
          <p:nvPr/>
        </p:nvSpPr>
        <p:spPr>
          <a:xfrm>
            <a:off x="685800" y="1078991"/>
            <a:ext cx="7909560" cy="672283"/>
          </a:xfrm>
          <a:prstGeom prst="rect">
            <a:avLst/>
          </a:prstGeom>
          <a:noFill/>
          <a:ln/>
        </p:spPr>
        <p:txBody>
          <a:bodyPr wrap="square" rtlCol="0" anchor="ctr"/>
          <a:lstStyle/>
          <a:p>
            <a:pPr marL="0" indent="0" algn="just">
              <a:buNone/>
            </a:pPr>
            <a:r>
              <a:rPr lang="en-US" sz="1600" dirty="0">
                <a:solidFill>
                  <a:srgbClr val="1A3A6B"/>
                </a:solidFill>
              </a:rPr>
              <a:t>The class diagram classifies actors into interrelated classes. Each class has methods and attributes — relationships are either 'is-a' or 'has-a'. The User class stores login credentials and exposes core video operation methods.</a:t>
            </a:r>
            <a:endParaRPr lang="en-US" sz="1600" dirty="0"/>
          </a:p>
        </p:txBody>
      </p:sp>
      <p:sp>
        <p:nvSpPr>
          <p:cNvPr id="10" name="Shape 8"/>
          <p:cNvSpPr/>
          <p:nvPr/>
        </p:nvSpPr>
        <p:spPr>
          <a:xfrm>
            <a:off x="411480" y="1888434"/>
            <a:ext cx="8321040" cy="2866446"/>
          </a:xfrm>
          <a:prstGeom prst="rect">
            <a:avLst/>
          </a:prstGeom>
          <a:solidFill>
            <a:srgbClr val="FFFFFF"/>
          </a:solidFill>
          <a:ln w="12700">
            <a:solidFill>
              <a:srgbClr val="E3F0FF"/>
            </a:solidFill>
            <a:prstDash val="solid"/>
          </a:ln>
          <a:effectLst>
            <a:outerShdw blurRad="101600" dist="38100" dir="8100000" algn="bl" rotWithShape="0">
              <a:srgbClr val="0D3270">
                <a:alpha val="13000"/>
              </a:srgbClr>
            </a:outerShdw>
          </a:effectLst>
        </p:spPr>
      </p:sp>
      <p:pic>
        <p:nvPicPr>
          <p:cNvPr id="11" name="Image 0" descr="preencoded.png"/>
          <p:cNvPicPr>
            <a:picLocks noChangeAspect="1"/>
          </p:cNvPicPr>
          <p:nvPr/>
        </p:nvPicPr>
        <p:blipFill>
          <a:blip r:embed="rId3"/>
          <a:srcRect/>
          <a:stretch/>
        </p:blipFill>
        <p:spPr>
          <a:xfrm>
            <a:off x="824948" y="1952443"/>
            <a:ext cx="7653130" cy="2820725"/>
          </a:xfrm>
          <a:prstGeom prst="rect">
            <a:avLst/>
          </a:prstGeom>
        </p:spPr>
      </p:pic>
      <p:sp>
        <p:nvSpPr>
          <p:cNvPr id="12" name="Text 9"/>
          <p:cNvSpPr/>
          <p:nvPr/>
        </p:nvSpPr>
        <p:spPr>
          <a:xfrm>
            <a:off x="411480" y="4773168"/>
            <a:ext cx="8321040" cy="201168"/>
          </a:xfrm>
          <a:prstGeom prst="rect">
            <a:avLst/>
          </a:prstGeom>
          <a:noFill/>
          <a:ln/>
        </p:spPr>
        <p:txBody>
          <a:bodyPr wrap="square" rtlCol="0" anchor="ctr"/>
          <a:lstStyle/>
          <a:p>
            <a:pPr marL="0" indent="0" algn="ctr">
              <a:buNone/>
            </a:pPr>
            <a:r>
              <a:rPr lang="en-US" sz="900" i="1" dirty="0">
                <a:solidFill>
                  <a:srgbClr val="5B7DB1"/>
                </a:solidFill>
              </a:rPr>
              <a:t>Class Diagram — User class with attributes (username, password) and methods (upload &amp; detect video copy, download video, logout)</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5" name="Shape 3"/>
          <p:cNvSpPr/>
          <p:nvPr/>
        </p:nvSpPr>
        <p:spPr>
          <a:xfrm>
            <a:off x="411480" y="256032"/>
            <a:ext cx="8321040" cy="658368"/>
          </a:xfrm>
          <a:prstGeom prst="rect">
            <a:avLst/>
          </a:prstGeom>
          <a:solidFill>
            <a:srgbClr val="1565C0"/>
          </a:solidFill>
          <a:ln w="12700">
            <a:solidFill>
              <a:srgbClr val="1565C0"/>
            </a:solidFill>
            <a:prstDash val="solid"/>
          </a:ln>
          <a:effectLst>
            <a:outerShdw blurRad="101600" dist="38100" dir="8100000" algn="bl" rotWithShape="0">
              <a:srgbClr val="0D3270">
                <a:alpha val="13000"/>
              </a:srgbClr>
            </a:outerShdw>
          </a:effectLst>
        </p:spPr>
      </p:sp>
      <p:sp>
        <p:nvSpPr>
          <p:cNvPr id="6" name="Text 4"/>
          <p:cNvSpPr/>
          <p:nvPr/>
        </p:nvSpPr>
        <p:spPr>
          <a:xfrm>
            <a:off x="411480" y="256032"/>
            <a:ext cx="8321040" cy="658368"/>
          </a:xfrm>
          <a:prstGeom prst="rect">
            <a:avLst/>
          </a:prstGeom>
          <a:noFill/>
          <a:ln/>
        </p:spPr>
        <p:txBody>
          <a:bodyPr wrap="square" lIns="0" tIns="0" rIns="0" bIns="0" rtlCol="0" anchor="ctr"/>
          <a:lstStyle/>
          <a:p>
            <a:pPr marL="0" indent="0" algn="ctr">
              <a:buNone/>
            </a:pPr>
            <a:r>
              <a:rPr lang="en-US" sz="2200" b="1" dirty="0">
                <a:solidFill>
                  <a:srgbClr val="FFFFFF"/>
                </a:solidFill>
              </a:rPr>
              <a:t>Use-Case Diagram</a:t>
            </a:r>
            <a:endParaRPr lang="en-US" sz="2200" dirty="0"/>
          </a:p>
        </p:txBody>
      </p:sp>
      <p:sp>
        <p:nvSpPr>
          <p:cNvPr id="7" name="Shape 5"/>
          <p:cNvSpPr/>
          <p:nvPr/>
        </p:nvSpPr>
        <p:spPr>
          <a:xfrm>
            <a:off x="411480" y="1005840"/>
            <a:ext cx="8321040" cy="733698"/>
          </a:xfrm>
          <a:prstGeom prst="rect">
            <a:avLst/>
          </a:prstGeom>
          <a:solidFill>
            <a:srgbClr val="F0F6FF"/>
          </a:solidFill>
          <a:ln w="10160">
            <a:solidFill>
              <a:srgbClr val="E3F0FF"/>
            </a:solidFill>
            <a:prstDash val="solid"/>
          </a:ln>
        </p:spPr>
      </p:sp>
      <p:sp>
        <p:nvSpPr>
          <p:cNvPr id="8" name="Shape 6"/>
          <p:cNvSpPr/>
          <p:nvPr/>
        </p:nvSpPr>
        <p:spPr>
          <a:xfrm>
            <a:off x="411480" y="1005840"/>
            <a:ext cx="182880" cy="733698"/>
          </a:xfrm>
          <a:prstGeom prst="rect">
            <a:avLst/>
          </a:prstGeom>
          <a:solidFill>
            <a:srgbClr val="1E88E5"/>
          </a:solidFill>
          <a:ln w="12700">
            <a:solidFill>
              <a:srgbClr val="1E88E5"/>
            </a:solidFill>
            <a:prstDash val="solid"/>
          </a:ln>
        </p:spPr>
      </p:sp>
      <p:sp>
        <p:nvSpPr>
          <p:cNvPr id="9" name="Text 7"/>
          <p:cNvSpPr/>
          <p:nvPr/>
        </p:nvSpPr>
        <p:spPr>
          <a:xfrm>
            <a:off x="685800" y="1110888"/>
            <a:ext cx="8046720" cy="475488"/>
          </a:xfrm>
          <a:prstGeom prst="rect">
            <a:avLst/>
          </a:prstGeom>
          <a:noFill/>
          <a:ln/>
        </p:spPr>
        <p:txBody>
          <a:bodyPr wrap="square" rtlCol="0" anchor="ctr"/>
          <a:lstStyle/>
          <a:p>
            <a:pPr marL="0" indent="0" algn="just">
              <a:buNone/>
            </a:pPr>
            <a:r>
              <a:rPr lang="en-US" sz="1600" dirty="0">
                <a:solidFill>
                  <a:srgbClr val="1A3A6B"/>
                </a:solidFill>
              </a:rPr>
              <a:t>A use-case diagram presents a graphical overview of system functionality. The actor USER initiates three key operations — Upload &amp; Detect Video Copy, Download Video, and Logout — showing system boundaries and actor goals.</a:t>
            </a:r>
            <a:endParaRPr lang="en-US" sz="1600" dirty="0"/>
          </a:p>
        </p:txBody>
      </p:sp>
      <p:sp>
        <p:nvSpPr>
          <p:cNvPr id="10" name="Shape 8"/>
          <p:cNvSpPr/>
          <p:nvPr/>
        </p:nvSpPr>
        <p:spPr>
          <a:xfrm>
            <a:off x="411480" y="1783080"/>
            <a:ext cx="8321040" cy="2971800"/>
          </a:xfrm>
          <a:prstGeom prst="rect">
            <a:avLst/>
          </a:prstGeom>
          <a:solidFill>
            <a:srgbClr val="FFFFFF"/>
          </a:solidFill>
          <a:ln w="12700">
            <a:solidFill>
              <a:srgbClr val="E3F0FF"/>
            </a:solidFill>
            <a:prstDash val="solid"/>
          </a:ln>
          <a:effectLst>
            <a:outerShdw blurRad="101600" dist="38100" dir="8100000" algn="bl" rotWithShape="0">
              <a:srgbClr val="0D3270">
                <a:alpha val="13000"/>
              </a:srgbClr>
            </a:outerShdw>
          </a:effectLst>
        </p:spPr>
      </p:sp>
      <p:pic>
        <p:nvPicPr>
          <p:cNvPr id="11" name="Image 0" descr="preencoded.png"/>
          <p:cNvPicPr>
            <a:picLocks noChangeAspect="1"/>
          </p:cNvPicPr>
          <p:nvPr/>
        </p:nvPicPr>
        <p:blipFill>
          <a:blip r:embed="rId3"/>
          <a:srcRect/>
          <a:stretch/>
        </p:blipFill>
        <p:spPr>
          <a:xfrm>
            <a:off x="594360" y="1842614"/>
            <a:ext cx="7855890" cy="2868724"/>
          </a:xfrm>
          <a:prstGeom prst="rect">
            <a:avLst/>
          </a:prstGeom>
        </p:spPr>
      </p:pic>
      <p:sp>
        <p:nvSpPr>
          <p:cNvPr id="12" name="Text 9"/>
          <p:cNvSpPr/>
          <p:nvPr/>
        </p:nvSpPr>
        <p:spPr>
          <a:xfrm>
            <a:off x="411480" y="4773168"/>
            <a:ext cx="8321040" cy="201168"/>
          </a:xfrm>
          <a:prstGeom prst="rect">
            <a:avLst/>
          </a:prstGeom>
          <a:noFill/>
          <a:ln/>
        </p:spPr>
        <p:txBody>
          <a:bodyPr wrap="square" rtlCol="0" anchor="ctr"/>
          <a:lstStyle/>
          <a:p>
            <a:pPr marL="0" indent="0" algn="ctr">
              <a:buNone/>
            </a:pPr>
            <a:r>
              <a:rPr lang="en-US" sz="900" i="1" dirty="0">
                <a:solidFill>
                  <a:srgbClr val="5B7DB1"/>
                </a:solidFill>
              </a:rPr>
              <a:t>Use-Case Diagram — Actor: USER interacting with three use cases: Upload &amp; Detect Video Copy, Download Video, Logout</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5" name="Shape 3"/>
          <p:cNvSpPr/>
          <p:nvPr/>
        </p:nvSpPr>
        <p:spPr>
          <a:xfrm>
            <a:off x="411480" y="256032"/>
            <a:ext cx="8321040" cy="658368"/>
          </a:xfrm>
          <a:prstGeom prst="rect">
            <a:avLst/>
          </a:prstGeom>
          <a:solidFill>
            <a:srgbClr val="1565C0"/>
          </a:solidFill>
          <a:ln w="12700">
            <a:solidFill>
              <a:srgbClr val="1565C0"/>
            </a:solidFill>
            <a:prstDash val="solid"/>
          </a:ln>
          <a:effectLst>
            <a:outerShdw blurRad="101600" dist="38100" dir="8100000" algn="bl" rotWithShape="0">
              <a:srgbClr val="0D3270">
                <a:alpha val="13000"/>
              </a:srgbClr>
            </a:outerShdw>
          </a:effectLst>
        </p:spPr>
      </p:sp>
      <p:sp>
        <p:nvSpPr>
          <p:cNvPr id="6" name="Text 4"/>
          <p:cNvSpPr/>
          <p:nvPr/>
        </p:nvSpPr>
        <p:spPr>
          <a:xfrm>
            <a:off x="411480" y="256032"/>
            <a:ext cx="8321040" cy="658368"/>
          </a:xfrm>
          <a:prstGeom prst="rect">
            <a:avLst/>
          </a:prstGeom>
          <a:noFill/>
          <a:ln/>
        </p:spPr>
        <p:txBody>
          <a:bodyPr wrap="square" lIns="0" tIns="0" rIns="0" bIns="0" rtlCol="0" anchor="ctr"/>
          <a:lstStyle/>
          <a:p>
            <a:pPr marL="0" indent="0" algn="ctr">
              <a:buNone/>
            </a:pPr>
            <a:r>
              <a:rPr lang="en-US" sz="2200" b="1" dirty="0">
                <a:solidFill>
                  <a:srgbClr val="FFFFFF"/>
                </a:solidFill>
              </a:rPr>
              <a:t>Sequence Diagram</a:t>
            </a:r>
            <a:endParaRPr lang="en-US" sz="2200" dirty="0"/>
          </a:p>
        </p:txBody>
      </p:sp>
      <p:sp>
        <p:nvSpPr>
          <p:cNvPr id="7" name="Shape 5"/>
          <p:cNvSpPr/>
          <p:nvPr/>
        </p:nvSpPr>
        <p:spPr>
          <a:xfrm>
            <a:off x="411480" y="1005840"/>
            <a:ext cx="8321040" cy="713231"/>
          </a:xfrm>
          <a:prstGeom prst="rect">
            <a:avLst/>
          </a:prstGeom>
          <a:solidFill>
            <a:srgbClr val="F0F6FF"/>
          </a:solidFill>
          <a:ln w="10160">
            <a:solidFill>
              <a:srgbClr val="E3F0FF"/>
            </a:solidFill>
            <a:prstDash val="solid"/>
          </a:ln>
        </p:spPr>
      </p:sp>
      <p:sp>
        <p:nvSpPr>
          <p:cNvPr id="8" name="Shape 6"/>
          <p:cNvSpPr/>
          <p:nvPr/>
        </p:nvSpPr>
        <p:spPr>
          <a:xfrm>
            <a:off x="411480" y="987553"/>
            <a:ext cx="182880" cy="731518"/>
          </a:xfrm>
          <a:prstGeom prst="rect">
            <a:avLst/>
          </a:prstGeom>
          <a:solidFill>
            <a:srgbClr val="1E88E5"/>
          </a:solidFill>
          <a:ln w="12700">
            <a:solidFill>
              <a:srgbClr val="1E88E5"/>
            </a:solidFill>
            <a:prstDash val="solid"/>
          </a:ln>
        </p:spPr>
      </p:sp>
      <p:sp>
        <p:nvSpPr>
          <p:cNvPr id="9" name="Text 7"/>
          <p:cNvSpPr/>
          <p:nvPr/>
        </p:nvSpPr>
        <p:spPr>
          <a:xfrm>
            <a:off x="685799" y="1078992"/>
            <a:ext cx="8130209" cy="475488"/>
          </a:xfrm>
          <a:prstGeom prst="rect">
            <a:avLst/>
          </a:prstGeom>
          <a:noFill/>
          <a:ln/>
        </p:spPr>
        <p:txBody>
          <a:bodyPr wrap="square" rtlCol="0" anchor="ctr"/>
          <a:lstStyle/>
          <a:p>
            <a:pPr marL="0" indent="0" algn="just">
              <a:buNone/>
            </a:pPr>
            <a:r>
              <a:rPr lang="en-US" sz="1600" dirty="0">
                <a:solidFill>
                  <a:srgbClr val="1A3A6B"/>
                </a:solidFill>
              </a:rPr>
              <a:t>A sequence diagram shows time-ordered interactions between objects. USER and DATABASE objects exchange messages in exact sequence — Upload Detect Video Copy → Download Video → Logout — illustrating the system execution flow step by step.</a:t>
            </a:r>
            <a:endParaRPr lang="en-US" sz="1600" dirty="0"/>
          </a:p>
        </p:txBody>
      </p:sp>
      <p:sp>
        <p:nvSpPr>
          <p:cNvPr id="10" name="Shape 8"/>
          <p:cNvSpPr/>
          <p:nvPr/>
        </p:nvSpPr>
        <p:spPr>
          <a:xfrm>
            <a:off x="411480" y="1847086"/>
            <a:ext cx="8321040" cy="2907793"/>
          </a:xfrm>
          <a:prstGeom prst="rect">
            <a:avLst/>
          </a:prstGeom>
          <a:solidFill>
            <a:srgbClr val="FFFFFF"/>
          </a:solidFill>
          <a:ln w="12700">
            <a:solidFill>
              <a:srgbClr val="E3F0FF"/>
            </a:solidFill>
            <a:prstDash val="solid"/>
          </a:ln>
          <a:effectLst>
            <a:outerShdw blurRad="101600" dist="38100" dir="8100000" algn="bl" rotWithShape="0">
              <a:srgbClr val="0D3270">
                <a:alpha val="13000"/>
              </a:srgbClr>
            </a:outerShdw>
          </a:effectLst>
        </p:spPr>
      </p:sp>
      <p:pic>
        <p:nvPicPr>
          <p:cNvPr id="11" name="Image 0" descr="preencoded.png"/>
          <p:cNvPicPr>
            <a:picLocks noChangeAspect="1"/>
          </p:cNvPicPr>
          <p:nvPr/>
        </p:nvPicPr>
        <p:blipFill>
          <a:blip r:embed="rId3"/>
          <a:srcRect/>
          <a:stretch/>
        </p:blipFill>
        <p:spPr>
          <a:xfrm>
            <a:off x="594360" y="1823014"/>
            <a:ext cx="7903597" cy="2886145"/>
          </a:xfrm>
          <a:prstGeom prst="rect">
            <a:avLst/>
          </a:prstGeom>
        </p:spPr>
      </p:pic>
      <p:sp>
        <p:nvSpPr>
          <p:cNvPr id="12" name="Text 9"/>
          <p:cNvSpPr/>
          <p:nvPr/>
        </p:nvSpPr>
        <p:spPr>
          <a:xfrm>
            <a:off x="411480" y="4773168"/>
            <a:ext cx="8321040" cy="201168"/>
          </a:xfrm>
          <a:prstGeom prst="rect">
            <a:avLst/>
          </a:prstGeom>
          <a:noFill/>
          <a:ln/>
        </p:spPr>
        <p:txBody>
          <a:bodyPr wrap="square" rtlCol="0" anchor="ctr"/>
          <a:lstStyle/>
          <a:p>
            <a:pPr marL="0" indent="0" algn="ctr">
              <a:buNone/>
            </a:pPr>
            <a:r>
              <a:rPr lang="en-US" sz="900" i="1" dirty="0">
                <a:solidFill>
                  <a:srgbClr val="5B7DB1"/>
                </a:solidFill>
              </a:rPr>
              <a:t>Sequence Diagram — Time-ordered interactions between USER and DATABASE objects for Upload Detect Video Copy, Download Video, and Logout</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5" name="Shape 3"/>
          <p:cNvSpPr/>
          <p:nvPr/>
        </p:nvSpPr>
        <p:spPr>
          <a:xfrm>
            <a:off x="411480" y="256032"/>
            <a:ext cx="8321040" cy="658368"/>
          </a:xfrm>
          <a:prstGeom prst="rect">
            <a:avLst/>
          </a:prstGeom>
          <a:solidFill>
            <a:srgbClr val="1565C0"/>
          </a:solidFill>
          <a:ln w="12700">
            <a:solidFill>
              <a:srgbClr val="1565C0"/>
            </a:solidFill>
            <a:prstDash val="solid"/>
          </a:ln>
          <a:effectLst>
            <a:outerShdw blurRad="101600" dist="38100" dir="8100000" algn="bl" rotWithShape="0">
              <a:srgbClr val="0D3270">
                <a:alpha val="13000"/>
              </a:srgbClr>
            </a:outerShdw>
          </a:effectLst>
        </p:spPr>
      </p:sp>
      <p:sp>
        <p:nvSpPr>
          <p:cNvPr id="6" name="Text 4"/>
          <p:cNvSpPr/>
          <p:nvPr/>
        </p:nvSpPr>
        <p:spPr>
          <a:xfrm>
            <a:off x="411480" y="256032"/>
            <a:ext cx="8321040" cy="658368"/>
          </a:xfrm>
          <a:prstGeom prst="rect">
            <a:avLst/>
          </a:prstGeom>
          <a:noFill/>
          <a:ln/>
        </p:spPr>
        <p:txBody>
          <a:bodyPr wrap="square" lIns="0" tIns="0" rIns="0" bIns="0" rtlCol="0" anchor="ctr"/>
          <a:lstStyle/>
          <a:p>
            <a:pPr marL="0" indent="0" algn="ctr">
              <a:buNone/>
            </a:pPr>
            <a:r>
              <a:rPr lang="en-US" sz="2200" b="1" dirty="0">
                <a:solidFill>
                  <a:srgbClr val="FFFFFF"/>
                </a:solidFill>
              </a:rPr>
              <a:t>Collaboration Diagram</a:t>
            </a:r>
            <a:endParaRPr lang="en-US" sz="2200" dirty="0"/>
          </a:p>
        </p:txBody>
      </p:sp>
      <p:sp>
        <p:nvSpPr>
          <p:cNvPr id="7" name="Shape 5"/>
          <p:cNvSpPr/>
          <p:nvPr/>
        </p:nvSpPr>
        <p:spPr>
          <a:xfrm>
            <a:off x="411480" y="1005841"/>
            <a:ext cx="8321040" cy="794810"/>
          </a:xfrm>
          <a:prstGeom prst="rect">
            <a:avLst/>
          </a:prstGeom>
          <a:solidFill>
            <a:srgbClr val="F0F6FF"/>
          </a:solidFill>
          <a:ln w="10160">
            <a:solidFill>
              <a:srgbClr val="E3F0FF"/>
            </a:solidFill>
            <a:prstDash val="solid"/>
          </a:ln>
        </p:spPr>
      </p:sp>
      <p:sp>
        <p:nvSpPr>
          <p:cNvPr id="8" name="Shape 6"/>
          <p:cNvSpPr/>
          <p:nvPr/>
        </p:nvSpPr>
        <p:spPr>
          <a:xfrm>
            <a:off x="411480" y="1005841"/>
            <a:ext cx="266722" cy="794810"/>
          </a:xfrm>
          <a:prstGeom prst="rect">
            <a:avLst/>
          </a:prstGeom>
          <a:solidFill>
            <a:srgbClr val="1E88E5"/>
          </a:solidFill>
          <a:ln w="12700">
            <a:solidFill>
              <a:srgbClr val="1E88E5"/>
            </a:solidFill>
            <a:prstDash val="solid"/>
          </a:ln>
        </p:spPr>
      </p:sp>
      <p:sp>
        <p:nvSpPr>
          <p:cNvPr id="9" name="Text 7"/>
          <p:cNvSpPr/>
          <p:nvPr/>
        </p:nvSpPr>
        <p:spPr>
          <a:xfrm>
            <a:off x="678202" y="1120338"/>
            <a:ext cx="7917158" cy="556869"/>
          </a:xfrm>
          <a:prstGeom prst="rect">
            <a:avLst/>
          </a:prstGeom>
          <a:noFill/>
          <a:ln/>
        </p:spPr>
        <p:txBody>
          <a:bodyPr wrap="square" rtlCol="0" anchor="ctr"/>
          <a:lstStyle/>
          <a:p>
            <a:pPr marL="0" indent="0" algn="just">
              <a:buNone/>
            </a:pPr>
            <a:r>
              <a:rPr lang="en-US" sz="1600" dirty="0">
                <a:solidFill>
                  <a:srgbClr val="1A3A6B"/>
                </a:solidFill>
              </a:rPr>
              <a:t>A collaboration diagram groups all interactions between objects as numbered sequences. USER → DATABASE: 1: Upload Detect Video Copy, 2: Download Video, 3: Logout — identifying all possible communications between system objects.</a:t>
            </a:r>
            <a:endParaRPr lang="en-US" sz="1600" dirty="0"/>
          </a:p>
        </p:txBody>
      </p:sp>
      <p:sp>
        <p:nvSpPr>
          <p:cNvPr id="10" name="Shape 8"/>
          <p:cNvSpPr/>
          <p:nvPr/>
        </p:nvSpPr>
        <p:spPr>
          <a:xfrm>
            <a:off x="411480" y="1846372"/>
            <a:ext cx="8321040" cy="2908508"/>
          </a:xfrm>
          <a:prstGeom prst="rect">
            <a:avLst/>
          </a:prstGeom>
          <a:solidFill>
            <a:srgbClr val="FFFFFF"/>
          </a:solidFill>
          <a:ln w="12700">
            <a:solidFill>
              <a:srgbClr val="E3F0FF"/>
            </a:solidFill>
            <a:prstDash val="solid"/>
          </a:ln>
          <a:effectLst>
            <a:outerShdw blurRad="101600" dist="38100" dir="8100000" algn="bl" rotWithShape="0">
              <a:srgbClr val="0D3270">
                <a:alpha val="13000"/>
              </a:srgbClr>
            </a:outerShdw>
          </a:effectLst>
        </p:spPr>
      </p:sp>
      <p:pic>
        <p:nvPicPr>
          <p:cNvPr id="11" name="Image 0" descr="preencoded.png"/>
          <p:cNvPicPr>
            <a:picLocks noChangeAspect="1"/>
          </p:cNvPicPr>
          <p:nvPr/>
        </p:nvPicPr>
        <p:blipFill>
          <a:blip r:embed="rId3"/>
          <a:srcRect/>
          <a:stretch/>
        </p:blipFill>
        <p:spPr>
          <a:xfrm>
            <a:off x="678202" y="1846372"/>
            <a:ext cx="7839633" cy="2862787"/>
          </a:xfrm>
          <a:prstGeom prst="rect">
            <a:avLst/>
          </a:prstGeom>
        </p:spPr>
      </p:pic>
      <p:sp>
        <p:nvSpPr>
          <p:cNvPr id="12" name="Text 9"/>
          <p:cNvSpPr/>
          <p:nvPr/>
        </p:nvSpPr>
        <p:spPr>
          <a:xfrm>
            <a:off x="411480" y="4773168"/>
            <a:ext cx="8321040" cy="201168"/>
          </a:xfrm>
          <a:prstGeom prst="rect">
            <a:avLst/>
          </a:prstGeom>
          <a:noFill/>
          <a:ln/>
        </p:spPr>
        <p:txBody>
          <a:bodyPr wrap="square" rtlCol="0" anchor="ctr"/>
          <a:lstStyle/>
          <a:p>
            <a:pPr marL="0" indent="0" algn="ctr">
              <a:buNone/>
            </a:pPr>
            <a:r>
              <a:rPr lang="en-US" sz="900" i="1" dirty="0">
                <a:solidFill>
                  <a:srgbClr val="5B7DB1"/>
                </a:solidFill>
              </a:rPr>
              <a:t>Collaboration Diagram — Numbered interactions between USER and DATABASE: 1: Upload Detect Video Copy, 2: Download Video, 3: Logout</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5" name="Shape 3"/>
          <p:cNvSpPr/>
          <p:nvPr/>
        </p:nvSpPr>
        <p:spPr>
          <a:xfrm>
            <a:off x="364766" y="256032"/>
            <a:ext cx="8367754" cy="658368"/>
          </a:xfrm>
          <a:prstGeom prst="rect">
            <a:avLst/>
          </a:prstGeom>
          <a:solidFill>
            <a:srgbClr val="1565C0"/>
          </a:solidFill>
          <a:ln w="12700">
            <a:solidFill>
              <a:srgbClr val="1565C0"/>
            </a:solidFill>
            <a:prstDash val="solid"/>
          </a:ln>
          <a:effectLst>
            <a:outerShdw blurRad="101600" dist="38100" dir="8100000" algn="bl" rotWithShape="0">
              <a:srgbClr val="0D3270">
                <a:alpha val="13000"/>
              </a:srgbClr>
            </a:outerShdw>
          </a:effectLst>
        </p:spPr>
      </p:sp>
      <p:sp>
        <p:nvSpPr>
          <p:cNvPr id="6" name="Text 4"/>
          <p:cNvSpPr/>
          <p:nvPr/>
        </p:nvSpPr>
        <p:spPr>
          <a:xfrm>
            <a:off x="411480" y="256032"/>
            <a:ext cx="8321040" cy="658368"/>
          </a:xfrm>
          <a:prstGeom prst="rect">
            <a:avLst/>
          </a:prstGeom>
          <a:noFill/>
          <a:ln/>
        </p:spPr>
        <p:txBody>
          <a:bodyPr wrap="square" lIns="0" tIns="0" rIns="0" bIns="0" rtlCol="0" anchor="ctr"/>
          <a:lstStyle/>
          <a:p>
            <a:pPr marL="0" indent="0" algn="ctr">
              <a:buNone/>
            </a:pPr>
            <a:r>
              <a:rPr lang="en-US" sz="2200" b="1" dirty="0">
                <a:solidFill>
                  <a:srgbClr val="FFFFFF"/>
                </a:solidFill>
              </a:rPr>
              <a:t>Modules</a:t>
            </a:r>
            <a:endParaRPr lang="en-US" sz="2200" dirty="0"/>
          </a:p>
        </p:txBody>
      </p:sp>
      <p:sp>
        <p:nvSpPr>
          <p:cNvPr id="7" name="Shape 5"/>
          <p:cNvSpPr/>
          <p:nvPr/>
        </p:nvSpPr>
        <p:spPr>
          <a:xfrm>
            <a:off x="411480" y="1051560"/>
            <a:ext cx="164592" cy="3566160"/>
          </a:xfrm>
          <a:prstGeom prst="rect">
            <a:avLst/>
          </a:prstGeom>
          <a:solidFill>
            <a:srgbClr val="1E88E5"/>
          </a:solidFill>
          <a:ln w="12700">
            <a:solidFill>
              <a:srgbClr val="1E88E5"/>
            </a:solidFill>
            <a:prstDash val="solid"/>
          </a:ln>
        </p:spPr>
      </p:sp>
      <p:sp>
        <p:nvSpPr>
          <p:cNvPr id="8" name="Shape 6"/>
          <p:cNvSpPr/>
          <p:nvPr/>
        </p:nvSpPr>
        <p:spPr>
          <a:xfrm>
            <a:off x="364766" y="1005841"/>
            <a:ext cx="8367754" cy="3854394"/>
          </a:xfrm>
          <a:prstGeom prst="rect">
            <a:avLst/>
          </a:prstGeom>
          <a:solidFill>
            <a:srgbClr val="F0F6FF"/>
          </a:solidFill>
          <a:ln w="12700">
            <a:solidFill>
              <a:srgbClr val="E3F0FF"/>
            </a:solidFill>
            <a:prstDash val="solid"/>
          </a:ln>
        </p:spPr>
      </p:sp>
      <p:sp>
        <p:nvSpPr>
          <p:cNvPr id="9" name="Text 7"/>
          <p:cNvSpPr/>
          <p:nvPr/>
        </p:nvSpPr>
        <p:spPr>
          <a:xfrm>
            <a:off x="341409" y="907639"/>
            <a:ext cx="8414468" cy="4206044"/>
          </a:xfrm>
          <a:prstGeom prst="rect">
            <a:avLst/>
          </a:prstGeom>
          <a:noFill/>
          <a:ln/>
        </p:spPr>
        <p:txBody>
          <a:bodyPr wrap="square" rtlCol="0" anchor="t"/>
          <a:lstStyle/>
          <a:p>
            <a:pPr>
              <a:lnSpc>
                <a:spcPct val="135000"/>
              </a:lnSpc>
            </a:pPr>
            <a:r>
              <a:rPr lang="en-IN" sz="1700" b="1" dirty="0">
                <a:solidFill>
                  <a:schemeClr val="accent1">
                    <a:lumMod val="50000"/>
                  </a:schemeClr>
                </a:solidFill>
              </a:rPr>
              <a:t>Data Collection Module:</a:t>
            </a:r>
          </a:p>
          <a:p>
            <a:pPr algn="just">
              <a:lnSpc>
                <a:spcPct val="135000"/>
              </a:lnSpc>
            </a:pPr>
            <a:r>
              <a:rPr lang="en-IN" sz="1500" b="1" dirty="0">
                <a:solidFill>
                  <a:schemeClr val="accent1">
                    <a:lumMod val="50000"/>
                  </a:schemeClr>
                </a:solidFill>
              </a:rPr>
              <a:t>        </a:t>
            </a:r>
            <a:r>
              <a:rPr lang="en-US" sz="1500" dirty="0">
                <a:solidFill>
                  <a:schemeClr val="accent1">
                    <a:lumMod val="50000"/>
                  </a:schemeClr>
                </a:solidFill>
              </a:rPr>
              <a:t>This module is responsible for collecting video data from different sources. The collected data may include multi-view videos from cameras or cloud storage. It ensures that sufficient and relevant data is gathered for further processing.</a:t>
            </a:r>
          </a:p>
          <a:p>
            <a:pPr>
              <a:lnSpc>
                <a:spcPct val="135000"/>
              </a:lnSpc>
            </a:pPr>
            <a:r>
              <a:rPr lang="en-IN" sz="1600" b="1" dirty="0">
                <a:solidFill>
                  <a:schemeClr val="accent1">
                    <a:lumMod val="50000"/>
                  </a:schemeClr>
                </a:solidFill>
              </a:rPr>
              <a:t> </a:t>
            </a:r>
            <a:r>
              <a:rPr lang="en-IN" sz="1700" b="1" dirty="0">
                <a:solidFill>
                  <a:schemeClr val="accent1">
                    <a:lumMod val="50000"/>
                  </a:schemeClr>
                </a:solidFill>
              </a:rPr>
              <a:t>Data Pre-processing Module:</a:t>
            </a:r>
          </a:p>
          <a:p>
            <a:pPr algn="just">
              <a:lnSpc>
                <a:spcPct val="135000"/>
              </a:lnSpc>
            </a:pPr>
            <a:r>
              <a:rPr lang="en-US" b="1" dirty="0">
                <a:solidFill>
                  <a:schemeClr val="accent1">
                    <a:lumMod val="50000"/>
                  </a:schemeClr>
                </a:solidFill>
              </a:rPr>
              <a:t>         </a:t>
            </a:r>
            <a:r>
              <a:rPr lang="en-US" sz="1500" dirty="0">
                <a:solidFill>
                  <a:schemeClr val="accent1">
                    <a:lumMod val="50000"/>
                  </a:schemeClr>
                </a:solidFill>
              </a:rPr>
              <a:t>In this module, the collected videos are cleaned and prepared for analysis. It includes tasks like resizing frames, removing noise, normalizing data, and converting videos into suitable formats. This step improves the quality of input data. </a:t>
            </a:r>
          </a:p>
          <a:p>
            <a:pPr algn="just">
              <a:lnSpc>
                <a:spcPct val="135000"/>
              </a:lnSpc>
            </a:pPr>
            <a:r>
              <a:rPr lang="en-US" sz="1700" b="1" dirty="0">
                <a:solidFill>
                  <a:schemeClr val="accent1">
                    <a:lumMod val="50000"/>
                  </a:schemeClr>
                </a:solidFill>
              </a:rPr>
              <a:t>Feature Extraction using Pre- trained Models:</a:t>
            </a:r>
          </a:p>
          <a:p>
            <a:pPr algn="just">
              <a:lnSpc>
                <a:spcPct val="135000"/>
              </a:lnSpc>
            </a:pPr>
            <a:r>
              <a:rPr lang="en-US" b="1" dirty="0">
                <a:solidFill>
                  <a:schemeClr val="accent1">
                    <a:lumMod val="50000"/>
                  </a:schemeClr>
                </a:solidFill>
              </a:rPr>
              <a:t>         </a:t>
            </a:r>
            <a:r>
              <a:rPr lang="en-US" sz="1500" dirty="0">
                <a:solidFill>
                  <a:schemeClr val="accent1">
                    <a:lumMod val="50000"/>
                  </a:schemeClr>
                </a:solidFill>
              </a:rPr>
              <a:t>This module extracts important features from videos using pre-trained deep learning models. These features represent the content of videos in a compact form and help in identifying similarities between videos.</a:t>
            </a:r>
            <a:endParaRPr lang="en-US" sz="1500" b="1" dirty="0">
              <a:solidFill>
                <a:schemeClr val="accent1">
                  <a:lumMod val="50000"/>
                </a:schemeClr>
              </a:solidFill>
            </a:endParaRPr>
          </a:p>
        </p:txBody>
      </p:sp>
    </p:spTree>
    <p:extLst>
      <p:ext uri="{BB962C8B-B14F-4D97-AF65-F5344CB8AC3E}">
        <p14:creationId xmlns:p14="http://schemas.microsoft.com/office/powerpoint/2010/main" val="17756770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6" name="Text 4"/>
          <p:cNvSpPr/>
          <p:nvPr/>
        </p:nvSpPr>
        <p:spPr>
          <a:xfrm>
            <a:off x="411480" y="256032"/>
            <a:ext cx="8321040" cy="658368"/>
          </a:xfrm>
          <a:prstGeom prst="rect">
            <a:avLst/>
          </a:prstGeom>
          <a:noFill/>
          <a:ln/>
        </p:spPr>
        <p:txBody>
          <a:bodyPr wrap="square" lIns="0" tIns="0" rIns="0" bIns="0" rtlCol="0" anchor="ctr"/>
          <a:lstStyle/>
          <a:p>
            <a:pPr marL="0" indent="0" algn="ctr">
              <a:buNone/>
            </a:pPr>
            <a:endParaRPr lang="en-US" sz="2200" dirty="0"/>
          </a:p>
        </p:txBody>
      </p:sp>
      <p:sp>
        <p:nvSpPr>
          <p:cNvPr id="7" name="Shape 5"/>
          <p:cNvSpPr/>
          <p:nvPr/>
        </p:nvSpPr>
        <p:spPr>
          <a:xfrm>
            <a:off x="411480" y="1051560"/>
            <a:ext cx="164592" cy="3566160"/>
          </a:xfrm>
          <a:prstGeom prst="rect">
            <a:avLst/>
          </a:prstGeom>
          <a:solidFill>
            <a:srgbClr val="1E88E5"/>
          </a:solidFill>
          <a:ln w="12700">
            <a:solidFill>
              <a:srgbClr val="1E88E5"/>
            </a:solidFill>
            <a:prstDash val="solid"/>
          </a:ln>
        </p:spPr>
      </p:sp>
      <p:sp>
        <p:nvSpPr>
          <p:cNvPr id="8" name="Shape 6"/>
          <p:cNvSpPr/>
          <p:nvPr/>
        </p:nvSpPr>
        <p:spPr>
          <a:xfrm>
            <a:off x="364766" y="508091"/>
            <a:ext cx="8367754" cy="4122748"/>
          </a:xfrm>
          <a:prstGeom prst="rect">
            <a:avLst/>
          </a:prstGeom>
          <a:solidFill>
            <a:srgbClr val="F0F6FF"/>
          </a:solidFill>
          <a:ln w="12700">
            <a:solidFill>
              <a:srgbClr val="E3F0FF"/>
            </a:solidFill>
            <a:prstDash val="solid"/>
          </a:ln>
        </p:spPr>
      </p:sp>
      <p:sp>
        <p:nvSpPr>
          <p:cNvPr id="9" name="Text 7"/>
          <p:cNvSpPr/>
          <p:nvPr/>
        </p:nvSpPr>
        <p:spPr>
          <a:xfrm>
            <a:off x="472108" y="766401"/>
            <a:ext cx="8153069" cy="4206044"/>
          </a:xfrm>
          <a:prstGeom prst="rect">
            <a:avLst/>
          </a:prstGeom>
          <a:noFill/>
          <a:ln/>
        </p:spPr>
        <p:txBody>
          <a:bodyPr wrap="square" rtlCol="0" anchor="t"/>
          <a:lstStyle/>
          <a:p>
            <a:pPr>
              <a:lnSpc>
                <a:spcPct val="135000"/>
              </a:lnSpc>
            </a:pPr>
            <a:r>
              <a:rPr lang="en-IN" sz="1700" b="1" dirty="0">
                <a:solidFill>
                  <a:schemeClr val="accent1">
                    <a:lumMod val="50000"/>
                  </a:schemeClr>
                </a:solidFill>
              </a:rPr>
              <a:t>Ensemble Classification Module:        </a:t>
            </a:r>
          </a:p>
          <a:p>
            <a:pPr algn="just">
              <a:lnSpc>
                <a:spcPct val="135000"/>
              </a:lnSpc>
            </a:pPr>
            <a:r>
              <a:rPr lang="en-IN" sz="1700" b="1" dirty="0">
                <a:solidFill>
                  <a:schemeClr val="accent1">
                    <a:lumMod val="50000"/>
                  </a:schemeClr>
                </a:solidFill>
              </a:rPr>
              <a:t>         </a:t>
            </a:r>
            <a:r>
              <a:rPr lang="en-US" sz="1500" dirty="0">
                <a:solidFill>
                  <a:schemeClr val="accent1">
                    <a:lumMod val="50000"/>
                  </a:schemeClr>
                </a:solidFill>
              </a:rPr>
              <a:t>This module uses multiple machine learning models together to improve accuracy. By combining different classifiers, it provides better decision-making in identifying whether a video is duplicate or not. </a:t>
            </a:r>
          </a:p>
          <a:p>
            <a:pPr>
              <a:lnSpc>
                <a:spcPct val="135000"/>
              </a:lnSpc>
            </a:pPr>
            <a:r>
              <a:rPr lang="en-IN" sz="1600" b="1" dirty="0">
                <a:solidFill>
                  <a:schemeClr val="accent1">
                    <a:lumMod val="50000"/>
                  </a:schemeClr>
                </a:solidFill>
              </a:rPr>
              <a:t> </a:t>
            </a:r>
            <a:r>
              <a:rPr lang="en-US" sz="1700" b="1" dirty="0">
                <a:solidFill>
                  <a:schemeClr val="accent1">
                    <a:lumMod val="50000"/>
                  </a:schemeClr>
                </a:solidFill>
              </a:rPr>
              <a:t>Prediction and Result Display Module:</a:t>
            </a:r>
          </a:p>
          <a:p>
            <a:pPr algn="just">
              <a:lnSpc>
                <a:spcPct val="135000"/>
              </a:lnSpc>
            </a:pPr>
            <a:r>
              <a:rPr lang="en-US" b="1" dirty="0">
                <a:solidFill>
                  <a:schemeClr val="accent1">
                    <a:lumMod val="50000"/>
                  </a:schemeClr>
                </a:solidFill>
              </a:rPr>
              <a:t>         </a:t>
            </a:r>
            <a:r>
              <a:rPr lang="en-US" sz="1500" dirty="0">
                <a:solidFill>
                  <a:schemeClr val="accent1">
                    <a:lumMod val="50000"/>
                  </a:schemeClr>
                </a:solidFill>
              </a:rPr>
              <a:t>This module provides the final output of the system. It predicts whether the uploaded video is unique or duplicate and displays the result clearly to the user. </a:t>
            </a:r>
          </a:p>
          <a:p>
            <a:pPr>
              <a:lnSpc>
                <a:spcPct val="135000"/>
              </a:lnSpc>
            </a:pPr>
            <a:r>
              <a:rPr lang="en-IN" sz="1700" b="1" dirty="0">
                <a:solidFill>
                  <a:schemeClr val="accent1">
                    <a:lumMod val="50000"/>
                  </a:schemeClr>
                </a:solidFill>
              </a:rPr>
              <a:t>Model Evaluation Module:</a:t>
            </a:r>
          </a:p>
          <a:p>
            <a:pPr algn="just">
              <a:lnSpc>
                <a:spcPct val="135000"/>
              </a:lnSpc>
            </a:pPr>
            <a:r>
              <a:rPr lang="en-US" b="1" dirty="0">
                <a:solidFill>
                  <a:schemeClr val="accent1">
                    <a:lumMod val="50000"/>
                  </a:schemeClr>
                </a:solidFill>
              </a:rPr>
              <a:t>         </a:t>
            </a:r>
            <a:r>
              <a:rPr lang="en-US" sz="1500" dirty="0">
                <a:solidFill>
                  <a:schemeClr val="accent1">
                    <a:lumMod val="50000"/>
                  </a:schemeClr>
                </a:solidFill>
              </a:rPr>
              <a:t>This module evaluates the performance of the system using metrics like accuracy, precision, and recall. It helps in </a:t>
            </a:r>
            <a:r>
              <a:rPr lang="en-US" sz="1500" dirty="0" err="1">
                <a:solidFill>
                  <a:schemeClr val="accent1">
                    <a:lumMod val="50000"/>
                  </a:schemeClr>
                </a:solidFill>
              </a:rPr>
              <a:t>analysing</a:t>
            </a:r>
            <a:r>
              <a:rPr lang="en-US" sz="1500" dirty="0">
                <a:solidFill>
                  <a:schemeClr val="accent1">
                    <a:lumMod val="50000"/>
                  </a:schemeClr>
                </a:solidFill>
              </a:rPr>
              <a:t> how well the model is performing and improving it if needed.</a:t>
            </a:r>
            <a:endParaRPr lang="en-US" sz="1500" b="1" dirty="0">
              <a:solidFill>
                <a:schemeClr val="accent1">
                  <a:lumMod val="50000"/>
                </a:schemeClr>
              </a:solidFill>
            </a:endParaRPr>
          </a:p>
        </p:txBody>
      </p:sp>
    </p:spTree>
    <p:extLst>
      <p:ext uri="{BB962C8B-B14F-4D97-AF65-F5344CB8AC3E}">
        <p14:creationId xmlns:p14="http://schemas.microsoft.com/office/powerpoint/2010/main" val="30278710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5" name="Shape 3"/>
          <p:cNvSpPr/>
          <p:nvPr/>
        </p:nvSpPr>
        <p:spPr>
          <a:xfrm>
            <a:off x="411480" y="249174"/>
            <a:ext cx="8321040" cy="658368"/>
          </a:xfrm>
          <a:prstGeom prst="rect">
            <a:avLst/>
          </a:prstGeom>
          <a:solidFill>
            <a:schemeClr val="accent1">
              <a:lumMod val="50000"/>
            </a:schemeClr>
          </a:solidFill>
          <a:ln w="12700">
            <a:solidFill>
              <a:srgbClr val="1565C0"/>
            </a:solidFill>
            <a:prstDash val="solid"/>
          </a:ln>
          <a:effectLst>
            <a:outerShdw blurRad="101600" dist="38100" dir="8100000" algn="bl" rotWithShape="0">
              <a:srgbClr val="0D3270">
                <a:alpha val="13000"/>
              </a:srgbClr>
            </a:outerShdw>
          </a:effectLst>
        </p:spPr>
      </p:sp>
      <p:sp>
        <p:nvSpPr>
          <p:cNvPr id="6" name="Text 4"/>
          <p:cNvSpPr/>
          <p:nvPr/>
        </p:nvSpPr>
        <p:spPr>
          <a:xfrm>
            <a:off x="411480" y="256032"/>
            <a:ext cx="8321040" cy="658368"/>
          </a:xfrm>
          <a:prstGeom prst="rect">
            <a:avLst/>
          </a:prstGeom>
          <a:noFill/>
          <a:ln/>
        </p:spPr>
        <p:txBody>
          <a:bodyPr wrap="square" lIns="0" tIns="0" rIns="0" bIns="0" rtlCol="0" anchor="ctr"/>
          <a:lstStyle/>
          <a:p>
            <a:pPr marL="0" indent="0" algn="ctr">
              <a:buNone/>
            </a:pPr>
            <a:r>
              <a:rPr lang="en-US" sz="2200" b="1" dirty="0">
                <a:solidFill>
                  <a:srgbClr val="FFFFFF"/>
                </a:solidFill>
              </a:rPr>
              <a:t>Algorithms</a:t>
            </a:r>
            <a:endParaRPr lang="en-US" sz="2200" dirty="0"/>
          </a:p>
        </p:txBody>
      </p:sp>
      <p:sp>
        <p:nvSpPr>
          <p:cNvPr id="16" name="Shape 14"/>
          <p:cNvSpPr/>
          <p:nvPr/>
        </p:nvSpPr>
        <p:spPr>
          <a:xfrm>
            <a:off x="411480" y="967126"/>
            <a:ext cx="8321040" cy="3922926"/>
          </a:xfrm>
          <a:prstGeom prst="rect">
            <a:avLst/>
          </a:prstGeom>
          <a:solidFill>
            <a:srgbClr val="E3F2F5"/>
          </a:solidFill>
          <a:ln w="12700">
            <a:solidFill>
              <a:srgbClr val="1E88E5"/>
            </a:solidFill>
            <a:prstDash val="solid"/>
          </a:ln>
          <a:effectLst>
            <a:outerShdw blurRad="101600" dist="38100" dir="8100000" algn="bl" rotWithShape="0">
              <a:srgbClr val="0D3270">
                <a:alpha val="13000"/>
              </a:srgbClr>
            </a:outerShdw>
          </a:effectLst>
        </p:spPr>
      </p:sp>
      <p:sp>
        <p:nvSpPr>
          <p:cNvPr id="19" name="Text 17"/>
          <p:cNvSpPr/>
          <p:nvPr/>
        </p:nvSpPr>
        <p:spPr>
          <a:xfrm>
            <a:off x="6217920" y="2267712"/>
            <a:ext cx="932688" cy="932688"/>
          </a:xfrm>
          <a:prstGeom prst="rect">
            <a:avLst/>
          </a:prstGeom>
          <a:noFill/>
          <a:ln/>
        </p:spPr>
        <p:txBody>
          <a:bodyPr wrap="square" rtlCol="0" anchor="ctr"/>
          <a:lstStyle/>
          <a:p>
            <a:pPr marL="0" indent="0" algn="ctr">
              <a:buNone/>
            </a:pPr>
            <a:endParaRPr lang="en-US" sz="2800" dirty="0"/>
          </a:p>
        </p:txBody>
      </p:sp>
      <p:sp>
        <p:nvSpPr>
          <p:cNvPr id="22" name="Text 20"/>
          <p:cNvSpPr/>
          <p:nvPr/>
        </p:nvSpPr>
        <p:spPr>
          <a:xfrm>
            <a:off x="411480" y="1062293"/>
            <a:ext cx="8321040" cy="3732592"/>
          </a:xfrm>
          <a:prstGeom prst="rect">
            <a:avLst/>
          </a:prstGeom>
          <a:noFill/>
          <a:ln/>
        </p:spPr>
        <p:txBody>
          <a:bodyPr wrap="square" rtlCol="0" anchor="ctr"/>
          <a:lstStyle/>
          <a:p>
            <a:pPr algn="just">
              <a:lnSpc>
                <a:spcPct val="130000"/>
              </a:lnSpc>
            </a:pPr>
            <a:r>
              <a:rPr lang="en-IN" sz="1500" b="1" dirty="0">
                <a:solidFill>
                  <a:schemeClr val="accent1">
                    <a:lumMod val="50000"/>
                  </a:schemeClr>
                </a:solidFill>
              </a:rPr>
              <a:t>Homomorphic Encryption:</a:t>
            </a:r>
          </a:p>
          <a:p>
            <a:pPr algn="just">
              <a:lnSpc>
                <a:spcPct val="130000"/>
              </a:lnSpc>
            </a:pPr>
            <a:r>
              <a:rPr lang="en-IN" sz="1700" b="1" dirty="0">
                <a:solidFill>
                  <a:schemeClr val="accent1">
                    <a:lumMod val="50000"/>
                  </a:schemeClr>
                </a:solidFill>
              </a:rPr>
              <a:t>      </a:t>
            </a:r>
            <a:r>
              <a:rPr lang="en-US" sz="1500" dirty="0">
                <a:solidFill>
                  <a:schemeClr val="accent1">
                    <a:lumMod val="50000"/>
                  </a:schemeClr>
                </a:solidFill>
              </a:rPr>
              <a:t>This is the core algorithmic component of the system. It allows the cloud server to perform operations directly on encrypted video data without needing to decrypt it. </a:t>
            </a:r>
          </a:p>
          <a:p>
            <a:pPr algn="just">
              <a:lnSpc>
                <a:spcPct val="130000"/>
              </a:lnSpc>
            </a:pPr>
            <a:r>
              <a:rPr lang="en-US" sz="1500" dirty="0">
                <a:solidFill>
                  <a:schemeClr val="accent1">
                    <a:lumMod val="50000"/>
                  </a:schemeClr>
                </a:solidFill>
              </a:rPr>
              <a:t>1.Similarity Comparisons 2.Confidentiality</a:t>
            </a:r>
            <a:endParaRPr lang="en-IN" sz="1500" b="1" dirty="0">
              <a:solidFill>
                <a:schemeClr val="accent1">
                  <a:lumMod val="50000"/>
                </a:schemeClr>
              </a:solidFill>
            </a:endParaRPr>
          </a:p>
          <a:p>
            <a:pPr algn="just">
              <a:lnSpc>
                <a:spcPct val="130000"/>
              </a:lnSpc>
            </a:pPr>
            <a:r>
              <a:rPr lang="en-IN" sz="1500" b="1" dirty="0">
                <a:solidFill>
                  <a:schemeClr val="accent1">
                    <a:lumMod val="50000"/>
                  </a:schemeClr>
                </a:solidFill>
              </a:rPr>
              <a:t>Feature Extraction &amp; Matching:</a:t>
            </a:r>
          </a:p>
          <a:p>
            <a:pPr algn="just">
              <a:lnSpc>
                <a:spcPct val="130000"/>
              </a:lnSpc>
            </a:pPr>
            <a:r>
              <a:rPr lang="en-US" sz="1600" b="1" dirty="0">
                <a:solidFill>
                  <a:schemeClr val="accent1">
                    <a:lumMod val="50000"/>
                  </a:schemeClr>
                </a:solidFill>
              </a:rPr>
              <a:t>      </a:t>
            </a:r>
            <a:r>
              <a:rPr lang="en-US" sz="1500" dirty="0">
                <a:solidFill>
                  <a:schemeClr val="accent1">
                    <a:lumMod val="50000"/>
                  </a:schemeClr>
                </a:solidFill>
              </a:rPr>
              <a:t>The system employs specific algorithms to represent and compare video content:</a:t>
            </a:r>
          </a:p>
          <a:p>
            <a:pPr algn="just">
              <a:lnSpc>
                <a:spcPct val="130000"/>
              </a:lnSpc>
            </a:pPr>
            <a:r>
              <a:rPr lang="en-US" sz="1500" dirty="0">
                <a:solidFill>
                  <a:schemeClr val="accent1">
                    <a:lumMod val="50000"/>
                  </a:schemeClr>
                </a:solidFill>
              </a:rPr>
              <a:t>1.</a:t>
            </a:r>
            <a:r>
              <a:rPr lang="en-IN" sz="1500" dirty="0">
                <a:solidFill>
                  <a:schemeClr val="accent1">
                    <a:lumMod val="50000"/>
                  </a:schemeClr>
                </a:solidFill>
              </a:rPr>
              <a:t> Robust Feature Extraction 2.Spatial and Temporal Analysis</a:t>
            </a:r>
            <a:endParaRPr lang="en-IN" sz="1500" b="1" dirty="0">
              <a:solidFill>
                <a:schemeClr val="accent1">
                  <a:lumMod val="50000"/>
                </a:schemeClr>
              </a:solidFill>
            </a:endParaRPr>
          </a:p>
          <a:p>
            <a:pPr algn="just">
              <a:lnSpc>
                <a:spcPct val="130000"/>
              </a:lnSpc>
            </a:pPr>
            <a:r>
              <a:rPr lang="en-IN" sz="1500" b="1" dirty="0">
                <a:solidFill>
                  <a:schemeClr val="accent1">
                    <a:lumMod val="50000"/>
                  </a:schemeClr>
                </a:solidFill>
              </a:rPr>
              <a:t>Multi-View Feature Alignment:</a:t>
            </a:r>
          </a:p>
          <a:p>
            <a:pPr algn="just">
              <a:lnSpc>
                <a:spcPct val="130000"/>
              </a:lnSpc>
            </a:pPr>
            <a:r>
              <a:rPr lang="en-US" sz="1600" b="1" dirty="0">
                <a:solidFill>
                  <a:schemeClr val="accent1">
                    <a:lumMod val="50000"/>
                  </a:schemeClr>
                </a:solidFill>
              </a:rPr>
              <a:t>       </a:t>
            </a:r>
            <a:r>
              <a:rPr lang="en-US" sz="1500" dirty="0">
                <a:solidFill>
                  <a:schemeClr val="accent1">
                    <a:lumMod val="50000"/>
                  </a:schemeClr>
                </a:solidFill>
              </a:rPr>
              <a:t>Because the project deals with multi-view videos (captured from multiple angles), it uses alignment techniques to integrate these perspectives</a:t>
            </a:r>
          </a:p>
          <a:p>
            <a:pPr algn="just">
              <a:lnSpc>
                <a:spcPct val="130000"/>
              </a:lnSpc>
            </a:pPr>
            <a:r>
              <a:rPr lang="en-US" sz="1500" dirty="0">
                <a:solidFill>
                  <a:schemeClr val="accent1">
                    <a:lumMod val="50000"/>
                  </a:schemeClr>
                </a:solidFill>
              </a:rPr>
              <a:t>1.Perspective Integration</a:t>
            </a:r>
            <a:endParaRPr lang="en-IN" sz="1500" b="1" dirty="0">
              <a:solidFill>
                <a:schemeClr val="accent1">
                  <a:lumMod val="50000"/>
                </a:schemeClr>
              </a:solidFill>
            </a:endParaRPr>
          </a:p>
          <a:p>
            <a:pPr algn="just">
              <a:lnSpc>
                <a:spcPct val="130000"/>
              </a:lnSpc>
            </a:pPr>
            <a:r>
              <a:rPr lang="en-IN" sz="1500" b="1" dirty="0">
                <a:solidFill>
                  <a:schemeClr val="accent1">
                    <a:lumMod val="50000"/>
                  </a:schemeClr>
                </a:solidFill>
              </a:rPr>
              <a:t>System Implementation Details: </a:t>
            </a:r>
          </a:p>
          <a:p>
            <a:pPr algn="just">
              <a:lnSpc>
                <a:spcPct val="130000"/>
              </a:lnSpc>
            </a:pPr>
            <a:r>
              <a:rPr lang="en-US" sz="1500" dirty="0">
                <a:solidFill>
                  <a:schemeClr val="accent1">
                    <a:lumMod val="50000"/>
                  </a:schemeClr>
                </a:solidFill>
              </a:rPr>
              <a:t>1.Coding language 2. Similarity search</a:t>
            </a:r>
          </a:p>
        </p:txBody>
      </p:sp>
    </p:spTree>
    <p:extLst>
      <p:ext uri="{BB962C8B-B14F-4D97-AF65-F5344CB8AC3E}">
        <p14:creationId xmlns:p14="http://schemas.microsoft.com/office/powerpoint/2010/main" val="42301255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5" name="Shape 3"/>
          <p:cNvSpPr/>
          <p:nvPr/>
        </p:nvSpPr>
        <p:spPr>
          <a:xfrm>
            <a:off x="364766" y="256032"/>
            <a:ext cx="8367754" cy="658368"/>
          </a:xfrm>
          <a:prstGeom prst="rect">
            <a:avLst/>
          </a:prstGeom>
          <a:solidFill>
            <a:srgbClr val="1565C0"/>
          </a:solidFill>
          <a:ln w="12700">
            <a:solidFill>
              <a:srgbClr val="1565C0"/>
            </a:solidFill>
            <a:prstDash val="solid"/>
          </a:ln>
          <a:effectLst>
            <a:outerShdw blurRad="101600" dist="38100" dir="8100000" algn="bl" rotWithShape="0">
              <a:srgbClr val="0D3270">
                <a:alpha val="13000"/>
              </a:srgbClr>
            </a:outerShdw>
          </a:effectLst>
        </p:spPr>
      </p:sp>
      <p:sp>
        <p:nvSpPr>
          <p:cNvPr id="6" name="Text 4"/>
          <p:cNvSpPr/>
          <p:nvPr/>
        </p:nvSpPr>
        <p:spPr>
          <a:xfrm>
            <a:off x="411480" y="256032"/>
            <a:ext cx="8321040" cy="658368"/>
          </a:xfrm>
          <a:prstGeom prst="rect">
            <a:avLst/>
          </a:prstGeom>
          <a:noFill/>
          <a:ln/>
        </p:spPr>
        <p:txBody>
          <a:bodyPr wrap="square" lIns="0" tIns="0" rIns="0" bIns="0" rtlCol="0" anchor="ctr"/>
          <a:lstStyle/>
          <a:p>
            <a:pPr marL="0" indent="0" algn="ctr">
              <a:buNone/>
            </a:pPr>
            <a:r>
              <a:rPr lang="en-US" sz="2200" b="1" dirty="0">
                <a:solidFill>
                  <a:srgbClr val="FFFFFF"/>
                </a:solidFill>
              </a:rPr>
              <a:t>Role of Machine Learning</a:t>
            </a:r>
            <a:endParaRPr lang="en-US" sz="2200" dirty="0"/>
          </a:p>
        </p:txBody>
      </p:sp>
      <p:sp>
        <p:nvSpPr>
          <p:cNvPr id="10" name="Rectangle 9"/>
          <p:cNvSpPr/>
          <p:nvPr/>
        </p:nvSpPr>
        <p:spPr>
          <a:xfrm>
            <a:off x="364766" y="1033670"/>
            <a:ext cx="3003605" cy="1679713"/>
          </a:xfrm>
          <a:prstGeom prst="rect">
            <a:avLst/>
          </a:prstGeom>
          <a:solidFill>
            <a:srgbClr val="E3F2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p:cNvSpPr/>
          <p:nvPr/>
        </p:nvSpPr>
        <p:spPr>
          <a:xfrm>
            <a:off x="414462" y="1133959"/>
            <a:ext cx="393590" cy="427382"/>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Image 0" descr="preencoded.png"/>
          <p:cNvPicPr>
            <a:picLocks noChangeAspect="1"/>
          </p:cNvPicPr>
          <p:nvPr/>
        </p:nvPicPr>
        <p:blipFill>
          <a:blip r:embed="rId3"/>
          <a:stretch>
            <a:fillRect/>
          </a:stretch>
        </p:blipFill>
        <p:spPr>
          <a:xfrm>
            <a:off x="471115" y="1206112"/>
            <a:ext cx="274320" cy="274320"/>
          </a:xfrm>
          <a:prstGeom prst="rect">
            <a:avLst/>
          </a:prstGeom>
        </p:spPr>
      </p:pic>
      <p:sp>
        <p:nvSpPr>
          <p:cNvPr id="14" name="TextBox 13"/>
          <p:cNvSpPr txBox="1"/>
          <p:nvPr/>
        </p:nvSpPr>
        <p:spPr>
          <a:xfrm>
            <a:off x="805070" y="1162984"/>
            <a:ext cx="2669650" cy="369332"/>
          </a:xfrm>
          <a:prstGeom prst="rect">
            <a:avLst/>
          </a:prstGeom>
          <a:noFill/>
        </p:spPr>
        <p:txBody>
          <a:bodyPr wrap="square" rtlCol="0">
            <a:spAutoFit/>
          </a:bodyPr>
          <a:lstStyle/>
          <a:p>
            <a:r>
              <a:rPr lang="en-US" b="1" dirty="0">
                <a:solidFill>
                  <a:schemeClr val="accent1">
                    <a:lumMod val="75000"/>
                  </a:schemeClr>
                </a:solidFill>
                <a:latin typeface="Calibri" pitchFamily="34" charset="0"/>
                <a:ea typeface="Calibri" pitchFamily="34" charset="-122"/>
                <a:cs typeface="Calibri" pitchFamily="34" charset="-120"/>
              </a:rPr>
              <a:t>Deep Feature Extraction</a:t>
            </a:r>
            <a:endParaRPr lang="en-US" dirty="0">
              <a:solidFill>
                <a:schemeClr val="accent1">
                  <a:lumMod val="75000"/>
                </a:schemeClr>
              </a:solidFill>
            </a:endParaRPr>
          </a:p>
        </p:txBody>
      </p:sp>
      <p:sp>
        <p:nvSpPr>
          <p:cNvPr id="15" name="TextBox 14"/>
          <p:cNvSpPr txBox="1"/>
          <p:nvPr/>
        </p:nvSpPr>
        <p:spPr>
          <a:xfrm>
            <a:off x="364766" y="1620077"/>
            <a:ext cx="3003605" cy="1169551"/>
          </a:xfrm>
          <a:prstGeom prst="rect">
            <a:avLst/>
          </a:prstGeom>
          <a:noFill/>
        </p:spPr>
        <p:txBody>
          <a:bodyPr wrap="square" rtlCol="0">
            <a:spAutoFit/>
          </a:bodyPr>
          <a:lstStyle/>
          <a:p>
            <a:pPr algn="just"/>
            <a:r>
              <a:rPr lang="en-US" sz="1400" dirty="0">
                <a:solidFill>
                  <a:schemeClr val="accent1">
                    <a:lumMod val="75000"/>
                  </a:schemeClr>
                </a:solidFill>
                <a:latin typeface="Calibri" pitchFamily="34" charset="0"/>
                <a:ea typeface="Calibri" pitchFamily="34" charset="-122"/>
                <a:cs typeface="Calibri" pitchFamily="34" charset="-120"/>
              </a:rPr>
              <a:t>Uses Convolutional Neural Networks (CNNs) to transform complex multi-view video frames into compact Feature Vectors (fingerprints).</a:t>
            </a:r>
            <a:endParaRPr lang="en-US" sz="1400" dirty="0">
              <a:solidFill>
                <a:schemeClr val="accent1">
                  <a:lumMod val="75000"/>
                </a:schemeClr>
              </a:solidFill>
            </a:endParaRPr>
          </a:p>
          <a:p>
            <a:pPr algn="just"/>
            <a:endParaRPr lang="en-IN" sz="1400" dirty="0">
              <a:solidFill>
                <a:schemeClr val="accent1">
                  <a:lumMod val="75000"/>
                </a:schemeClr>
              </a:solidFill>
            </a:endParaRPr>
          </a:p>
        </p:txBody>
      </p:sp>
      <p:sp>
        <p:nvSpPr>
          <p:cNvPr id="16" name="Rectangle 15"/>
          <p:cNvSpPr/>
          <p:nvPr/>
        </p:nvSpPr>
        <p:spPr>
          <a:xfrm>
            <a:off x="3415085" y="1036651"/>
            <a:ext cx="2458941" cy="1679713"/>
          </a:xfrm>
          <a:prstGeom prst="rect">
            <a:avLst/>
          </a:prstGeom>
          <a:solidFill>
            <a:srgbClr val="E3F2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p:cNvSpPr/>
          <p:nvPr/>
        </p:nvSpPr>
        <p:spPr>
          <a:xfrm>
            <a:off x="5920740" y="1036651"/>
            <a:ext cx="2811780" cy="1679713"/>
          </a:xfrm>
          <a:prstGeom prst="rect">
            <a:avLst/>
          </a:prstGeom>
          <a:solidFill>
            <a:srgbClr val="E3F2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p:cNvSpPr/>
          <p:nvPr/>
        </p:nvSpPr>
        <p:spPr>
          <a:xfrm>
            <a:off x="3583555" y="1172682"/>
            <a:ext cx="393590" cy="336077"/>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9" name="Image 4" descr="preencoded.png"/>
          <p:cNvPicPr>
            <a:picLocks noChangeAspect="1"/>
          </p:cNvPicPr>
          <p:nvPr/>
        </p:nvPicPr>
        <p:blipFill>
          <a:blip r:embed="rId4"/>
          <a:stretch>
            <a:fillRect/>
          </a:stretch>
        </p:blipFill>
        <p:spPr>
          <a:xfrm>
            <a:off x="3607078" y="1208716"/>
            <a:ext cx="324180" cy="277868"/>
          </a:xfrm>
          <a:prstGeom prst="rect">
            <a:avLst/>
          </a:prstGeom>
        </p:spPr>
      </p:pic>
      <p:sp>
        <p:nvSpPr>
          <p:cNvPr id="20" name="TextBox 19"/>
          <p:cNvSpPr txBox="1"/>
          <p:nvPr/>
        </p:nvSpPr>
        <p:spPr>
          <a:xfrm>
            <a:off x="4009446" y="1134457"/>
            <a:ext cx="1845199" cy="369332"/>
          </a:xfrm>
          <a:prstGeom prst="rect">
            <a:avLst/>
          </a:prstGeom>
          <a:noFill/>
        </p:spPr>
        <p:txBody>
          <a:bodyPr wrap="square" rtlCol="0">
            <a:spAutoFit/>
          </a:bodyPr>
          <a:lstStyle/>
          <a:p>
            <a:r>
              <a:rPr lang="en-US" b="1" dirty="0">
                <a:solidFill>
                  <a:schemeClr val="accent1">
                    <a:lumMod val="75000"/>
                  </a:schemeClr>
                </a:solidFill>
                <a:latin typeface="Calibri" pitchFamily="34" charset="0"/>
                <a:ea typeface="Calibri" pitchFamily="34" charset="-122"/>
                <a:cs typeface="Calibri" pitchFamily="34" charset="-120"/>
              </a:rPr>
              <a:t>Robustness</a:t>
            </a:r>
            <a:endParaRPr lang="en-US" dirty="0">
              <a:solidFill>
                <a:schemeClr val="accent1">
                  <a:lumMod val="75000"/>
                </a:schemeClr>
              </a:solidFill>
            </a:endParaRPr>
          </a:p>
        </p:txBody>
      </p:sp>
      <p:sp>
        <p:nvSpPr>
          <p:cNvPr id="21" name="TextBox 20"/>
          <p:cNvSpPr txBox="1"/>
          <p:nvPr/>
        </p:nvSpPr>
        <p:spPr>
          <a:xfrm>
            <a:off x="3474720" y="1629578"/>
            <a:ext cx="2346131" cy="954107"/>
          </a:xfrm>
          <a:prstGeom prst="rect">
            <a:avLst/>
          </a:prstGeom>
          <a:noFill/>
        </p:spPr>
        <p:txBody>
          <a:bodyPr wrap="square" rtlCol="0">
            <a:spAutoFit/>
          </a:bodyPr>
          <a:lstStyle/>
          <a:p>
            <a:pPr algn="just"/>
            <a:r>
              <a:rPr lang="en-US" sz="1400" dirty="0">
                <a:solidFill>
                  <a:schemeClr val="accent1">
                    <a:lumMod val="75000"/>
                  </a:schemeClr>
                </a:solidFill>
                <a:latin typeface="Calibri" pitchFamily="34" charset="0"/>
                <a:ea typeface="Calibri" pitchFamily="34" charset="-122"/>
                <a:cs typeface="Calibri" pitchFamily="34" charset="-120"/>
              </a:rPr>
              <a:t>Ensures the system can detect copies that have been altered through compression, noise, or resizing.</a:t>
            </a:r>
            <a:endParaRPr lang="en-US" sz="1400" dirty="0">
              <a:solidFill>
                <a:schemeClr val="accent1">
                  <a:lumMod val="75000"/>
                </a:schemeClr>
              </a:solidFill>
            </a:endParaRPr>
          </a:p>
        </p:txBody>
      </p:sp>
      <p:sp>
        <p:nvSpPr>
          <p:cNvPr id="22" name="Oval 21"/>
          <p:cNvSpPr/>
          <p:nvPr/>
        </p:nvSpPr>
        <p:spPr>
          <a:xfrm>
            <a:off x="6003235" y="1231528"/>
            <a:ext cx="379676" cy="361629"/>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Image 1" descr="preencoded.png"/>
          <p:cNvPicPr>
            <a:picLocks noChangeAspect="1"/>
          </p:cNvPicPr>
          <p:nvPr/>
        </p:nvPicPr>
        <p:blipFill>
          <a:blip r:embed="rId5"/>
          <a:stretch>
            <a:fillRect/>
          </a:stretch>
        </p:blipFill>
        <p:spPr>
          <a:xfrm>
            <a:off x="6058896" y="1273804"/>
            <a:ext cx="274320" cy="229985"/>
          </a:xfrm>
          <a:prstGeom prst="rect">
            <a:avLst/>
          </a:prstGeom>
        </p:spPr>
      </p:pic>
      <p:sp>
        <p:nvSpPr>
          <p:cNvPr id="24" name="TextBox 23"/>
          <p:cNvSpPr txBox="1"/>
          <p:nvPr/>
        </p:nvSpPr>
        <p:spPr>
          <a:xfrm>
            <a:off x="6401296" y="1081377"/>
            <a:ext cx="2156295" cy="646331"/>
          </a:xfrm>
          <a:prstGeom prst="rect">
            <a:avLst/>
          </a:prstGeom>
          <a:noFill/>
        </p:spPr>
        <p:txBody>
          <a:bodyPr wrap="square" rtlCol="0">
            <a:spAutoFit/>
          </a:bodyPr>
          <a:lstStyle/>
          <a:p>
            <a:r>
              <a:rPr lang="en-US" b="1" dirty="0">
                <a:solidFill>
                  <a:schemeClr val="accent1">
                    <a:lumMod val="75000"/>
                  </a:schemeClr>
                </a:solidFill>
                <a:latin typeface="Calibri" pitchFamily="34" charset="0"/>
                <a:ea typeface="Calibri" pitchFamily="34" charset="-122"/>
                <a:cs typeface="Calibri" pitchFamily="34" charset="-120"/>
              </a:rPr>
              <a:t>Privacy-Preserving Inference</a:t>
            </a:r>
            <a:endParaRPr lang="en-US" dirty="0">
              <a:solidFill>
                <a:schemeClr val="accent1">
                  <a:lumMod val="75000"/>
                </a:schemeClr>
              </a:solidFill>
            </a:endParaRPr>
          </a:p>
        </p:txBody>
      </p:sp>
      <p:sp>
        <p:nvSpPr>
          <p:cNvPr id="25" name="TextBox 24"/>
          <p:cNvSpPr txBox="1"/>
          <p:nvPr/>
        </p:nvSpPr>
        <p:spPr>
          <a:xfrm>
            <a:off x="5885456" y="1615107"/>
            <a:ext cx="2882348" cy="1126462"/>
          </a:xfrm>
          <a:prstGeom prst="rect">
            <a:avLst/>
          </a:prstGeom>
          <a:noFill/>
        </p:spPr>
        <p:txBody>
          <a:bodyPr wrap="square" rtlCol="0">
            <a:spAutoFit/>
          </a:bodyPr>
          <a:lstStyle/>
          <a:p>
            <a:pPr algn="just">
              <a:lnSpc>
                <a:spcPct val="120000"/>
              </a:lnSpc>
            </a:pPr>
            <a:r>
              <a:rPr lang="en-US" sz="1400" dirty="0">
                <a:solidFill>
                  <a:schemeClr val="accent1">
                    <a:lumMod val="75000"/>
                  </a:schemeClr>
                </a:solidFill>
                <a:latin typeface="Calibri" pitchFamily="34" charset="0"/>
                <a:ea typeface="Calibri" pitchFamily="34" charset="-122"/>
                <a:cs typeface="Calibri" pitchFamily="34" charset="-120"/>
              </a:rPr>
              <a:t>ML allows the system to encrypt only the essential features rather than the entire video, drastically reducing the computational load on HE.</a:t>
            </a:r>
            <a:endParaRPr lang="en-US" sz="1400" dirty="0">
              <a:solidFill>
                <a:schemeClr val="accent1">
                  <a:lumMod val="75000"/>
                </a:schemeClr>
              </a:solidFill>
            </a:endParaRPr>
          </a:p>
        </p:txBody>
      </p:sp>
      <p:sp>
        <p:nvSpPr>
          <p:cNvPr id="26" name="Rectangle 25"/>
          <p:cNvSpPr/>
          <p:nvPr/>
        </p:nvSpPr>
        <p:spPr>
          <a:xfrm>
            <a:off x="1055045" y="2896699"/>
            <a:ext cx="3003605" cy="1679713"/>
          </a:xfrm>
          <a:prstGeom prst="rect">
            <a:avLst/>
          </a:prstGeom>
          <a:solidFill>
            <a:srgbClr val="E3F2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p:cNvSpPr/>
          <p:nvPr/>
        </p:nvSpPr>
        <p:spPr>
          <a:xfrm>
            <a:off x="4691270" y="2912745"/>
            <a:ext cx="3003605" cy="1679713"/>
          </a:xfrm>
          <a:prstGeom prst="rect">
            <a:avLst/>
          </a:prstGeom>
          <a:solidFill>
            <a:srgbClr val="E3F2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p:cNvSpPr/>
          <p:nvPr/>
        </p:nvSpPr>
        <p:spPr>
          <a:xfrm>
            <a:off x="1142921" y="3004495"/>
            <a:ext cx="393590" cy="427382"/>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Oval 28"/>
          <p:cNvSpPr/>
          <p:nvPr/>
        </p:nvSpPr>
        <p:spPr>
          <a:xfrm>
            <a:off x="4772484" y="3013527"/>
            <a:ext cx="393590" cy="427382"/>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0" name="Image 2" descr="preencoded.png"/>
          <p:cNvPicPr>
            <a:picLocks noChangeAspect="1"/>
          </p:cNvPicPr>
          <p:nvPr/>
        </p:nvPicPr>
        <p:blipFill>
          <a:blip r:embed="rId6"/>
          <a:stretch>
            <a:fillRect/>
          </a:stretch>
        </p:blipFill>
        <p:spPr>
          <a:xfrm>
            <a:off x="1205677" y="3066660"/>
            <a:ext cx="274320" cy="274320"/>
          </a:xfrm>
          <a:prstGeom prst="rect">
            <a:avLst/>
          </a:prstGeom>
        </p:spPr>
      </p:pic>
      <p:sp>
        <p:nvSpPr>
          <p:cNvPr id="31" name="TextBox 30"/>
          <p:cNvSpPr txBox="1"/>
          <p:nvPr/>
        </p:nvSpPr>
        <p:spPr>
          <a:xfrm>
            <a:off x="1536511" y="3038376"/>
            <a:ext cx="2409200" cy="369332"/>
          </a:xfrm>
          <a:prstGeom prst="rect">
            <a:avLst/>
          </a:prstGeom>
          <a:noFill/>
        </p:spPr>
        <p:txBody>
          <a:bodyPr wrap="square" rtlCol="0">
            <a:spAutoFit/>
          </a:bodyPr>
          <a:lstStyle/>
          <a:p>
            <a:r>
              <a:rPr lang="en-US" b="1" dirty="0">
                <a:solidFill>
                  <a:schemeClr val="accent1">
                    <a:lumMod val="75000"/>
                  </a:schemeClr>
                </a:solidFill>
                <a:latin typeface="Calibri" pitchFamily="34" charset="0"/>
                <a:ea typeface="Calibri" pitchFamily="34" charset="-122"/>
                <a:cs typeface="Calibri" pitchFamily="34" charset="-120"/>
              </a:rPr>
              <a:t>Multi-View Alignment</a:t>
            </a:r>
            <a:endParaRPr lang="en-US" dirty="0">
              <a:solidFill>
                <a:schemeClr val="accent1">
                  <a:lumMod val="75000"/>
                </a:schemeClr>
              </a:solidFill>
            </a:endParaRPr>
          </a:p>
        </p:txBody>
      </p:sp>
      <p:sp>
        <p:nvSpPr>
          <p:cNvPr id="32" name="TextBox 31"/>
          <p:cNvSpPr txBox="1"/>
          <p:nvPr/>
        </p:nvSpPr>
        <p:spPr>
          <a:xfrm>
            <a:off x="1117738" y="3422907"/>
            <a:ext cx="2859407" cy="1169551"/>
          </a:xfrm>
          <a:prstGeom prst="rect">
            <a:avLst/>
          </a:prstGeom>
          <a:noFill/>
        </p:spPr>
        <p:txBody>
          <a:bodyPr wrap="square" rtlCol="0">
            <a:spAutoFit/>
          </a:bodyPr>
          <a:lstStyle/>
          <a:p>
            <a:pPr algn="just"/>
            <a:r>
              <a:rPr lang="en-US" sz="1400" dirty="0">
                <a:solidFill>
                  <a:schemeClr val="accent1">
                    <a:lumMod val="75000"/>
                  </a:schemeClr>
                </a:solidFill>
                <a:latin typeface="Calibri" pitchFamily="34" charset="0"/>
                <a:ea typeface="Calibri" pitchFamily="34" charset="-122"/>
                <a:cs typeface="Calibri" pitchFamily="34" charset="-120"/>
              </a:rPr>
              <a:t>ML models (like Siamese Networks) learn to recognize similarities across different camera angles, identifying copies even if the perspective has changed.</a:t>
            </a:r>
            <a:endParaRPr lang="en-US" sz="1400" dirty="0">
              <a:solidFill>
                <a:schemeClr val="accent1">
                  <a:lumMod val="75000"/>
                </a:schemeClr>
              </a:solidFill>
            </a:endParaRPr>
          </a:p>
        </p:txBody>
      </p:sp>
      <p:pic>
        <p:nvPicPr>
          <p:cNvPr id="33" name="Image 3" descr="preencoded.png"/>
          <p:cNvPicPr>
            <a:picLocks noChangeAspect="1"/>
          </p:cNvPicPr>
          <p:nvPr/>
        </p:nvPicPr>
        <p:blipFill>
          <a:blip r:embed="rId7"/>
          <a:stretch>
            <a:fillRect/>
          </a:stretch>
        </p:blipFill>
        <p:spPr>
          <a:xfrm>
            <a:off x="4835240" y="3082405"/>
            <a:ext cx="274320" cy="274320"/>
          </a:xfrm>
          <a:prstGeom prst="rect">
            <a:avLst/>
          </a:prstGeom>
        </p:spPr>
      </p:pic>
      <p:sp>
        <p:nvSpPr>
          <p:cNvPr id="34" name="TextBox 33"/>
          <p:cNvSpPr txBox="1"/>
          <p:nvPr/>
        </p:nvSpPr>
        <p:spPr>
          <a:xfrm>
            <a:off x="5166074" y="2937950"/>
            <a:ext cx="2447300" cy="646331"/>
          </a:xfrm>
          <a:prstGeom prst="rect">
            <a:avLst/>
          </a:prstGeom>
          <a:noFill/>
        </p:spPr>
        <p:txBody>
          <a:bodyPr wrap="square" rtlCol="0">
            <a:spAutoFit/>
          </a:bodyPr>
          <a:lstStyle/>
          <a:p>
            <a:r>
              <a:rPr lang="en-US" b="1" dirty="0">
                <a:solidFill>
                  <a:schemeClr val="accent1">
                    <a:lumMod val="75000"/>
                  </a:schemeClr>
                </a:solidFill>
                <a:latin typeface="Calibri" pitchFamily="34" charset="0"/>
                <a:ea typeface="Calibri" pitchFamily="34" charset="-122"/>
                <a:cs typeface="Calibri" pitchFamily="34" charset="-120"/>
              </a:rPr>
              <a:t>Encrypted Similarity Matching</a:t>
            </a:r>
            <a:endParaRPr lang="en-US" dirty="0">
              <a:solidFill>
                <a:schemeClr val="accent1">
                  <a:lumMod val="75000"/>
                </a:schemeClr>
              </a:solidFill>
            </a:endParaRPr>
          </a:p>
        </p:txBody>
      </p:sp>
      <p:sp>
        <p:nvSpPr>
          <p:cNvPr id="35" name="TextBox 34"/>
          <p:cNvSpPr txBox="1"/>
          <p:nvPr/>
        </p:nvSpPr>
        <p:spPr>
          <a:xfrm>
            <a:off x="4678205" y="3454915"/>
            <a:ext cx="3029733" cy="1169551"/>
          </a:xfrm>
          <a:prstGeom prst="rect">
            <a:avLst/>
          </a:prstGeom>
          <a:noFill/>
        </p:spPr>
        <p:txBody>
          <a:bodyPr wrap="square" rtlCol="0">
            <a:spAutoFit/>
          </a:bodyPr>
          <a:lstStyle/>
          <a:p>
            <a:pPr algn="just"/>
            <a:r>
              <a:rPr lang="en-US" sz="1400" dirty="0">
                <a:solidFill>
                  <a:schemeClr val="accent1">
                    <a:lumMod val="75000"/>
                  </a:schemeClr>
                </a:solidFill>
                <a:latin typeface="Calibri" pitchFamily="34" charset="0"/>
                <a:ea typeface="Calibri" pitchFamily="34" charset="-122"/>
                <a:cs typeface="Calibri" pitchFamily="34" charset="-120"/>
              </a:rPr>
              <a:t>Enables the Cloud to perform mathematical operations (like Euclidean Distance) on encrypted data to flag copies without ever decrypting or seeing the video content.</a:t>
            </a:r>
            <a:endParaRPr lang="en-US" sz="1400" dirty="0">
              <a:solidFill>
                <a:schemeClr val="accent1">
                  <a:lumMod val="75000"/>
                </a:schemeClr>
              </a:solidFill>
            </a:endParaRPr>
          </a:p>
        </p:txBody>
      </p:sp>
    </p:spTree>
    <p:extLst>
      <p:ext uri="{BB962C8B-B14F-4D97-AF65-F5344CB8AC3E}">
        <p14:creationId xmlns:p14="http://schemas.microsoft.com/office/powerpoint/2010/main" val="23817954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5" name="Shape 3"/>
          <p:cNvSpPr/>
          <p:nvPr/>
        </p:nvSpPr>
        <p:spPr>
          <a:xfrm>
            <a:off x="388123" y="233372"/>
            <a:ext cx="8367754" cy="658368"/>
          </a:xfrm>
          <a:prstGeom prst="rect">
            <a:avLst/>
          </a:prstGeom>
          <a:solidFill>
            <a:srgbClr val="1565C0"/>
          </a:solidFill>
          <a:ln w="12700">
            <a:solidFill>
              <a:srgbClr val="1565C0"/>
            </a:solidFill>
            <a:prstDash val="solid"/>
          </a:ln>
          <a:effectLst>
            <a:outerShdw blurRad="101600" dist="38100" dir="8100000" algn="bl" rotWithShape="0">
              <a:srgbClr val="0D3270">
                <a:alpha val="13000"/>
              </a:srgbClr>
            </a:outerShdw>
          </a:effectLst>
        </p:spPr>
      </p:sp>
      <p:sp>
        <p:nvSpPr>
          <p:cNvPr id="6" name="Text 4"/>
          <p:cNvSpPr/>
          <p:nvPr/>
        </p:nvSpPr>
        <p:spPr>
          <a:xfrm>
            <a:off x="341409" y="196797"/>
            <a:ext cx="8321040" cy="658368"/>
          </a:xfrm>
          <a:prstGeom prst="rect">
            <a:avLst/>
          </a:prstGeom>
          <a:noFill/>
          <a:ln/>
        </p:spPr>
        <p:txBody>
          <a:bodyPr wrap="square" lIns="0" tIns="0" rIns="0" bIns="0" rtlCol="0" anchor="ctr"/>
          <a:lstStyle/>
          <a:p>
            <a:pPr marL="0" indent="0" algn="ctr">
              <a:buNone/>
            </a:pPr>
            <a:r>
              <a:rPr lang="en-US" sz="2200" b="1" dirty="0">
                <a:solidFill>
                  <a:srgbClr val="FFFFFF"/>
                </a:solidFill>
              </a:rPr>
              <a:t>System Testing</a:t>
            </a:r>
            <a:endParaRPr lang="en-US" sz="2200" dirty="0"/>
          </a:p>
        </p:txBody>
      </p:sp>
      <p:sp>
        <p:nvSpPr>
          <p:cNvPr id="7" name="Shape 5"/>
          <p:cNvSpPr/>
          <p:nvPr/>
        </p:nvSpPr>
        <p:spPr>
          <a:xfrm>
            <a:off x="411480" y="1051560"/>
            <a:ext cx="164592" cy="3566160"/>
          </a:xfrm>
          <a:prstGeom prst="rect">
            <a:avLst/>
          </a:prstGeom>
          <a:solidFill>
            <a:srgbClr val="1E88E5"/>
          </a:solidFill>
          <a:ln w="12700">
            <a:solidFill>
              <a:srgbClr val="1E88E5"/>
            </a:solidFill>
            <a:prstDash val="solid"/>
          </a:ln>
        </p:spPr>
      </p:sp>
      <p:sp>
        <p:nvSpPr>
          <p:cNvPr id="8" name="Shape 6"/>
          <p:cNvSpPr/>
          <p:nvPr/>
        </p:nvSpPr>
        <p:spPr>
          <a:xfrm>
            <a:off x="364766" y="960520"/>
            <a:ext cx="8367754" cy="3945431"/>
          </a:xfrm>
          <a:prstGeom prst="rect">
            <a:avLst/>
          </a:prstGeom>
          <a:solidFill>
            <a:srgbClr val="F0F6FF"/>
          </a:solidFill>
          <a:ln w="12700">
            <a:solidFill>
              <a:srgbClr val="E3F0FF"/>
            </a:solidFill>
            <a:prstDash val="solid"/>
          </a:ln>
        </p:spPr>
      </p:sp>
      <p:sp>
        <p:nvSpPr>
          <p:cNvPr id="9" name="Text 7"/>
          <p:cNvSpPr/>
          <p:nvPr/>
        </p:nvSpPr>
        <p:spPr>
          <a:xfrm>
            <a:off x="318052" y="858946"/>
            <a:ext cx="8414468" cy="4206044"/>
          </a:xfrm>
          <a:prstGeom prst="rect">
            <a:avLst/>
          </a:prstGeom>
          <a:noFill/>
          <a:ln/>
        </p:spPr>
        <p:txBody>
          <a:bodyPr wrap="square" rtlCol="0" anchor="t"/>
          <a:lstStyle/>
          <a:p>
            <a:pPr>
              <a:lnSpc>
                <a:spcPct val="135000"/>
              </a:lnSpc>
            </a:pPr>
            <a:r>
              <a:rPr lang="en-US" sz="1700" b="1" dirty="0">
                <a:solidFill>
                  <a:schemeClr val="accent1">
                    <a:lumMod val="50000"/>
                  </a:schemeClr>
                </a:solidFill>
              </a:rPr>
              <a:t>Unit Testing:</a:t>
            </a:r>
          </a:p>
          <a:p>
            <a:pPr algn="just">
              <a:lnSpc>
                <a:spcPct val="135000"/>
              </a:lnSpc>
            </a:pPr>
            <a:r>
              <a:rPr lang="en-US" sz="1700" b="1" dirty="0">
                <a:solidFill>
                  <a:schemeClr val="accent1">
                    <a:lumMod val="50000"/>
                  </a:schemeClr>
                </a:solidFill>
              </a:rPr>
              <a:t>        </a:t>
            </a:r>
            <a:r>
              <a:rPr lang="en-US" sz="1600" dirty="0">
                <a:solidFill>
                  <a:schemeClr val="accent1">
                    <a:lumMod val="50000"/>
                  </a:schemeClr>
                </a:solidFill>
              </a:rPr>
              <a:t>Unit testing is usually conducted as part of a combined code and unit test phase of the software lifecycle, although it is not uncommon for coding and unit testing to be conducted as two distinct phases. </a:t>
            </a:r>
          </a:p>
          <a:p>
            <a:pPr algn="just">
              <a:lnSpc>
                <a:spcPct val="135000"/>
              </a:lnSpc>
            </a:pPr>
            <a:r>
              <a:rPr lang="en-US" sz="1700" b="1" dirty="0">
                <a:solidFill>
                  <a:schemeClr val="accent1">
                    <a:lumMod val="50000"/>
                  </a:schemeClr>
                </a:solidFill>
              </a:rPr>
              <a:t>Functional</a:t>
            </a:r>
            <a:r>
              <a:rPr lang="en-US" sz="1700" b="1" dirty="0">
                <a:solidFill>
                  <a:schemeClr val="accent1">
                    <a:lumMod val="75000"/>
                  </a:schemeClr>
                </a:solidFill>
              </a:rPr>
              <a:t> </a:t>
            </a:r>
            <a:r>
              <a:rPr lang="en-US" sz="1700" b="1" dirty="0">
                <a:solidFill>
                  <a:schemeClr val="accent1">
                    <a:lumMod val="50000"/>
                  </a:schemeClr>
                </a:solidFill>
              </a:rPr>
              <a:t>Testing</a:t>
            </a:r>
            <a:r>
              <a:rPr lang="en-US" sz="1700" b="1" dirty="0">
                <a:solidFill>
                  <a:schemeClr val="accent1">
                    <a:lumMod val="75000"/>
                  </a:schemeClr>
                </a:solidFill>
              </a:rPr>
              <a:t>:</a:t>
            </a:r>
          </a:p>
          <a:p>
            <a:pPr algn="just">
              <a:lnSpc>
                <a:spcPct val="135000"/>
              </a:lnSpc>
            </a:pPr>
            <a:r>
              <a:rPr lang="en-US" sz="1600" b="1" dirty="0">
                <a:solidFill>
                  <a:schemeClr val="accent1">
                    <a:lumMod val="75000"/>
                  </a:schemeClr>
                </a:solidFill>
              </a:rPr>
              <a:t>       </a:t>
            </a:r>
            <a:r>
              <a:rPr lang="en-US" sz="1600" dirty="0">
                <a:solidFill>
                  <a:schemeClr val="accent1">
                    <a:lumMod val="50000"/>
                  </a:schemeClr>
                </a:solidFill>
              </a:rPr>
              <a:t>Functional tests provide systematic demonstrations that functions tested are available as specified by the business and technical requirements, system documentation, and user manuals. Functional testing is centered on the following items:</a:t>
            </a:r>
          </a:p>
          <a:p>
            <a:pPr algn="just">
              <a:lnSpc>
                <a:spcPct val="135000"/>
              </a:lnSpc>
            </a:pPr>
            <a:r>
              <a:rPr lang="en-US" sz="1600" i="1" dirty="0">
                <a:solidFill>
                  <a:schemeClr val="accent1">
                    <a:lumMod val="50000"/>
                  </a:schemeClr>
                </a:solidFill>
              </a:rPr>
              <a:t>Valid Input </a:t>
            </a:r>
            <a:r>
              <a:rPr lang="en-US" sz="1600" dirty="0">
                <a:solidFill>
                  <a:schemeClr val="accent1">
                    <a:lumMod val="50000"/>
                  </a:schemeClr>
                </a:solidFill>
              </a:rPr>
              <a:t>: identified classes of valid input must be accepted.</a:t>
            </a:r>
          </a:p>
          <a:p>
            <a:pPr algn="just">
              <a:lnSpc>
                <a:spcPct val="135000"/>
              </a:lnSpc>
            </a:pPr>
            <a:r>
              <a:rPr lang="en-US" sz="1600" i="1" dirty="0">
                <a:solidFill>
                  <a:schemeClr val="accent1">
                    <a:lumMod val="50000"/>
                  </a:schemeClr>
                </a:solidFill>
              </a:rPr>
              <a:t>Invalid Input </a:t>
            </a:r>
            <a:r>
              <a:rPr lang="en-US" sz="1600" dirty="0">
                <a:solidFill>
                  <a:schemeClr val="accent1">
                    <a:lumMod val="50000"/>
                  </a:schemeClr>
                </a:solidFill>
              </a:rPr>
              <a:t>: identified classes of invalid input must be rejected.</a:t>
            </a:r>
          </a:p>
          <a:p>
            <a:pPr algn="just">
              <a:lnSpc>
                <a:spcPct val="135000"/>
              </a:lnSpc>
            </a:pPr>
            <a:r>
              <a:rPr lang="en-US" sz="1600" i="1" dirty="0">
                <a:solidFill>
                  <a:schemeClr val="accent1">
                    <a:lumMod val="50000"/>
                  </a:schemeClr>
                </a:solidFill>
              </a:rPr>
              <a:t>Functions</a:t>
            </a:r>
            <a:r>
              <a:rPr lang="en-US" sz="1600" dirty="0">
                <a:solidFill>
                  <a:schemeClr val="accent1">
                    <a:lumMod val="50000"/>
                  </a:schemeClr>
                </a:solidFill>
              </a:rPr>
              <a:t> : identified functions must be exercised. </a:t>
            </a:r>
          </a:p>
          <a:p>
            <a:pPr algn="just">
              <a:lnSpc>
                <a:spcPct val="135000"/>
              </a:lnSpc>
            </a:pPr>
            <a:r>
              <a:rPr lang="en-US" sz="1600" i="1" dirty="0">
                <a:solidFill>
                  <a:schemeClr val="accent1">
                    <a:lumMod val="50000"/>
                  </a:schemeClr>
                </a:solidFill>
              </a:rPr>
              <a:t>Output </a:t>
            </a:r>
            <a:r>
              <a:rPr lang="en-US" sz="1600" dirty="0">
                <a:solidFill>
                  <a:schemeClr val="accent1">
                    <a:lumMod val="50000"/>
                  </a:schemeClr>
                </a:solidFill>
              </a:rPr>
              <a:t>: identified classes of application outputs must be exercised.</a:t>
            </a:r>
            <a:endParaRPr lang="en-US" sz="1600" b="1" dirty="0">
              <a:solidFill>
                <a:schemeClr val="accent1">
                  <a:lumMod val="50000"/>
                </a:schemeClr>
              </a:solidFill>
            </a:endParaRPr>
          </a:p>
          <a:p>
            <a:pPr>
              <a:lnSpc>
                <a:spcPct val="135000"/>
              </a:lnSpc>
            </a:pPr>
            <a:r>
              <a:rPr lang="en-US" sz="1500" b="1" dirty="0">
                <a:solidFill>
                  <a:schemeClr val="accent1">
                    <a:lumMod val="50000"/>
                  </a:schemeClr>
                </a:solidFill>
              </a:rPr>
              <a:t>      </a:t>
            </a:r>
          </a:p>
        </p:txBody>
      </p:sp>
    </p:spTree>
    <p:extLst>
      <p:ext uri="{BB962C8B-B14F-4D97-AF65-F5344CB8AC3E}">
        <p14:creationId xmlns:p14="http://schemas.microsoft.com/office/powerpoint/2010/main" val="14823026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6" name="Text 4"/>
          <p:cNvSpPr/>
          <p:nvPr/>
        </p:nvSpPr>
        <p:spPr>
          <a:xfrm>
            <a:off x="341409" y="196797"/>
            <a:ext cx="8321040" cy="658368"/>
          </a:xfrm>
          <a:prstGeom prst="rect">
            <a:avLst/>
          </a:prstGeom>
          <a:noFill/>
          <a:ln/>
        </p:spPr>
        <p:txBody>
          <a:bodyPr wrap="square" lIns="0" tIns="0" rIns="0" bIns="0" rtlCol="0" anchor="ctr"/>
          <a:lstStyle/>
          <a:p>
            <a:pPr marL="0" indent="0" algn="ctr">
              <a:buNone/>
            </a:pPr>
            <a:r>
              <a:rPr lang="en-US" sz="2200" b="1" dirty="0">
                <a:solidFill>
                  <a:srgbClr val="FFFFFF"/>
                </a:solidFill>
              </a:rPr>
              <a:t>System Testing</a:t>
            </a:r>
            <a:endParaRPr lang="en-US" sz="2200" dirty="0"/>
          </a:p>
        </p:txBody>
      </p:sp>
      <p:sp>
        <p:nvSpPr>
          <p:cNvPr id="7" name="Shape 5"/>
          <p:cNvSpPr/>
          <p:nvPr/>
        </p:nvSpPr>
        <p:spPr>
          <a:xfrm>
            <a:off x="411480" y="1051560"/>
            <a:ext cx="164592" cy="3566160"/>
          </a:xfrm>
          <a:prstGeom prst="rect">
            <a:avLst/>
          </a:prstGeom>
          <a:solidFill>
            <a:srgbClr val="1E88E5"/>
          </a:solidFill>
          <a:ln w="12700">
            <a:solidFill>
              <a:srgbClr val="1E88E5"/>
            </a:solidFill>
            <a:prstDash val="solid"/>
          </a:ln>
        </p:spPr>
      </p:sp>
      <p:sp>
        <p:nvSpPr>
          <p:cNvPr id="8" name="Shape 6"/>
          <p:cNvSpPr/>
          <p:nvPr/>
        </p:nvSpPr>
        <p:spPr>
          <a:xfrm>
            <a:off x="341409" y="521208"/>
            <a:ext cx="8367754" cy="4199879"/>
          </a:xfrm>
          <a:prstGeom prst="rect">
            <a:avLst/>
          </a:prstGeom>
          <a:solidFill>
            <a:srgbClr val="F0F6FF"/>
          </a:solidFill>
          <a:ln w="12700">
            <a:solidFill>
              <a:srgbClr val="E3F0FF"/>
            </a:solidFill>
            <a:prstDash val="solid"/>
          </a:ln>
        </p:spPr>
      </p:sp>
      <p:sp>
        <p:nvSpPr>
          <p:cNvPr id="9" name="Text 7"/>
          <p:cNvSpPr/>
          <p:nvPr/>
        </p:nvSpPr>
        <p:spPr>
          <a:xfrm>
            <a:off x="306622" y="644648"/>
            <a:ext cx="8414468" cy="4498852"/>
          </a:xfrm>
          <a:prstGeom prst="rect">
            <a:avLst/>
          </a:prstGeom>
          <a:noFill/>
          <a:ln/>
        </p:spPr>
        <p:txBody>
          <a:bodyPr wrap="square" rtlCol="0" anchor="t"/>
          <a:lstStyle/>
          <a:p>
            <a:pPr>
              <a:lnSpc>
                <a:spcPct val="135000"/>
              </a:lnSpc>
            </a:pPr>
            <a:r>
              <a:rPr lang="en-IN" sz="1600" b="1" dirty="0">
                <a:solidFill>
                  <a:schemeClr val="accent1">
                    <a:lumMod val="50000"/>
                  </a:schemeClr>
                </a:solidFill>
              </a:rPr>
              <a:t>White Box Testing:</a:t>
            </a:r>
          </a:p>
          <a:p>
            <a:pPr algn="just">
              <a:lnSpc>
                <a:spcPct val="135000"/>
              </a:lnSpc>
            </a:pPr>
            <a:r>
              <a:rPr lang="en-US" sz="1700" b="1" dirty="0">
                <a:solidFill>
                  <a:schemeClr val="accent1">
                    <a:lumMod val="50000"/>
                  </a:schemeClr>
                </a:solidFill>
              </a:rPr>
              <a:t>        </a:t>
            </a:r>
            <a:r>
              <a:rPr lang="en-US" sz="1600" dirty="0">
                <a:solidFill>
                  <a:schemeClr val="accent1">
                    <a:lumMod val="50000"/>
                  </a:schemeClr>
                </a:solidFill>
              </a:rPr>
              <a:t>White Box Testing is a testing in which in which the software tester has knowledge of the inner workings, structure and language of the software, or at least its purpose. It is purpose. It is used to test areas that cannot be reached from a black box level.</a:t>
            </a:r>
          </a:p>
          <a:p>
            <a:pPr>
              <a:lnSpc>
                <a:spcPct val="135000"/>
              </a:lnSpc>
            </a:pPr>
            <a:r>
              <a:rPr lang="en-IN" sz="1600" b="1" dirty="0">
                <a:solidFill>
                  <a:schemeClr val="accent1">
                    <a:lumMod val="50000"/>
                  </a:schemeClr>
                </a:solidFill>
              </a:rPr>
              <a:t>Black Box Testing:</a:t>
            </a:r>
          </a:p>
          <a:p>
            <a:pPr algn="just">
              <a:lnSpc>
                <a:spcPct val="135000"/>
              </a:lnSpc>
            </a:pPr>
            <a:r>
              <a:rPr lang="en-US" sz="1600" b="1" dirty="0">
                <a:solidFill>
                  <a:schemeClr val="accent1">
                    <a:lumMod val="75000"/>
                  </a:schemeClr>
                </a:solidFill>
              </a:rPr>
              <a:t>       </a:t>
            </a:r>
            <a:r>
              <a:rPr lang="en-US" sz="1600" dirty="0">
                <a:solidFill>
                  <a:schemeClr val="accent1">
                    <a:lumMod val="50000"/>
                  </a:schemeClr>
                </a:solidFill>
              </a:rPr>
              <a:t>Black Box Testing is testing the software without any knowledge of the inner workings, structure or language of the module being tested. Black box tests, as most other kinds of tests, must be written from a definitive source document, such as specification or requirements document, such as specification or requirements document. It is a testing in which the software under test is treated, as a black box .you cannot “see” into it. The test provides inputs and responds to outputs without considering how the software works.</a:t>
            </a:r>
          </a:p>
          <a:p>
            <a:pPr algn="just">
              <a:lnSpc>
                <a:spcPct val="135000"/>
              </a:lnSpc>
            </a:pPr>
            <a:endParaRPr lang="en-US" sz="1500" b="1" dirty="0">
              <a:solidFill>
                <a:schemeClr val="accent1">
                  <a:lumMod val="50000"/>
                </a:schemeClr>
              </a:solidFill>
            </a:endParaRPr>
          </a:p>
        </p:txBody>
      </p:sp>
    </p:spTree>
    <p:extLst>
      <p:ext uri="{BB962C8B-B14F-4D97-AF65-F5344CB8AC3E}">
        <p14:creationId xmlns:p14="http://schemas.microsoft.com/office/powerpoint/2010/main" val="33246352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6" name="Text 4"/>
          <p:cNvSpPr/>
          <p:nvPr/>
        </p:nvSpPr>
        <p:spPr>
          <a:xfrm>
            <a:off x="341409" y="196797"/>
            <a:ext cx="8321040" cy="658368"/>
          </a:xfrm>
          <a:prstGeom prst="rect">
            <a:avLst/>
          </a:prstGeom>
          <a:noFill/>
          <a:ln/>
        </p:spPr>
        <p:txBody>
          <a:bodyPr wrap="square" lIns="0" tIns="0" rIns="0" bIns="0" rtlCol="0" anchor="ctr"/>
          <a:lstStyle/>
          <a:p>
            <a:pPr marL="0" indent="0" algn="ctr">
              <a:buNone/>
            </a:pPr>
            <a:r>
              <a:rPr lang="en-US" sz="2200" b="1" dirty="0">
                <a:solidFill>
                  <a:srgbClr val="FFFFFF"/>
                </a:solidFill>
              </a:rPr>
              <a:t>System Testing</a:t>
            </a:r>
            <a:endParaRPr lang="en-US" sz="2200" dirty="0"/>
          </a:p>
        </p:txBody>
      </p:sp>
      <p:sp>
        <p:nvSpPr>
          <p:cNvPr id="7" name="Shape 5"/>
          <p:cNvSpPr/>
          <p:nvPr/>
        </p:nvSpPr>
        <p:spPr>
          <a:xfrm>
            <a:off x="411480" y="1051560"/>
            <a:ext cx="164592" cy="3566160"/>
          </a:xfrm>
          <a:prstGeom prst="rect">
            <a:avLst/>
          </a:prstGeom>
          <a:solidFill>
            <a:srgbClr val="1E88E5"/>
          </a:solidFill>
          <a:ln w="12700">
            <a:solidFill>
              <a:srgbClr val="1E88E5"/>
            </a:solidFill>
            <a:prstDash val="solid"/>
          </a:ln>
        </p:spPr>
      </p:sp>
      <p:sp>
        <p:nvSpPr>
          <p:cNvPr id="8" name="Shape 6"/>
          <p:cNvSpPr/>
          <p:nvPr/>
        </p:nvSpPr>
        <p:spPr>
          <a:xfrm>
            <a:off x="341409" y="521208"/>
            <a:ext cx="8367754" cy="4199879"/>
          </a:xfrm>
          <a:prstGeom prst="rect">
            <a:avLst/>
          </a:prstGeom>
          <a:solidFill>
            <a:srgbClr val="F0F6FF"/>
          </a:solidFill>
          <a:ln w="12700">
            <a:solidFill>
              <a:srgbClr val="E3F0FF"/>
            </a:solidFill>
            <a:prstDash val="solid"/>
          </a:ln>
        </p:spPr>
      </p:sp>
      <p:sp>
        <p:nvSpPr>
          <p:cNvPr id="9" name="Text 7"/>
          <p:cNvSpPr/>
          <p:nvPr/>
        </p:nvSpPr>
        <p:spPr>
          <a:xfrm>
            <a:off x="306622" y="644648"/>
            <a:ext cx="8414468" cy="4076439"/>
          </a:xfrm>
          <a:prstGeom prst="rect">
            <a:avLst/>
          </a:prstGeom>
          <a:noFill/>
          <a:ln/>
        </p:spPr>
        <p:txBody>
          <a:bodyPr wrap="square" rtlCol="0" anchor="t"/>
          <a:lstStyle/>
          <a:p>
            <a:pPr>
              <a:lnSpc>
                <a:spcPct val="135000"/>
              </a:lnSpc>
            </a:pPr>
            <a:r>
              <a:rPr lang="en-IN" sz="1600" b="1" dirty="0">
                <a:solidFill>
                  <a:schemeClr val="accent1">
                    <a:lumMod val="50000"/>
                  </a:schemeClr>
                </a:solidFill>
              </a:rPr>
              <a:t>Integration Testing:</a:t>
            </a:r>
          </a:p>
          <a:p>
            <a:pPr algn="just">
              <a:lnSpc>
                <a:spcPct val="135000"/>
              </a:lnSpc>
            </a:pPr>
            <a:r>
              <a:rPr lang="en-US" sz="1700" b="1" dirty="0">
                <a:solidFill>
                  <a:schemeClr val="accent1">
                    <a:lumMod val="50000"/>
                  </a:schemeClr>
                </a:solidFill>
              </a:rPr>
              <a:t>        </a:t>
            </a:r>
            <a:r>
              <a:rPr lang="en-US" sz="1600" dirty="0">
                <a:solidFill>
                  <a:schemeClr val="accent1">
                    <a:lumMod val="50000"/>
                  </a:schemeClr>
                </a:solidFill>
              </a:rPr>
              <a:t>Software integration testing is the incremental integration testing of two or more integrated software components on a single platform to produce failures caused by interface defects. The task of the integration test is to check that components or software applications, e.g. components in a software system or – one step up – software applications at the company level – interact without error. </a:t>
            </a:r>
          </a:p>
          <a:p>
            <a:pPr algn="just">
              <a:lnSpc>
                <a:spcPct val="135000"/>
              </a:lnSpc>
            </a:pPr>
            <a:r>
              <a:rPr lang="en-US" sz="1600" i="1" dirty="0">
                <a:solidFill>
                  <a:schemeClr val="accent1">
                    <a:lumMod val="50000"/>
                  </a:schemeClr>
                </a:solidFill>
              </a:rPr>
              <a:t>Test Results</a:t>
            </a:r>
            <a:r>
              <a:rPr lang="en-US" sz="1600" dirty="0">
                <a:solidFill>
                  <a:schemeClr val="accent1">
                    <a:lumMod val="50000"/>
                  </a:schemeClr>
                </a:solidFill>
              </a:rPr>
              <a:t>: All the test cases mentioned above passed successfully. No defects encountered.</a:t>
            </a:r>
          </a:p>
          <a:p>
            <a:pPr algn="just">
              <a:lnSpc>
                <a:spcPct val="135000"/>
              </a:lnSpc>
            </a:pPr>
            <a:r>
              <a:rPr lang="en-IN" sz="1600" b="1" dirty="0">
                <a:solidFill>
                  <a:schemeClr val="accent1">
                    <a:lumMod val="50000"/>
                  </a:schemeClr>
                </a:solidFill>
              </a:rPr>
              <a:t>Acceptance Testing:</a:t>
            </a:r>
          </a:p>
          <a:p>
            <a:pPr algn="just">
              <a:lnSpc>
                <a:spcPct val="135000"/>
              </a:lnSpc>
            </a:pPr>
            <a:r>
              <a:rPr lang="en-US" sz="1600" dirty="0">
                <a:solidFill>
                  <a:schemeClr val="accent1">
                    <a:lumMod val="50000"/>
                  </a:schemeClr>
                </a:solidFill>
              </a:rPr>
              <a:t>User Acceptance Testing is a critical phase of any project and requires significant participation by the end user. It also ensures that the system meets the functional requirements.</a:t>
            </a:r>
          </a:p>
          <a:p>
            <a:pPr algn="just">
              <a:lnSpc>
                <a:spcPct val="135000"/>
              </a:lnSpc>
            </a:pPr>
            <a:r>
              <a:rPr lang="en-US" sz="1600" i="1" dirty="0">
                <a:solidFill>
                  <a:schemeClr val="accent1">
                    <a:lumMod val="50000"/>
                  </a:schemeClr>
                </a:solidFill>
              </a:rPr>
              <a:t>Test Results</a:t>
            </a:r>
            <a:r>
              <a:rPr lang="en-US" sz="1600" dirty="0">
                <a:solidFill>
                  <a:schemeClr val="accent1">
                    <a:lumMod val="50000"/>
                  </a:schemeClr>
                </a:solidFill>
              </a:rPr>
              <a:t>: All the test cases mentioned above passed successfully. No defects encountered</a:t>
            </a:r>
            <a:endParaRPr lang="en-US" sz="1500" b="1" dirty="0">
              <a:solidFill>
                <a:schemeClr val="accent1">
                  <a:lumMod val="50000"/>
                </a:schemeClr>
              </a:solidFill>
            </a:endParaRPr>
          </a:p>
        </p:txBody>
      </p:sp>
    </p:spTree>
    <p:extLst>
      <p:ext uri="{BB962C8B-B14F-4D97-AF65-F5344CB8AC3E}">
        <p14:creationId xmlns:p14="http://schemas.microsoft.com/office/powerpoint/2010/main" val="12194107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5" name="Shape 3"/>
          <p:cNvSpPr/>
          <p:nvPr/>
        </p:nvSpPr>
        <p:spPr>
          <a:xfrm>
            <a:off x="411480" y="256032"/>
            <a:ext cx="8321040" cy="658368"/>
          </a:xfrm>
          <a:prstGeom prst="rect">
            <a:avLst/>
          </a:prstGeom>
          <a:solidFill>
            <a:srgbClr val="1565C0"/>
          </a:solidFill>
          <a:ln w="12700">
            <a:solidFill>
              <a:srgbClr val="1565C0"/>
            </a:solidFill>
            <a:prstDash val="solid"/>
          </a:ln>
          <a:effectLst>
            <a:outerShdw blurRad="101600" dist="38100" dir="8100000" algn="bl" rotWithShape="0">
              <a:srgbClr val="0D3270">
                <a:alpha val="13000"/>
              </a:srgbClr>
            </a:outerShdw>
          </a:effectLst>
        </p:spPr>
      </p:sp>
      <p:sp>
        <p:nvSpPr>
          <p:cNvPr id="6" name="Text 4"/>
          <p:cNvSpPr/>
          <p:nvPr/>
        </p:nvSpPr>
        <p:spPr>
          <a:xfrm>
            <a:off x="411480" y="256032"/>
            <a:ext cx="8321040" cy="658368"/>
          </a:xfrm>
          <a:prstGeom prst="rect">
            <a:avLst/>
          </a:prstGeom>
          <a:noFill/>
          <a:ln/>
        </p:spPr>
        <p:txBody>
          <a:bodyPr wrap="square" lIns="0" tIns="0" rIns="0" bIns="0" rtlCol="0" anchor="ctr"/>
          <a:lstStyle/>
          <a:p>
            <a:pPr marL="0" indent="0" algn="ctr">
              <a:buNone/>
            </a:pPr>
            <a:r>
              <a:rPr lang="en-US" sz="2200" b="1">
                <a:solidFill>
                  <a:srgbClr val="FFFFFF"/>
                </a:solidFill>
              </a:rPr>
              <a:t>Results</a:t>
            </a:r>
            <a:endParaRPr lang="en-US" sz="2200" dirty="0"/>
          </a:p>
        </p:txBody>
      </p:sp>
      <p:sp>
        <p:nvSpPr>
          <p:cNvPr id="7" name="Shape 5"/>
          <p:cNvSpPr/>
          <p:nvPr/>
        </p:nvSpPr>
        <p:spPr>
          <a:xfrm>
            <a:off x="411480" y="1005839"/>
            <a:ext cx="8321040" cy="3824577"/>
          </a:xfrm>
          <a:prstGeom prst="rect">
            <a:avLst/>
          </a:prstGeom>
          <a:solidFill>
            <a:srgbClr val="0D3270"/>
          </a:solidFill>
          <a:ln w="12700">
            <a:solidFill>
              <a:srgbClr val="0D3270"/>
            </a:solidFill>
            <a:prstDash val="solid"/>
          </a:ln>
          <a:effectLst>
            <a:outerShdw blurRad="101600" dist="38100" dir="8100000" algn="bl" rotWithShape="0">
              <a:srgbClr val="0D3270">
                <a:alpha val="13000"/>
              </a:srgbClr>
            </a:outerShdw>
          </a:effectLst>
        </p:spPr>
      </p:sp>
      <p:pic>
        <p:nvPicPr>
          <p:cNvPr id="24" name="Picture 23"/>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90712" y="1058319"/>
            <a:ext cx="5663027" cy="3257647"/>
          </a:xfrm>
          <a:prstGeom prst="rect">
            <a:avLst/>
          </a:prstGeom>
          <a:noFill/>
          <a:ln>
            <a:noFill/>
          </a:ln>
        </p:spPr>
      </p:pic>
      <p:sp>
        <p:nvSpPr>
          <p:cNvPr id="8" name="TextBox 7"/>
          <p:cNvSpPr txBox="1"/>
          <p:nvPr/>
        </p:nvSpPr>
        <p:spPr>
          <a:xfrm>
            <a:off x="3637721" y="4392293"/>
            <a:ext cx="2524539" cy="369332"/>
          </a:xfrm>
          <a:prstGeom prst="rect">
            <a:avLst/>
          </a:prstGeom>
          <a:noFill/>
        </p:spPr>
        <p:txBody>
          <a:bodyPr wrap="square" rtlCol="0">
            <a:spAutoFit/>
          </a:bodyPr>
          <a:lstStyle/>
          <a:p>
            <a:pPr algn="just"/>
            <a:r>
              <a:rPr lang="en-US" b="1">
                <a:solidFill>
                  <a:schemeClr val="bg1"/>
                </a:solidFill>
              </a:rPr>
              <a:t>Figure 1: Home Page</a:t>
            </a:r>
            <a:endParaRPr lang="en-IN" b="1">
              <a:solidFill>
                <a:schemeClr val="bg1"/>
              </a:solidFill>
            </a:endParaRPr>
          </a:p>
        </p:txBody>
      </p:sp>
    </p:spTree>
    <p:extLst>
      <p:ext uri="{BB962C8B-B14F-4D97-AF65-F5344CB8AC3E}">
        <p14:creationId xmlns:p14="http://schemas.microsoft.com/office/powerpoint/2010/main" val="9387002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7" name="Shape 5"/>
          <p:cNvSpPr/>
          <p:nvPr/>
        </p:nvSpPr>
        <p:spPr>
          <a:xfrm>
            <a:off x="411480" y="308113"/>
            <a:ext cx="8321040" cy="4522303"/>
          </a:xfrm>
          <a:prstGeom prst="rect">
            <a:avLst/>
          </a:prstGeom>
          <a:solidFill>
            <a:srgbClr val="0D3270"/>
          </a:solidFill>
          <a:ln w="12700">
            <a:solidFill>
              <a:srgbClr val="0D3270"/>
            </a:solidFill>
            <a:prstDash val="solid"/>
          </a:ln>
          <a:effectLst>
            <a:outerShdw blurRad="101600" dist="38100" dir="8100000" algn="bl" rotWithShape="0">
              <a:srgbClr val="0D3270">
                <a:alpha val="13000"/>
              </a:srgbClr>
            </a:outerShdw>
          </a:effectLst>
        </p:spPr>
      </p:sp>
      <p:sp>
        <p:nvSpPr>
          <p:cNvPr id="8" name="TextBox 7"/>
          <p:cNvSpPr txBox="1"/>
          <p:nvPr/>
        </p:nvSpPr>
        <p:spPr>
          <a:xfrm>
            <a:off x="3170583" y="4115193"/>
            <a:ext cx="2922103" cy="369332"/>
          </a:xfrm>
          <a:prstGeom prst="rect">
            <a:avLst/>
          </a:prstGeom>
          <a:noFill/>
        </p:spPr>
        <p:txBody>
          <a:bodyPr wrap="square" rtlCol="0">
            <a:spAutoFit/>
          </a:bodyPr>
          <a:lstStyle/>
          <a:p>
            <a:pPr algn="just"/>
            <a:r>
              <a:rPr lang="en-US" b="1">
                <a:solidFill>
                  <a:schemeClr val="bg1"/>
                </a:solidFill>
              </a:rPr>
              <a:t>Figure 2: New User Sign-Up</a:t>
            </a:r>
            <a:endParaRPr lang="en-IN" b="1">
              <a:solidFill>
                <a:schemeClr val="bg1"/>
              </a:solidFill>
            </a:endParaRPr>
          </a:p>
        </p:txBody>
      </p:sp>
      <p:pic>
        <p:nvPicPr>
          <p:cNvPr id="10" name="Picture 9"/>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89652" y="467140"/>
            <a:ext cx="5834270" cy="3504532"/>
          </a:xfrm>
          <a:prstGeom prst="rect">
            <a:avLst/>
          </a:prstGeom>
          <a:noFill/>
          <a:ln>
            <a:noFill/>
          </a:ln>
        </p:spPr>
      </p:pic>
    </p:spTree>
    <p:extLst>
      <p:ext uri="{BB962C8B-B14F-4D97-AF65-F5344CB8AC3E}">
        <p14:creationId xmlns:p14="http://schemas.microsoft.com/office/powerpoint/2010/main" val="30590370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7" name="Shape 5"/>
          <p:cNvSpPr/>
          <p:nvPr/>
        </p:nvSpPr>
        <p:spPr>
          <a:xfrm>
            <a:off x="411480" y="308113"/>
            <a:ext cx="8321040" cy="4522303"/>
          </a:xfrm>
          <a:prstGeom prst="rect">
            <a:avLst/>
          </a:prstGeom>
          <a:solidFill>
            <a:srgbClr val="0D3270"/>
          </a:solidFill>
          <a:ln w="12700">
            <a:solidFill>
              <a:srgbClr val="0D3270"/>
            </a:solidFill>
            <a:prstDash val="solid"/>
          </a:ln>
          <a:effectLst>
            <a:outerShdw blurRad="101600" dist="38100" dir="8100000" algn="bl" rotWithShape="0">
              <a:srgbClr val="0D3270">
                <a:alpha val="13000"/>
              </a:srgbClr>
            </a:outerShdw>
          </a:effectLst>
        </p:spPr>
      </p:sp>
      <p:sp>
        <p:nvSpPr>
          <p:cNvPr id="8" name="TextBox 7"/>
          <p:cNvSpPr txBox="1"/>
          <p:nvPr/>
        </p:nvSpPr>
        <p:spPr>
          <a:xfrm>
            <a:off x="3021497" y="4115193"/>
            <a:ext cx="3071190" cy="369332"/>
          </a:xfrm>
          <a:prstGeom prst="rect">
            <a:avLst/>
          </a:prstGeom>
          <a:noFill/>
        </p:spPr>
        <p:txBody>
          <a:bodyPr wrap="square" rtlCol="0">
            <a:spAutoFit/>
          </a:bodyPr>
          <a:lstStyle/>
          <a:p>
            <a:pPr algn="just"/>
            <a:r>
              <a:rPr lang="en-US" b="1">
                <a:solidFill>
                  <a:schemeClr val="bg1"/>
                </a:solidFill>
              </a:rPr>
              <a:t>Figure 3: Enter Sign-Up Details</a:t>
            </a:r>
            <a:endParaRPr lang="en-IN" b="1">
              <a:solidFill>
                <a:schemeClr val="bg1"/>
              </a:solidFill>
            </a:endParaRPr>
          </a:p>
        </p:txBody>
      </p:sp>
      <p:pic>
        <p:nvPicPr>
          <p:cNvPr id="9" name="Picture 8"/>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79713" y="496957"/>
            <a:ext cx="5923721" cy="3481953"/>
          </a:xfrm>
          <a:prstGeom prst="rect">
            <a:avLst/>
          </a:prstGeom>
          <a:noFill/>
          <a:ln>
            <a:noFill/>
          </a:ln>
        </p:spPr>
      </p:pic>
    </p:spTree>
    <p:extLst>
      <p:ext uri="{BB962C8B-B14F-4D97-AF65-F5344CB8AC3E}">
        <p14:creationId xmlns:p14="http://schemas.microsoft.com/office/powerpoint/2010/main" val="37599736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7" name="Shape 5"/>
          <p:cNvSpPr/>
          <p:nvPr/>
        </p:nvSpPr>
        <p:spPr>
          <a:xfrm>
            <a:off x="411480" y="308113"/>
            <a:ext cx="8321040" cy="4522303"/>
          </a:xfrm>
          <a:prstGeom prst="rect">
            <a:avLst/>
          </a:prstGeom>
          <a:solidFill>
            <a:srgbClr val="0D3270"/>
          </a:solidFill>
          <a:ln w="12700">
            <a:solidFill>
              <a:srgbClr val="0D3270"/>
            </a:solidFill>
            <a:prstDash val="solid"/>
          </a:ln>
          <a:effectLst>
            <a:outerShdw blurRad="101600" dist="38100" dir="8100000" algn="bl" rotWithShape="0">
              <a:srgbClr val="0D3270">
                <a:alpha val="13000"/>
              </a:srgbClr>
            </a:outerShdw>
          </a:effectLst>
        </p:spPr>
      </p:sp>
      <p:sp>
        <p:nvSpPr>
          <p:cNvPr id="8" name="TextBox 7"/>
          <p:cNvSpPr txBox="1"/>
          <p:nvPr/>
        </p:nvSpPr>
        <p:spPr>
          <a:xfrm>
            <a:off x="3707297" y="4122431"/>
            <a:ext cx="3071190" cy="369332"/>
          </a:xfrm>
          <a:prstGeom prst="rect">
            <a:avLst/>
          </a:prstGeom>
          <a:noFill/>
        </p:spPr>
        <p:txBody>
          <a:bodyPr wrap="square" rtlCol="0">
            <a:spAutoFit/>
          </a:bodyPr>
          <a:lstStyle/>
          <a:p>
            <a:pPr algn="just"/>
            <a:r>
              <a:rPr lang="en-US" b="1">
                <a:solidFill>
                  <a:schemeClr val="bg1"/>
                </a:solidFill>
              </a:rPr>
              <a:t>Figure 4: User Login</a:t>
            </a:r>
            <a:endParaRPr lang="en-IN" b="1">
              <a:solidFill>
                <a:schemeClr val="bg1"/>
              </a:solidFill>
            </a:endParaRPr>
          </a:p>
        </p:txBody>
      </p:sp>
      <p:pic>
        <p:nvPicPr>
          <p:cNvPr id="10" name="Picture 9"/>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08922" y="496957"/>
            <a:ext cx="5565913" cy="3481953"/>
          </a:xfrm>
          <a:prstGeom prst="rect">
            <a:avLst/>
          </a:prstGeom>
          <a:noFill/>
          <a:ln>
            <a:noFill/>
          </a:ln>
        </p:spPr>
      </p:pic>
    </p:spTree>
    <p:extLst>
      <p:ext uri="{BB962C8B-B14F-4D97-AF65-F5344CB8AC3E}">
        <p14:creationId xmlns:p14="http://schemas.microsoft.com/office/powerpoint/2010/main" val="11248545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7" name="Shape 5"/>
          <p:cNvSpPr/>
          <p:nvPr/>
        </p:nvSpPr>
        <p:spPr>
          <a:xfrm>
            <a:off x="411480" y="308113"/>
            <a:ext cx="8321040" cy="4522303"/>
          </a:xfrm>
          <a:prstGeom prst="rect">
            <a:avLst/>
          </a:prstGeom>
          <a:solidFill>
            <a:srgbClr val="0D3270"/>
          </a:solidFill>
          <a:ln w="12700">
            <a:solidFill>
              <a:srgbClr val="0D3270"/>
            </a:solidFill>
            <a:prstDash val="solid"/>
          </a:ln>
          <a:effectLst>
            <a:outerShdw blurRad="101600" dist="38100" dir="8100000" algn="bl" rotWithShape="0">
              <a:srgbClr val="0D3270">
                <a:alpha val="13000"/>
              </a:srgbClr>
            </a:outerShdw>
          </a:effectLst>
        </p:spPr>
      </p:sp>
      <p:sp>
        <p:nvSpPr>
          <p:cNvPr id="8" name="TextBox 7"/>
          <p:cNvSpPr txBox="1"/>
          <p:nvPr/>
        </p:nvSpPr>
        <p:spPr>
          <a:xfrm>
            <a:off x="3260037" y="4122431"/>
            <a:ext cx="3071190" cy="369332"/>
          </a:xfrm>
          <a:prstGeom prst="rect">
            <a:avLst/>
          </a:prstGeom>
          <a:noFill/>
        </p:spPr>
        <p:txBody>
          <a:bodyPr wrap="square" rtlCol="0">
            <a:spAutoFit/>
          </a:bodyPr>
          <a:lstStyle/>
          <a:p>
            <a:pPr algn="just"/>
            <a:r>
              <a:rPr lang="en-US" b="1">
                <a:solidFill>
                  <a:schemeClr val="bg1"/>
                </a:solidFill>
              </a:rPr>
              <a:t>Figure 5: Welcome Page Login</a:t>
            </a:r>
            <a:endParaRPr lang="en-IN" b="1">
              <a:solidFill>
                <a:schemeClr val="bg1"/>
              </a:solidFill>
            </a:endParaRPr>
          </a:p>
        </p:txBody>
      </p:sp>
      <p:pic>
        <p:nvPicPr>
          <p:cNvPr id="9" name="Picture 8"/>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38739" y="477078"/>
            <a:ext cx="5536096" cy="3466907"/>
          </a:xfrm>
          <a:prstGeom prst="rect">
            <a:avLst/>
          </a:prstGeom>
          <a:noFill/>
          <a:ln>
            <a:noFill/>
          </a:ln>
        </p:spPr>
      </p:pic>
    </p:spTree>
    <p:extLst>
      <p:ext uri="{BB962C8B-B14F-4D97-AF65-F5344CB8AC3E}">
        <p14:creationId xmlns:p14="http://schemas.microsoft.com/office/powerpoint/2010/main" val="18340493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7" name="Shape 5"/>
          <p:cNvSpPr/>
          <p:nvPr/>
        </p:nvSpPr>
        <p:spPr>
          <a:xfrm>
            <a:off x="411480" y="308113"/>
            <a:ext cx="8321040" cy="4522303"/>
          </a:xfrm>
          <a:prstGeom prst="rect">
            <a:avLst/>
          </a:prstGeom>
          <a:solidFill>
            <a:srgbClr val="0D3270"/>
          </a:solidFill>
          <a:ln w="12700">
            <a:solidFill>
              <a:srgbClr val="0D3270"/>
            </a:solidFill>
            <a:prstDash val="solid"/>
          </a:ln>
          <a:effectLst>
            <a:outerShdw blurRad="101600" dist="38100" dir="8100000" algn="bl" rotWithShape="0">
              <a:srgbClr val="0D3270">
                <a:alpha val="13000"/>
              </a:srgbClr>
            </a:outerShdw>
          </a:effectLst>
        </p:spPr>
      </p:sp>
      <p:sp>
        <p:nvSpPr>
          <p:cNvPr id="8" name="TextBox 7"/>
          <p:cNvSpPr txBox="1"/>
          <p:nvPr/>
        </p:nvSpPr>
        <p:spPr>
          <a:xfrm>
            <a:off x="2802835" y="4159499"/>
            <a:ext cx="4084982" cy="369332"/>
          </a:xfrm>
          <a:prstGeom prst="rect">
            <a:avLst/>
          </a:prstGeom>
          <a:noFill/>
        </p:spPr>
        <p:txBody>
          <a:bodyPr wrap="square" rtlCol="0">
            <a:spAutoFit/>
          </a:bodyPr>
          <a:lstStyle/>
          <a:p>
            <a:pPr algn="just"/>
            <a:r>
              <a:rPr lang="en-US" b="1">
                <a:solidFill>
                  <a:schemeClr val="bg1"/>
                </a:solidFill>
              </a:rPr>
              <a:t>Figure 6: Upload and Detect Video Copy</a:t>
            </a:r>
            <a:endParaRPr lang="en-IN" b="1">
              <a:solidFill>
                <a:schemeClr val="bg1"/>
              </a:solidFill>
            </a:endParaRPr>
          </a:p>
        </p:txBody>
      </p:sp>
      <p:pic>
        <p:nvPicPr>
          <p:cNvPr id="10" name="Picture 9"/>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00809" y="496957"/>
            <a:ext cx="6261651" cy="3473698"/>
          </a:xfrm>
          <a:prstGeom prst="rect">
            <a:avLst/>
          </a:prstGeom>
          <a:noFill/>
          <a:ln>
            <a:noFill/>
          </a:ln>
        </p:spPr>
      </p:pic>
    </p:spTree>
    <p:extLst>
      <p:ext uri="{BB962C8B-B14F-4D97-AF65-F5344CB8AC3E}">
        <p14:creationId xmlns:p14="http://schemas.microsoft.com/office/powerpoint/2010/main" val="22698154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7" name="Shape 5"/>
          <p:cNvSpPr/>
          <p:nvPr/>
        </p:nvSpPr>
        <p:spPr>
          <a:xfrm>
            <a:off x="411480" y="308113"/>
            <a:ext cx="8321040" cy="4522303"/>
          </a:xfrm>
          <a:prstGeom prst="rect">
            <a:avLst/>
          </a:prstGeom>
          <a:solidFill>
            <a:srgbClr val="0D3270"/>
          </a:solidFill>
          <a:ln w="12700">
            <a:solidFill>
              <a:srgbClr val="0D3270"/>
            </a:solidFill>
            <a:prstDash val="solid"/>
          </a:ln>
          <a:effectLst>
            <a:outerShdw blurRad="101600" dist="38100" dir="8100000" algn="bl" rotWithShape="0">
              <a:srgbClr val="0D3270">
                <a:alpha val="13000"/>
              </a:srgbClr>
            </a:outerShdw>
          </a:effectLst>
        </p:spPr>
      </p:sp>
      <p:sp>
        <p:nvSpPr>
          <p:cNvPr id="8" name="TextBox 7"/>
          <p:cNvSpPr txBox="1"/>
          <p:nvPr/>
        </p:nvSpPr>
        <p:spPr>
          <a:xfrm>
            <a:off x="3309731" y="4159499"/>
            <a:ext cx="4084982" cy="369332"/>
          </a:xfrm>
          <a:prstGeom prst="rect">
            <a:avLst/>
          </a:prstGeom>
          <a:noFill/>
        </p:spPr>
        <p:txBody>
          <a:bodyPr wrap="square" rtlCol="0">
            <a:spAutoFit/>
          </a:bodyPr>
          <a:lstStyle/>
          <a:p>
            <a:pPr algn="just"/>
            <a:r>
              <a:rPr lang="en-US" b="1">
                <a:solidFill>
                  <a:schemeClr val="bg1"/>
                </a:solidFill>
              </a:rPr>
              <a:t>Figure 7: Uploading Video</a:t>
            </a:r>
            <a:endParaRPr lang="en-IN" b="1">
              <a:solidFill>
                <a:schemeClr val="bg1"/>
              </a:solidFill>
            </a:endParaRPr>
          </a:p>
        </p:txBody>
      </p:sp>
      <p:pic>
        <p:nvPicPr>
          <p:cNvPr id="9" name="Picture 8"/>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00200" y="467139"/>
            <a:ext cx="5963478" cy="3549236"/>
          </a:xfrm>
          <a:prstGeom prst="rect">
            <a:avLst/>
          </a:prstGeom>
          <a:noFill/>
          <a:ln>
            <a:noFill/>
          </a:ln>
        </p:spPr>
      </p:pic>
    </p:spTree>
    <p:extLst>
      <p:ext uri="{BB962C8B-B14F-4D97-AF65-F5344CB8AC3E}">
        <p14:creationId xmlns:p14="http://schemas.microsoft.com/office/powerpoint/2010/main" val="31100591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7" name="Shape 5"/>
          <p:cNvSpPr/>
          <p:nvPr/>
        </p:nvSpPr>
        <p:spPr>
          <a:xfrm>
            <a:off x="411480" y="308113"/>
            <a:ext cx="8321040" cy="4522303"/>
          </a:xfrm>
          <a:prstGeom prst="rect">
            <a:avLst/>
          </a:prstGeom>
          <a:solidFill>
            <a:srgbClr val="0D3270"/>
          </a:solidFill>
          <a:ln w="12700">
            <a:solidFill>
              <a:srgbClr val="0D3270"/>
            </a:solidFill>
            <a:prstDash val="solid"/>
          </a:ln>
          <a:effectLst>
            <a:outerShdw blurRad="101600" dist="38100" dir="8100000" algn="bl" rotWithShape="0">
              <a:srgbClr val="0D3270">
                <a:alpha val="13000"/>
              </a:srgbClr>
            </a:outerShdw>
          </a:effectLst>
        </p:spPr>
      </p:sp>
      <p:sp>
        <p:nvSpPr>
          <p:cNvPr id="8" name="TextBox 7"/>
          <p:cNvSpPr txBox="1"/>
          <p:nvPr/>
        </p:nvSpPr>
        <p:spPr>
          <a:xfrm>
            <a:off x="3458818" y="4159499"/>
            <a:ext cx="4084982" cy="369332"/>
          </a:xfrm>
          <a:prstGeom prst="rect">
            <a:avLst/>
          </a:prstGeom>
          <a:noFill/>
        </p:spPr>
        <p:txBody>
          <a:bodyPr wrap="square" rtlCol="0">
            <a:spAutoFit/>
          </a:bodyPr>
          <a:lstStyle/>
          <a:p>
            <a:pPr algn="just"/>
            <a:r>
              <a:rPr lang="en-US" b="1">
                <a:solidFill>
                  <a:schemeClr val="bg1"/>
                </a:solidFill>
              </a:rPr>
              <a:t>Figure 8: Unique or Copy</a:t>
            </a:r>
            <a:endParaRPr lang="en-IN" b="1">
              <a:solidFill>
                <a:schemeClr val="bg1"/>
              </a:solidFill>
            </a:endParaRPr>
          </a:p>
        </p:txBody>
      </p:sp>
      <p:pic>
        <p:nvPicPr>
          <p:cNvPr id="10" name="Picture 9"/>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50504" y="437323"/>
            <a:ext cx="6102626" cy="3594928"/>
          </a:xfrm>
          <a:prstGeom prst="rect">
            <a:avLst/>
          </a:prstGeom>
          <a:noFill/>
          <a:ln>
            <a:noFill/>
          </a:ln>
        </p:spPr>
      </p:pic>
    </p:spTree>
    <p:extLst>
      <p:ext uri="{BB962C8B-B14F-4D97-AF65-F5344CB8AC3E}">
        <p14:creationId xmlns:p14="http://schemas.microsoft.com/office/powerpoint/2010/main" val="28575123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7" name="Shape 5"/>
          <p:cNvSpPr/>
          <p:nvPr/>
        </p:nvSpPr>
        <p:spPr>
          <a:xfrm>
            <a:off x="411480" y="308113"/>
            <a:ext cx="8321040" cy="4522303"/>
          </a:xfrm>
          <a:prstGeom prst="rect">
            <a:avLst/>
          </a:prstGeom>
          <a:solidFill>
            <a:srgbClr val="0D3270"/>
          </a:solidFill>
          <a:ln w="12700">
            <a:solidFill>
              <a:srgbClr val="0D3270"/>
            </a:solidFill>
            <a:prstDash val="solid"/>
          </a:ln>
          <a:effectLst>
            <a:outerShdw blurRad="101600" dist="38100" dir="8100000" algn="bl" rotWithShape="0">
              <a:srgbClr val="0D3270">
                <a:alpha val="13000"/>
              </a:srgbClr>
            </a:outerShdw>
          </a:effectLst>
        </p:spPr>
      </p:sp>
      <p:sp>
        <p:nvSpPr>
          <p:cNvPr id="8" name="TextBox 7"/>
          <p:cNvSpPr txBox="1"/>
          <p:nvPr/>
        </p:nvSpPr>
        <p:spPr>
          <a:xfrm>
            <a:off x="3806688" y="4168858"/>
            <a:ext cx="4084982" cy="369332"/>
          </a:xfrm>
          <a:prstGeom prst="rect">
            <a:avLst/>
          </a:prstGeom>
          <a:noFill/>
        </p:spPr>
        <p:txBody>
          <a:bodyPr wrap="square" rtlCol="0">
            <a:spAutoFit/>
          </a:bodyPr>
          <a:lstStyle/>
          <a:p>
            <a:pPr algn="just"/>
            <a:r>
              <a:rPr lang="en-US" b="1">
                <a:solidFill>
                  <a:schemeClr val="bg1"/>
                </a:solidFill>
              </a:rPr>
              <a:t>Figure 9: Output</a:t>
            </a:r>
            <a:endParaRPr lang="en-IN" b="1">
              <a:solidFill>
                <a:schemeClr val="bg1"/>
              </a:solidFill>
            </a:endParaRPr>
          </a:p>
        </p:txBody>
      </p:sp>
      <p:pic>
        <p:nvPicPr>
          <p:cNvPr id="9" name="Picture 8"/>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40565" y="447261"/>
            <a:ext cx="5913783" cy="3582449"/>
          </a:xfrm>
          <a:prstGeom prst="rect">
            <a:avLst/>
          </a:prstGeom>
          <a:noFill/>
          <a:ln>
            <a:noFill/>
          </a:ln>
        </p:spPr>
      </p:pic>
    </p:spTree>
    <p:extLst>
      <p:ext uri="{BB962C8B-B14F-4D97-AF65-F5344CB8AC3E}">
        <p14:creationId xmlns:p14="http://schemas.microsoft.com/office/powerpoint/2010/main" val="18195185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7" name="Shape 5"/>
          <p:cNvSpPr/>
          <p:nvPr/>
        </p:nvSpPr>
        <p:spPr>
          <a:xfrm>
            <a:off x="411480" y="308113"/>
            <a:ext cx="8321040" cy="4522303"/>
          </a:xfrm>
          <a:prstGeom prst="rect">
            <a:avLst/>
          </a:prstGeom>
          <a:solidFill>
            <a:srgbClr val="0D3270"/>
          </a:solidFill>
          <a:ln w="12700">
            <a:solidFill>
              <a:srgbClr val="0D3270"/>
            </a:solidFill>
            <a:prstDash val="solid"/>
          </a:ln>
          <a:effectLst>
            <a:outerShdw blurRad="101600" dist="38100" dir="8100000" algn="bl" rotWithShape="0">
              <a:srgbClr val="0D3270">
                <a:alpha val="13000"/>
              </a:srgbClr>
            </a:outerShdw>
          </a:effectLst>
        </p:spPr>
      </p:sp>
      <p:sp>
        <p:nvSpPr>
          <p:cNvPr id="8" name="TextBox 7"/>
          <p:cNvSpPr txBox="1"/>
          <p:nvPr/>
        </p:nvSpPr>
        <p:spPr>
          <a:xfrm>
            <a:off x="2484783" y="4215787"/>
            <a:ext cx="4701209" cy="369332"/>
          </a:xfrm>
          <a:prstGeom prst="rect">
            <a:avLst/>
          </a:prstGeom>
          <a:noFill/>
        </p:spPr>
        <p:txBody>
          <a:bodyPr wrap="square" rtlCol="0">
            <a:spAutoFit/>
          </a:bodyPr>
          <a:lstStyle/>
          <a:p>
            <a:pPr algn="just"/>
            <a:r>
              <a:rPr lang="en-US" b="1">
                <a:solidFill>
                  <a:schemeClr val="bg1"/>
                </a:solidFill>
              </a:rPr>
              <a:t>Figure 10: Checking and Downloading Video </a:t>
            </a:r>
            <a:endParaRPr lang="en-IN" b="1">
              <a:solidFill>
                <a:schemeClr val="bg1"/>
              </a:solidFill>
            </a:endParaRPr>
          </a:p>
        </p:txBody>
      </p:sp>
      <p:pic>
        <p:nvPicPr>
          <p:cNvPr id="10" name="Picture 9"/>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51114" y="427383"/>
            <a:ext cx="6202016" cy="3628997"/>
          </a:xfrm>
          <a:prstGeom prst="rect">
            <a:avLst/>
          </a:prstGeom>
          <a:noFill/>
          <a:ln>
            <a:noFill/>
          </a:ln>
        </p:spPr>
      </p:pic>
    </p:spTree>
    <p:extLst>
      <p:ext uri="{BB962C8B-B14F-4D97-AF65-F5344CB8AC3E}">
        <p14:creationId xmlns:p14="http://schemas.microsoft.com/office/powerpoint/2010/main" val="23579141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5" name="Shape 3"/>
          <p:cNvSpPr/>
          <p:nvPr/>
        </p:nvSpPr>
        <p:spPr>
          <a:xfrm>
            <a:off x="411480" y="256032"/>
            <a:ext cx="8321040" cy="658368"/>
          </a:xfrm>
          <a:prstGeom prst="rect">
            <a:avLst/>
          </a:prstGeom>
          <a:solidFill>
            <a:srgbClr val="1565C0"/>
          </a:solidFill>
          <a:ln w="12700">
            <a:solidFill>
              <a:srgbClr val="1565C0"/>
            </a:solidFill>
            <a:prstDash val="solid"/>
          </a:ln>
          <a:effectLst>
            <a:outerShdw blurRad="101600" dist="38100" dir="8100000" algn="bl" rotWithShape="0">
              <a:srgbClr val="0D3270">
                <a:alpha val="13000"/>
              </a:srgbClr>
            </a:outerShdw>
          </a:effectLst>
        </p:spPr>
      </p:sp>
      <p:sp>
        <p:nvSpPr>
          <p:cNvPr id="6" name="Text 4"/>
          <p:cNvSpPr/>
          <p:nvPr/>
        </p:nvSpPr>
        <p:spPr>
          <a:xfrm>
            <a:off x="411480" y="256032"/>
            <a:ext cx="8321040" cy="658368"/>
          </a:xfrm>
          <a:prstGeom prst="rect">
            <a:avLst/>
          </a:prstGeom>
          <a:noFill/>
          <a:ln/>
        </p:spPr>
        <p:txBody>
          <a:bodyPr wrap="square" lIns="0" tIns="0" rIns="0" bIns="0" rtlCol="0" anchor="ctr"/>
          <a:lstStyle/>
          <a:p>
            <a:pPr marL="0" indent="0" algn="ctr">
              <a:buNone/>
            </a:pPr>
            <a:r>
              <a:rPr lang="en-US" sz="2200" b="1" dirty="0">
                <a:solidFill>
                  <a:srgbClr val="FFFFFF"/>
                </a:solidFill>
              </a:rPr>
              <a:t>Previous Papers</a:t>
            </a:r>
            <a:endParaRPr lang="en-US" sz="2200" dirty="0"/>
          </a:p>
        </p:txBody>
      </p:sp>
      <p:sp>
        <p:nvSpPr>
          <p:cNvPr id="7" name="Shape 5"/>
          <p:cNvSpPr/>
          <p:nvPr/>
        </p:nvSpPr>
        <p:spPr>
          <a:xfrm>
            <a:off x="411480" y="1143000"/>
            <a:ext cx="8321040" cy="3566160"/>
          </a:xfrm>
          <a:prstGeom prst="rect">
            <a:avLst/>
          </a:prstGeom>
          <a:solidFill>
            <a:srgbClr val="0D3270"/>
          </a:solidFill>
          <a:ln w="12700">
            <a:solidFill>
              <a:srgbClr val="0D3270"/>
            </a:solidFill>
            <a:prstDash val="solid"/>
          </a:ln>
          <a:effectLst>
            <a:outerShdw blurRad="101600" dist="38100" dir="8100000" algn="bl" rotWithShape="0">
              <a:srgbClr val="0D3270">
                <a:alpha val="13000"/>
              </a:srgbClr>
            </a:outerShdw>
          </a:effectLst>
        </p:spPr>
      </p:sp>
      <p:sp>
        <p:nvSpPr>
          <p:cNvPr id="10" name="Shape 8"/>
          <p:cNvSpPr/>
          <p:nvPr/>
        </p:nvSpPr>
        <p:spPr>
          <a:xfrm>
            <a:off x="1561437" y="1235533"/>
            <a:ext cx="6971306" cy="591577"/>
          </a:xfrm>
          <a:prstGeom prst="rect">
            <a:avLst/>
          </a:prstGeom>
          <a:solidFill>
            <a:srgbClr val="091E40"/>
          </a:solidFill>
          <a:ln w="6350">
            <a:solidFill>
              <a:srgbClr val="1565C0"/>
            </a:solidFill>
            <a:prstDash val="solid"/>
          </a:ln>
        </p:spPr>
      </p:sp>
      <p:sp>
        <p:nvSpPr>
          <p:cNvPr id="29" name="Rounded Rectangle 28"/>
          <p:cNvSpPr/>
          <p:nvPr/>
        </p:nvSpPr>
        <p:spPr>
          <a:xfrm>
            <a:off x="695737" y="1940516"/>
            <a:ext cx="745435" cy="550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2017</a:t>
            </a:r>
            <a:endParaRPr lang="en-IN" dirty="0"/>
          </a:p>
        </p:txBody>
      </p:sp>
      <p:sp>
        <p:nvSpPr>
          <p:cNvPr id="30" name="Rounded Rectangle 29"/>
          <p:cNvSpPr/>
          <p:nvPr/>
        </p:nvSpPr>
        <p:spPr>
          <a:xfrm>
            <a:off x="695141" y="2584472"/>
            <a:ext cx="745435" cy="550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2017</a:t>
            </a:r>
            <a:endParaRPr lang="en-IN" dirty="0"/>
          </a:p>
        </p:txBody>
      </p:sp>
      <p:sp>
        <p:nvSpPr>
          <p:cNvPr id="31" name="Rounded Rectangle 30"/>
          <p:cNvSpPr/>
          <p:nvPr/>
        </p:nvSpPr>
        <p:spPr>
          <a:xfrm>
            <a:off x="695140" y="3256009"/>
            <a:ext cx="745435" cy="550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2017</a:t>
            </a:r>
            <a:endParaRPr lang="en-IN" dirty="0"/>
          </a:p>
        </p:txBody>
      </p:sp>
      <p:sp>
        <p:nvSpPr>
          <p:cNvPr id="32" name="Rounded Rectangle 31"/>
          <p:cNvSpPr/>
          <p:nvPr/>
        </p:nvSpPr>
        <p:spPr>
          <a:xfrm>
            <a:off x="695738" y="3899965"/>
            <a:ext cx="745435" cy="5502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2017</a:t>
            </a:r>
            <a:endParaRPr lang="en-IN" dirty="0"/>
          </a:p>
        </p:txBody>
      </p:sp>
      <p:sp>
        <p:nvSpPr>
          <p:cNvPr id="33" name="Shape 8"/>
          <p:cNvSpPr/>
          <p:nvPr/>
        </p:nvSpPr>
        <p:spPr>
          <a:xfrm>
            <a:off x="1560842" y="1896683"/>
            <a:ext cx="6971306" cy="591577"/>
          </a:xfrm>
          <a:prstGeom prst="rect">
            <a:avLst/>
          </a:prstGeom>
          <a:solidFill>
            <a:srgbClr val="091E40"/>
          </a:solidFill>
          <a:ln w="6350">
            <a:solidFill>
              <a:srgbClr val="1565C0"/>
            </a:solidFill>
            <a:prstDash val="solid"/>
          </a:ln>
        </p:spPr>
      </p:sp>
      <p:sp>
        <p:nvSpPr>
          <p:cNvPr id="34" name="Shape 8"/>
          <p:cNvSpPr/>
          <p:nvPr/>
        </p:nvSpPr>
        <p:spPr>
          <a:xfrm>
            <a:off x="1561437" y="2542579"/>
            <a:ext cx="6971306" cy="591577"/>
          </a:xfrm>
          <a:prstGeom prst="rect">
            <a:avLst/>
          </a:prstGeom>
          <a:solidFill>
            <a:srgbClr val="091E40"/>
          </a:solidFill>
          <a:ln w="6350">
            <a:solidFill>
              <a:srgbClr val="1565C0"/>
            </a:solidFill>
            <a:prstDash val="solid"/>
          </a:ln>
        </p:spPr>
      </p:sp>
      <p:sp>
        <p:nvSpPr>
          <p:cNvPr id="35" name="Shape 8"/>
          <p:cNvSpPr/>
          <p:nvPr/>
        </p:nvSpPr>
        <p:spPr>
          <a:xfrm>
            <a:off x="1560842" y="3214662"/>
            <a:ext cx="6971306" cy="591577"/>
          </a:xfrm>
          <a:prstGeom prst="rect">
            <a:avLst/>
          </a:prstGeom>
          <a:solidFill>
            <a:srgbClr val="091E40"/>
          </a:solidFill>
          <a:ln w="6350">
            <a:solidFill>
              <a:srgbClr val="1565C0"/>
            </a:solidFill>
            <a:prstDash val="solid"/>
          </a:ln>
        </p:spPr>
      </p:sp>
      <p:sp>
        <p:nvSpPr>
          <p:cNvPr id="36" name="Shape 8"/>
          <p:cNvSpPr/>
          <p:nvPr/>
        </p:nvSpPr>
        <p:spPr>
          <a:xfrm>
            <a:off x="1560842" y="3882622"/>
            <a:ext cx="6971306" cy="591577"/>
          </a:xfrm>
          <a:prstGeom prst="rect">
            <a:avLst/>
          </a:prstGeom>
          <a:solidFill>
            <a:srgbClr val="091E40"/>
          </a:solidFill>
          <a:ln w="6350">
            <a:solidFill>
              <a:srgbClr val="1565C0"/>
            </a:solidFill>
            <a:prstDash val="solid"/>
          </a:ln>
        </p:spPr>
      </p:sp>
      <p:sp>
        <p:nvSpPr>
          <p:cNvPr id="37" name="TextBox 36"/>
          <p:cNvSpPr txBox="1"/>
          <p:nvPr/>
        </p:nvSpPr>
        <p:spPr>
          <a:xfrm>
            <a:off x="1554977" y="1178925"/>
            <a:ext cx="6975679" cy="677108"/>
          </a:xfrm>
          <a:prstGeom prst="rect">
            <a:avLst/>
          </a:prstGeom>
          <a:noFill/>
        </p:spPr>
        <p:txBody>
          <a:bodyPr wrap="square" rtlCol="0">
            <a:spAutoFit/>
          </a:bodyPr>
          <a:lstStyle/>
          <a:p>
            <a:r>
              <a:rPr lang="en-IN" sz="1400" b="1" dirty="0">
                <a:solidFill>
                  <a:schemeClr val="bg1"/>
                </a:solidFill>
              </a:rPr>
              <a:t>H. Zhang, W. </a:t>
            </a:r>
            <a:r>
              <a:rPr lang="en-IN" sz="1400" b="1" dirty="0" err="1">
                <a:solidFill>
                  <a:schemeClr val="bg1"/>
                </a:solidFill>
              </a:rPr>
              <a:t>Quan</a:t>
            </a:r>
            <a:r>
              <a:rPr lang="en-IN" sz="1400" b="1" dirty="0">
                <a:solidFill>
                  <a:schemeClr val="bg1"/>
                </a:solidFill>
              </a:rPr>
              <a:t> , H.-C. Chao, and C. </a:t>
            </a:r>
            <a:r>
              <a:rPr lang="en-IN" sz="1400" b="1" dirty="0" err="1">
                <a:solidFill>
                  <a:schemeClr val="bg1"/>
                </a:solidFill>
              </a:rPr>
              <a:t>Qiao</a:t>
            </a:r>
            <a:r>
              <a:rPr lang="en-IN" sz="1400" b="1" dirty="0">
                <a:solidFill>
                  <a:schemeClr val="bg1"/>
                </a:solidFill>
              </a:rPr>
              <a:t> </a:t>
            </a:r>
          </a:p>
          <a:p>
            <a:r>
              <a:rPr lang="en-IN" sz="1200" dirty="0">
                <a:solidFill>
                  <a:schemeClr val="bg1"/>
                </a:solidFill>
              </a:rPr>
              <a:t>“Smart identifier network: A collaborative architecture for the future internet,” IEEE Network, vol. 30, no. 3, pp. 46–51, 2016. </a:t>
            </a:r>
          </a:p>
        </p:txBody>
      </p:sp>
      <p:sp>
        <p:nvSpPr>
          <p:cNvPr id="28" name="TextBox 27"/>
          <p:cNvSpPr txBox="1"/>
          <p:nvPr/>
        </p:nvSpPr>
        <p:spPr>
          <a:xfrm>
            <a:off x="1556468" y="2029081"/>
            <a:ext cx="6806813" cy="461665"/>
          </a:xfrm>
          <a:prstGeom prst="rect">
            <a:avLst/>
          </a:prstGeom>
          <a:noFill/>
        </p:spPr>
        <p:txBody>
          <a:bodyPr wrap="square" rtlCol="0">
            <a:spAutoFit/>
          </a:bodyPr>
          <a:lstStyle/>
          <a:p>
            <a:r>
              <a:rPr lang="en-IN" sz="1200" dirty="0">
                <a:solidFill>
                  <a:schemeClr val="bg1"/>
                </a:solidFill>
              </a:rPr>
              <a:t>“Enhancing crowd collaborations for software defined vehicular networks,” IEEE Communications Magazine, vol. 55, no. 8, pp. 80–86, 2017. </a:t>
            </a:r>
          </a:p>
        </p:txBody>
      </p:sp>
      <p:sp>
        <p:nvSpPr>
          <p:cNvPr id="12" name="Text 10"/>
          <p:cNvSpPr/>
          <p:nvPr/>
        </p:nvSpPr>
        <p:spPr>
          <a:xfrm>
            <a:off x="1561437" y="1822238"/>
            <a:ext cx="3285479" cy="365760"/>
          </a:xfrm>
          <a:prstGeom prst="rect">
            <a:avLst/>
          </a:prstGeom>
          <a:noFill/>
          <a:ln/>
        </p:spPr>
        <p:txBody>
          <a:bodyPr wrap="square" rtlCol="0" anchor="ctr"/>
          <a:lstStyle/>
          <a:p>
            <a:r>
              <a:rPr lang="en-US" sz="1400" b="1" dirty="0">
                <a:solidFill>
                  <a:schemeClr val="bg1"/>
                </a:solidFill>
              </a:rPr>
              <a:t>W. </a:t>
            </a:r>
            <a:r>
              <a:rPr lang="en-US" sz="1400" b="1" dirty="0" err="1">
                <a:solidFill>
                  <a:schemeClr val="bg1"/>
                </a:solidFill>
              </a:rPr>
              <a:t>Quan</a:t>
            </a:r>
            <a:r>
              <a:rPr lang="en-US" sz="1400" b="1" dirty="0">
                <a:solidFill>
                  <a:schemeClr val="bg1"/>
                </a:solidFill>
              </a:rPr>
              <a:t>, Y. Liu, H. Zhang, and S. Yu</a:t>
            </a:r>
          </a:p>
        </p:txBody>
      </p:sp>
      <p:sp>
        <p:nvSpPr>
          <p:cNvPr id="38" name="Rounded Rectangle 37"/>
          <p:cNvSpPr/>
          <p:nvPr/>
        </p:nvSpPr>
        <p:spPr>
          <a:xfrm>
            <a:off x="695140" y="1300312"/>
            <a:ext cx="745435" cy="5151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2016</a:t>
            </a:r>
            <a:endParaRPr lang="en-IN" dirty="0"/>
          </a:p>
        </p:txBody>
      </p:sp>
      <p:sp>
        <p:nvSpPr>
          <p:cNvPr id="39" name="TextBox 38"/>
          <p:cNvSpPr txBox="1"/>
          <p:nvPr/>
        </p:nvSpPr>
        <p:spPr>
          <a:xfrm>
            <a:off x="1554977" y="2492084"/>
            <a:ext cx="6808304" cy="677108"/>
          </a:xfrm>
          <a:prstGeom prst="rect">
            <a:avLst/>
          </a:prstGeom>
          <a:noFill/>
        </p:spPr>
        <p:txBody>
          <a:bodyPr wrap="square" rtlCol="0">
            <a:spAutoFit/>
          </a:bodyPr>
          <a:lstStyle/>
          <a:p>
            <a:r>
              <a:rPr lang="en-US" sz="1400" b="1" dirty="0">
                <a:solidFill>
                  <a:schemeClr val="bg1"/>
                </a:solidFill>
              </a:rPr>
              <a:t>C. Yuan, Z. Xia, and X. Sun</a:t>
            </a:r>
          </a:p>
          <a:p>
            <a:r>
              <a:rPr lang="en-US" sz="1050" dirty="0">
                <a:solidFill>
                  <a:schemeClr val="bg1"/>
                </a:solidFill>
              </a:rPr>
              <a:t> </a:t>
            </a:r>
            <a:r>
              <a:rPr lang="en-US" sz="1200" dirty="0">
                <a:solidFill>
                  <a:schemeClr val="bg1"/>
                </a:solidFill>
              </a:rPr>
              <a:t>“Coverless image steganography based on SIFT and BOF,” Journal of Internet Technology, vol. 18, no. 2, pp. 209–216, 2017. </a:t>
            </a:r>
            <a:endParaRPr lang="en-IN" sz="1200" dirty="0">
              <a:solidFill>
                <a:schemeClr val="bg1"/>
              </a:solidFill>
            </a:endParaRPr>
          </a:p>
        </p:txBody>
      </p:sp>
      <p:sp>
        <p:nvSpPr>
          <p:cNvPr id="40" name="TextBox 39"/>
          <p:cNvSpPr txBox="1"/>
          <p:nvPr/>
        </p:nvSpPr>
        <p:spPr>
          <a:xfrm>
            <a:off x="1554380" y="3166602"/>
            <a:ext cx="6801844" cy="677108"/>
          </a:xfrm>
          <a:prstGeom prst="rect">
            <a:avLst/>
          </a:prstGeom>
          <a:noFill/>
        </p:spPr>
        <p:txBody>
          <a:bodyPr wrap="square" rtlCol="0">
            <a:spAutoFit/>
          </a:bodyPr>
          <a:lstStyle/>
          <a:p>
            <a:r>
              <a:rPr lang="en-IN" sz="1400" b="1" dirty="0">
                <a:solidFill>
                  <a:schemeClr val="bg1"/>
                </a:solidFill>
              </a:rPr>
              <a:t>F. Song, Z. Ai, J. Li et al.</a:t>
            </a:r>
          </a:p>
          <a:p>
            <a:r>
              <a:rPr lang="en-IN" sz="1200" dirty="0">
                <a:solidFill>
                  <a:schemeClr val="bg1"/>
                </a:solidFill>
              </a:rPr>
              <a:t>“Smart Collaborative Caching for Information-Centric </a:t>
            </a:r>
            <a:r>
              <a:rPr lang="en-IN" sz="1200" dirty="0" err="1">
                <a:solidFill>
                  <a:schemeClr val="bg1"/>
                </a:solidFill>
              </a:rPr>
              <a:t>IoT</a:t>
            </a:r>
            <a:r>
              <a:rPr lang="en-IN" sz="1200" dirty="0">
                <a:solidFill>
                  <a:schemeClr val="bg1"/>
                </a:solidFill>
              </a:rPr>
              <a:t> in Fog Computing,” Sensors, vol. 17, no. 11, p. 2512, 2017.</a:t>
            </a:r>
          </a:p>
        </p:txBody>
      </p:sp>
      <p:sp>
        <p:nvSpPr>
          <p:cNvPr id="41" name="TextBox 40"/>
          <p:cNvSpPr txBox="1"/>
          <p:nvPr/>
        </p:nvSpPr>
        <p:spPr>
          <a:xfrm>
            <a:off x="1561437" y="3850712"/>
            <a:ext cx="7090380" cy="677108"/>
          </a:xfrm>
          <a:prstGeom prst="rect">
            <a:avLst/>
          </a:prstGeom>
          <a:noFill/>
        </p:spPr>
        <p:txBody>
          <a:bodyPr wrap="square" rtlCol="0">
            <a:spAutoFit/>
          </a:bodyPr>
          <a:lstStyle/>
          <a:p>
            <a:r>
              <a:rPr lang="en-IN" sz="1400" b="1" dirty="0">
                <a:solidFill>
                  <a:schemeClr val="bg1"/>
                </a:solidFill>
              </a:rPr>
              <a:t>J. Li, W. Yao, Y. Zhang, H. L. Qian, and J. G. Han</a:t>
            </a:r>
          </a:p>
          <a:p>
            <a:r>
              <a:rPr lang="en-IN" sz="1050" dirty="0">
                <a:solidFill>
                  <a:schemeClr val="bg1"/>
                </a:solidFill>
              </a:rPr>
              <a:t> </a:t>
            </a:r>
            <a:r>
              <a:rPr lang="en-IN" sz="1200" dirty="0">
                <a:solidFill>
                  <a:schemeClr val="bg1"/>
                </a:solidFill>
              </a:rPr>
              <a:t>“Flexible and fine-grained attribute-based data storage in cloud computing,” IEEE Transactions on Services Computing, vol. 10, no. 5, pp. 785– 796, 2017.</a:t>
            </a:r>
          </a:p>
        </p:txBody>
      </p:sp>
    </p:spTree>
    <p:extLst>
      <p:ext uri="{BB962C8B-B14F-4D97-AF65-F5344CB8AC3E}">
        <p14:creationId xmlns:p14="http://schemas.microsoft.com/office/powerpoint/2010/main" val="20086678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5" name="Shape 3"/>
          <p:cNvSpPr/>
          <p:nvPr/>
        </p:nvSpPr>
        <p:spPr>
          <a:xfrm>
            <a:off x="388123" y="233372"/>
            <a:ext cx="8367754" cy="658368"/>
          </a:xfrm>
          <a:prstGeom prst="rect">
            <a:avLst/>
          </a:prstGeom>
          <a:solidFill>
            <a:srgbClr val="1565C0"/>
          </a:solidFill>
          <a:ln w="12700">
            <a:solidFill>
              <a:srgbClr val="1565C0"/>
            </a:solidFill>
            <a:prstDash val="solid"/>
          </a:ln>
          <a:effectLst>
            <a:outerShdw blurRad="101600" dist="38100" dir="8100000" algn="bl" rotWithShape="0">
              <a:srgbClr val="0D3270">
                <a:alpha val="13000"/>
              </a:srgbClr>
            </a:outerShdw>
          </a:effectLst>
        </p:spPr>
      </p:sp>
      <p:sp>
        <p:nvSpPr>
          <p:cNvPr id="6" name="Text 4"/>
          <p:cNvSpPr/>
          <p:nvPr/>
        </p:nvSpPr>
        <p:spPr>
          <a:xfrm>
            <a:off x="341409" y="196797"/>
            <a:ext cx="8321040" cy="658368"/>
          </a:xfrm>
          <a:prstGeom prst="rect">
            <a:avLst/>
          </a:prstGeom>
          <a:noFill/>
          <a:ln/>
        </p:spPr>
        <p:txBody>
          <a:bodyPr wrap="square" lIns="0" tIns="0" rIns="0" bIns="0" rtlCol="0" anchor="ctr"/>
          <a:lstStyle/>
          <a:p>
            <a:pPr marL="0" indent="0" algn="ctr">
              <a:buNone/>
            </a:pPr>
            <a:r>
              <a:rPr lang="en-US" sz="2200" b="1" dirty="0">
                <a:solidFill>
                  <a:srgbClr val="FFFFFF"/>
                </a:solidFill>
              </a:rPr>
              <a:t>Future Enhancement</a:t>
            </a:r>
            <a:endParaRPr lang="en-US" sz="2200" dirty="0"/>
          </a:p>
        </p:txBody>
      </p:sp>
      <p:sp>
        <p:nvSpPr>
          <p:cNvPr id="7" name="Shape 5"/>
          <p:cNvSpPr/>
          <p:nvPr/>
        </p:nvSpPr>
        <p:spPr>
          <a:xfrm>
            <a:off x="411480" y="1051560"/>
            <a:ext cx="164592" cy="3566160"/>
          </a:xfrm>
          <a:prstGeom prst="rect">
            <a:avLst/>
          </a:prstGeom>
          <a:solidFill>
            <a:srgbClr val="1E88E5"/>
          </a:solidFill>
          <a:ln w="12700">
            <a:solidFill>
              <a:srgbClr val="1E88E5"/>
            </a:solidFill>
            <a:prstDash val="solid"/>
          </a:ln>
        </p:spPr>
      </p:sp>
      <p:sp>
        <p:nvSpPr>
          <p:cNvPr id="8" name="Shape 6"/>
          <p:cNvSpPr/>
          <p:nvPr/>
        </p:nvSpPr>
        <p:spPr>
          <a:xfrm>
            <a:off x="364766" y="960520"/>
            <a:ext cx="8367754" cy="3945431"/>
          </a:xfrm>
          <a:prstGeom prst="rect">
            <a:avLst/>
          </a:prstGeom>
          <a:solidFill>
            <a:srgbClr val="F0F6FF"/>
          </a:solidFill>
          <a:ln w="12700">
            <a:solidFill>
              <a:srgbClr val="E3F0FF"/>
            </a:solidFill>
            <a:prstDash val="solid"/>
          </a:ln>
        </p:spPr>
      </p:sp>
      <p:sp>
        <p:nvSpPr>
          <p:cNvPr id="9" name="Text 7"/>
          <p:cNvSpPr/>
          <p:nvPr/>
        </p:nvSpPr>
        <p:spPr>
          <a:xfrm>
            <a:off x="341409" y="960125"/>
            <a:ext cx="8414468" cy="4014211"/>
          </a:xfrm>
          <a:prstGeom prst="rect">
            <a:avLst/>
          </a:prstGeom>
          <a:noFill/>
          <a:ln/>
        </p:spPr>
        <p:txBody>
          <a:bodyPr wrap="square" rtlCol="0" anchor="t"/>
          <a:lstStyle/>
          <a:p>
            <a:pPr algn="just"/>
            <a:r>
              <a:rPr lang="en-US" sz="1600" dirty="0">
                <a:solidFill>
                  <a:schemeClr val="accent1">
                    <a:lumMod val="50000"/>
                  </a:schemeClr>
                </a:solidFill>
              </a:rPr>
              <a:t>While the proposed system demonstrates strong capabilities in secure video copy detection, there are several avenues for further improvement and expansion. Future work could focus on optimizing the computational efficiency of homomorphic encryption operations, which currently impose significant overhead on processing times. Research into lightweight or approximate homomorphic encryption schemes may help balance security with real-time performance demands.</a:t>
            </a:r>
            <a:r>
              <a:rPr lang="en-IN" sz="1600" dirty="0">
                <a:solidFill>
                  <a:schemeClr val="accent1">
                    <a:lumMod val="50000"/>
                  </a:schemeClr>
                </a:solidFill>
              </a:rPr>
              <a:t> </a:t>
            </a:r>
            <a:r>
              <a:rPr lang="en-US" sz="1600" dirty="0">
                <a:solidFill>
                  <a:schemeClr val="accent1">
                    <a:lumMod val="50000"/>
                  </a:schemeClr>
                </a:solidFill>
              </a:rPr>
              <a:t>Another promising direction is the integration of advanced machine learning models, such as transformer-based architectures or graph neural networks, to enhance the extraction of more discriminative and compact features from multi-view videos. This could improve detection accuracy, especially for heavily edited or manipulated video content. Expanding the system to support other types of multimedia, such as audio or 3D point cloud data, would broaden its applicability across diverse content types in cloud storage. Additionally, exploring federated learning frameworks combined with homomorphic encryption could enable decentralized, privacy-preserving collaborative copy detection across multiple organizations or cloud providers.</a:t>
            </a:r>
            <a:r>
              <a:rPr lang="en-IN" sz="1600" dirty="0">
                <a:solidFill>
                  <a:schemeClr val="accent1">
                    <a:lumMod val="50000"/>
                  </a:schemeClr>
                </a:solidFill>
              </a:rPr>
              <a:t> </a:t>
            </a:r>
            <a:r>
              <a:rPr lang="en-US" sz="1600" dirty="0">
                <a:solidFill>
                  <a:schemeClr val="accent1">
                    <a:lumMod val="50000"/>
                  </a:schemeClr>
                </a:solidFill>
              </a:rPr>
              <a:t>Finally, implementing adaptive </a:t>
            </a:r>
            <a:r>
              <a:rPr lang="en-US" sz="1600" dirty="0" err="1">
                <a:solidFill>
                  <a:schemeClr val="accent1">
                    <a:lumMod val="50000"/>
                  </a:schemeClr>
                </a:solidFill>
              </a:rPr>
              <a:t>thresholding</a:t>
            </a:r>
            <a:r>
              <a:rPr lang="en-US" sz="1600" dirty="0">
                <a:solidFill>
                  <a:schemeClr val="accent1">
                    <a:lumMod val="50000"/>
                  </a:schemeClr>
                </a:solidFill>
              </a:rPr>
              <a:t> and automated alert prioritization based on confidence scores could improve the system’s usability for content owners, helping to reduce false positives and focus resources on the most critical detections. </a:t>
            </a:r>
            <a:endParaRPr lang="en-US" sz="1500" b="1" dirty="0">
              <a:solidFill>
                <a:schemeClr val="accent1">
                  <a:lumMod val="50000"/>
                </a:schemeClr>
              </a:solidFill>
            </a:endParaRPr>
          </a:p>
        </p:txBody>
      </p:sp>
    </p:spTree>
    <p:extLst>
      <p:ext uri="{BB962C8B-B14F-4D97-AF65-F5344CB8AC3E}">
        <p14:creationId xmlns:p14="http://schemas.microsoft.com/office/powerpoint/2010/main" val="1087809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E88E5"/>
          </a:solidFill>
          <a:ln w="12700">
            <a:solidFill>
              <a:srgbClr val="1E88E5"/>
            </a:solidFill>
            <a:prstDash val="solid"/>
          </a:ln>
        </p:spPr>
      </p:sp>
      <p:sp>
        <p:nvSpPr>
          <p:cNvPr id="3" name="Shape 1"/>
          <p:cNvSpPr/>
          <p:nvPr/>
        </p:nvSpPr>
        <p:spPr>
          <a:xfrm>
            <a:off x="0" y="4974336"/>
            <a:ext cx="9144000" cy="169164"/>
          </a:xfrm>
          <a:prstGeom prst="rect">
            <a:avLst/>
          </a:prstGeom>
          <a:solidFill>
            <a:srgbClr val="0D3270"/>
          </a:solidFill>
          <a:ln w="12700">
            <a:solidFill>
              <a:srgbClr val="0D3270"/>
            </a:solidFill>
            <a:prstDash val="solid"/>
          </a:ln>
        </p:spPr>
      </p:sp>
      <p:sp>
        <p:nvSpPr>
          <p:cNvPr id="4" name="Text 2"/>
          <p:cNvSpPr/>
          <p:nvPr/>
        </p:nvSpPr>
        <p:spPr>
          <a:xfrm>
            <a:off x="274320" y="4974336"/>
            <a:ext cx="6400800" cy="169164"/>
          </a:xfrm>
          <a:prstGeom prst="rect">
            <a:avLst/>
          </a:prstGeom>
          <a:noFill/>
          <a:ln/>
        </p:spPr>
        <p:txBody>
          <a:bodyPr wrap="square" rtlCol="0" anchor="ctr"/>
          <a:lstStyle/>
          <a:p>
            <a:pPr marL="0" indent="0">
              <a:buNone/>
            </a:pPr>
            <a:r>
              <a:rPr lang="en-US" sz="800" dirty="0">
                <a:solidFill>
                  <a:srgbClr val="E3F0FF"/>
                </a:solidFill>
              </a:rPr>
              <a:t>Homomorphic Encryption | Video Copy Detection</a:t>
            </a:r>
            <a:endParaRPr lang="en-US" sz="800" dirty="0"/>
          </a:p>
        </p:txBody>
      </p:sp>
      <p:sp>
        <p:nvSpPr>
          <p:cNvPr id="5" name="Shape 3"/>
          <p:cNvSpPr/>
          <p:nvPr/>
        </p:nvSpPr>
        <p:spPr>
          <a:xfrm>
            <a:off x="388123" y="233372"/>
            <a:ext cx="8367754" cy="658368"/>
          </a:xfrm>
          <a:prstGeom prst="rect">
            <a:avLst/>
          </a:prstGeom>
          <a:solidFill>
            <a:srgbClr val="1565C0"/>
          </a:solidFill>
          <a:ln w="12700">
            <a:solidFill>
              <a:srgbClr val="1565C0"/>
            </a:solidFill>
            <a:prstDash val="solid"/>
          </a:ln>
          <a:effectLst>
            <a:outerShdw blurRad="101600" dist="38100" dir="8100000" algn="bl" rotWithShape="0">
              <a:srgbClr val="0D3270">
                <a:alpha val="13000"/>
              </a:srgbClr>
            </a:outerShdw>
          </a:effectLst>
        </p:spPr>
      </p:sp>
      <p:sp>
        <p:nvSpPr>
          <p:cNvPr id="6" name="Text 4"/>
          <p:cNvSpPr/>
          <p:nvPr/>
        </p:nvSpPr>
        <p:spPr>
          <a:xfrm>
            <a:off x="341409" y="196797"/>
            <a:ext cx="8321040" cy="658368"/>
          </a:xfrm>
          <a:prstGeom prst="rect">
            <a:avLst/>
          </a:prstGeom>
          <a:noFill/>
          <a:ln/>
        </p:spPr>
        <p:txBody>
          <a:bodyPr wrap="square" lIns="0" tIns="0" rIns="0" bIns="0" rtlCol="0" anchor="ctr"/>
          <a:lstStyle/>
          <a:p>
            <a:pPr marL="0" indent="0" algn="ctr">
              <a:buNone/>
            </a:pPr>
            <a:r>
              <a:rPr lang="en-US" sz="2200" b="1" dirty="0">
                <a:solidFill>
                  <a:srgbClr val="FFFFFF"/>
                </a:solidFill>
              </a:rPr>
              <a:t>Conclusion</a:t>
            </a:r>
            <a:endParaRPr lang="en-US" sz="2200" dirty="0"/>
          </a:p>
        </p:txBody>
      </p:sp>
      <p:sp>
        <p:nvSpPr>
          <p:cNvPr id="7" name="Shape 5"/>
          <p:cNvSpPr/>
          <p:nvPr/>
        </p:nvSpPr>
        <p:spPr>
          <a:xfrm>
            <a:off x="411480" y="1051560"/>
            <a:ext cx="164592" cy="3566160"/>
          </a:xfrm>
          <a:prstGeom prst="rect">
            <a:avLst/>
          </a:prstGeom>
          <a:solidFill>
            <a:srgbClr val="1E88E5"/>
          </a:solidFill>
          <a:ln w="12700">
            <a:solidFill>
              <a:srgbClr val="1E88E5"/>
            </a:solidFill>
            <a:prstDash val="solid"/>
          </a:ln>
        </p:spPr>
      </p:sp>
      <p:sp>
        <p:nvSpPr>
          <p:cNvPr id="8" name="Shape 6"/>
          <p:cNvSpPr/>
          <p:nvPr/>
        </p:nvSpPr>
        <p:spPr>
          <a:xfrm>
            <a:off x="364766" y="960520"/>
            <a:ext cx="8367754" cy="3945431"/>
          </a:xfrm>
          <a:prstGeom prst="rect">
            <a:avLst/>
          </a:prstGeom>
          <a:solidFill>
            <a:srgbClr val="F0F6FF"/>
          </a:solidFill>
          <a:ln w="12700">
            <a:solidFill>
              <a:srgbClr val="E3F0FF"/>
            </a:solidFill>
            <a:prstDash val="solid"/>
          </a:ln>
        </p:spPr>
      </p:sp>
      <p:sp>
        <p:nvSpPr>
          <p:cNvPr id="9" name="Text 7"/>
          <p:cNvSpPr/>
          <p:nvPr/>
        </p:nvSpPr>
        <p:spPr>
          <a:xfrm>
            <a:off x="341409" y="960125"/>
            <a:ext cx="8414468" cy="4014211"/>
          </a:xfrm>
          <a:prstGeom prst="rect">
            <a:avLst/>
          </a:prstGeom>
          <a:noFill/>
          <a:ln/>
        </p:spPr>
        <p:txBody>
          <a:bodyPr wrap="square" rtlCol="0" anchor="t"/>
          <a:lstStyle/>
          <a:p>
            <a:pPr algn="just"/>
            <a:r>
              <a:rPr lang="en-US" sz="1600" dirty="0">
                <a:solidFill>
                  <a:schemeClr val="accent1">
                    <a:lumMod val="50000"/>
                  </a:schemeClr>
                </a:solidFill>
              </a:rPr>
              <a:t>This project presents a novel approach to video copy detection by integrating homomorphic encryption with advanced view-invariant feature extraction techniques, tailored for multi-view videos stored in cloud environments. By enabling secure computations directly on encrypted data, the proposed system effectively addresses privacy concerns that traditional copy detection methods fail to resolve. The system ensures that sensitive video content remains confidential throughout the detection process, even when hosted on untrusted cloud platforms.</a:t>
            </a:r>
            <a:r>
              <a:rPr lang="en-IN" sz="1600" dirty="0">
                <a:solidFill>
                  <a:schemeClr val="accent1">
                    <a:lumMod val="50000"/>
                  </a:schemeClr>
                </a:solidFill>
              </a:rPr>
              <a:t> </a:t>
            </a:r>
            <a:r>
              <a:rPr lang="en-US" sz="1600" dirty="0">
                <a:solidFill>
                  <a:schemeClr val="accent1">
                    <a:lumMod val="50000"/>
                  </a:schemeClr>
                </a:solidFill>
              </a:rPr>
              <a:t>Furthermore, the adoption of multi-view robust features improves detection accuracy by accommodating variations in camera angles, lighting, and video modifications, making the system highly reliable for real-world applications such as surveillance, media streaming, and copyright protection. The cloud-native architecture facilitates scalability and efficient handling of large video repositories, while the encryption framework maintains data integrity and access control.</a:t>
            </a:r>
            <a:r>
              <a:rPr lang="en-IN" sz="1600" dirty="0">
                <a:solidFill>
                  <a:schemeClr val="accent1">
                    <a:lumMod val="50000"/>
                  </a:schemeClr>
                </a:solidFill>
              </a:rPr>
              <a:t> </a:t>
            </a:r>
            <a:r>
              <a:rPr lang="en-US" sz="1600" dirty="0">
                <a:solidFill>
                  <a:schemeClr val="accent1">
                    <a:lumMod val="50000"/>
                  </a:schemeClr>
                </a:solidFill>
              </a:rPr>
              <a:t>Overall, this homomorphic encryption-based framework represents a significant advancement in secure multimedia content management. It not only protects intellectual property rights and user privacy but also complies with emerging data protection regulations. Future work can explore further optimization of homomorphic operations and extend the system to other multimedia formats, contributing to the growing field of privacy-preserving video analytics.</a:t>
            </a:r>
            <a:endParaRPr lang="en-US" sz="1600" b="1" dirty="0">
              <a:solidFill>
                <a:schemeClr val="accent1">
                  <a:lumMod val="50000"/>
                </a:schemeClr>
              </a:solidFill>
            </a:endParaRPr>
          </a:p>
        </p:txBody>
      </p:sp>
    </p:spTree>
    <p:extLst>
      <p:ext uri="{BB962C8B-B14F-4D97-AF65-F5344CB8AC3E}">
        <p14:creationId xmlns:p14="http://schemas.microsoft.com/office/powerpoint/2010/main" val="19132956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5">
    <p:bg>
      <p:bgPr>
        <a:solidFill>
          <a:srgbClr val="0D3270"/>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E88E5"/>
          </a:solidFill>
          <a:ln w="12700">
            <a:solidFill>
              <a:srgbClr val="1E88E5"/>
            </a:solidFill>
            <a:prstDash val="solid"/>
          </a:ln>
        </p:spPr>
      </p:sp>
      <p:sp>
        <p:nvSpPr>
          <p:cNvPr id="3" name="Shape 1"/>
          <p:cNvSpPr/>
          <p:nvPr/>
        </p:nvSpPr>
        <p:spPr>
          <a:xfrm>
            <a:off x="0" y="4636008"/>
            <a:ext cx="9144000" cy="507492"/>
          </a:xfrm>
          <a:prstGeom prst="rect">
            <a:avLst/>
          </a:prstGeom>
          <a:solidFill>
            <a:srgbClr val="1565C0"/>
          </a:solidFill>
          <a:ln w="12700">
            <a:solidFill>
              <a:srgbClr val="1565C0"/>
            </a:solidFill>
            <a:prstDash val="solid"/>
          </a:ln>
        </p:spPr>
      </p:sp>
      <p:sp>
        <p:nvSpPr>
          <p:cNvPr id="4" name="Text 2"/>
          <p:cNvSpPr/>
          <p:nvPr/>
        </p:nvSpPr>
        <p:spPr>
          <a:xfrm>
            <a:off x="457200" y="822960"/>
            <a:ext cx="8229600" cy="1280160"/>
          </a:xfrm>
          <a:prstGeom prst="rect">
            <a:avLst/>
          </a:prstGeom>
          <a:noFill/>
          <a:ln/>
        </p:spPr>
        <p:txBody>
          <a:bodyPr wrap="square" rtlCol="0" anchor="ctr"/>
          <a:lstStyle/>
          <a:p>
            <a:pPr marL="0" indent="0" algn="ctr">
              <a:buNone/>
            </a:pPr>
            <a:r>
              <a:rPr lang="en-US" sz="6000" b="1" dirty="0">
                <a:solidFill>
                  <a:srgbClr val="FFFFFF"/>
                </a:solidFill>
                <a:latin typeface="Trebuchet MS" pitchFamily="34" charset="0"/>
                <a:ea typeface="Trebuchet MS" pitchFamily="34" charset="-122"/>
                <a:cs typeface="Trebuchet MS" pitchFamily="34" charset="-120"/>
              </a:rPr>
              <a:t>Thank You!</a:t>
            </a:r>
            <a:endParaRPr lang="en-US" sz="6000" dirty="0"/>
          </a:p>
        </p:txBody>
      </p:sp>
      <p:sp>
        <p:nvSpPr>
          <p:cNvPr id="5" name="Shape 3"/>
          <p:cNvSpPr/>
          <p:nvPr/>
        </p:nvSpPr>
        <p:spPr>
          <a:xfrm>
            <a:off x="2286000" y="2176272"/>
            <a:ext cx="4572000" cy="54864"/>
          </a:xfrm>
          <a:prstGeom prst="rect">
            <a:avLst/>
          </a:prstGeom>
          <a:solidFill>
            <a:srgbClr val="1E88E5"/>
          </a:solidFill>
          <a:ln w="12700">
            <a:solidFill>
              <a:srgbClr val="1E88E5"/>
            </a:solidFill>
            <a:prstDash val="solid"/>
          </a:ln>
        </p:spPr>
      </p:sp>
      <p:sp>
        <p:nvSpPr>
          <p:cNvPr id="6" name="Text 4"/>
          <p:cNvSpPr/>
          <p:nvPr/>
        </p:nvSpPr>
        <p:spPr>
          <a:xfrm>
            <a:off x="457200" y="2331720"/>
            <a:ext cx="8229600" cy="457200"/>
          </a:xfrm>
          <a:prstGeom prst="rect">
            <a:avLst/>
          </a:prstGeom>
          <a:noFill/>
          <a:ln/>
        </p:spPr>
        <p:txBody>
          <a:bodyPr wrap="square" rtlCol="0" anchor="ctr"/>
          <a:lstStyle/>
          <a:p>
            <a:pPr marL="0" indent="0" algn="ctr">
              <a:buNone/>
            </a:pPr>
            <a:r>
              <a:rPr lang="en-US" sz="1500" dirty="0">
                <a:solidFill>
                  <a:srgbClr val="E3F0FF"/>
                </a:solidFill>
              </a:rPr>
              <a:t>We welcome your valuable questions and feedback.</a:t>
            </a:r>
            <a:endParaRPr lang="en-US" sz="1500" dirty="0"/>
          </a:p>
        </p:txBody>
      </p:sp>
      <p:sp>
        <p:nvSpPr>
          <p:cNvPr id="7" name="Shape 5"/>
          <p:cNvSpPr/>
          <p:nvPr/>
        </p:nvSpPr>
        <p:spPr>
          <a:xfrm>
            <a:off x="411480" y="2971800"/>
            <a:ext cx="2724912" cy="1417320"/>
          </a:xfrm>
          <a:prstGeom prst="rect">
            <a:avLst/>
          </a:prstGeom>
          <a:solidFill>
            <a:srgbClr val="1565C0"/>
          </a:solidFill>
          <a:ln w="12700">
            <a:solidFill>
              <a:srgbClr val="1E88E5"/>
            </a:solidFill>
            <a:prstDash val="solid"/>
          </a:ln>
          <a:effectLst>
            <a:outerShdw blurRad="101600" dist="38100" dir="8100000" algn="bl" rotWithShape="0">
              <a:srgbClr val="0D3270">
                <a:alpha val="13000"/>
              </a:srgbClr>
            </a:outerShdw>
          </a:effectLst>
        </p:spPr>
      </p:sp>
      <p:sp>
        <p:nvSpPr>
          <p:cNvPr id="8" name="Text 6"/>
          <p:cNvSpPr/>
          <p:nvPr/>
        </p:nvSpPr>
        <p:spPr>
          <a:xfrm>
            <a:off x="539496" y="3054096"/>
            <a:ext cx="2468880" cy="384048"/>
          </a:xfrm>
          <a:prstGeom prst="rect">
            <a:avLst/>
          </a:prstGeom>
          <a:noFill/>
          <a:ln/>
        </p:spPr>
        <p:txBody>
          <a:bodyPr wrap="square" rtlCol="0" anchor="ctr"/>
          <a:lstStyle/>
          <a:p>
            <a:pPr marL="0" indent="0" algn="ctr">
              <a:buNone/>
            </a:pPr>
            <a:r>
              <a:rPr lang="en-US" sz="1100" b="1" dirty="0">
                <a:solidFill>
                  <a:srgbClr val="FFFFFF"/>
                </a:solidFill>
              </a:rPr>
              <a:t>Mallika Nagasuri</a:t>
            </a:r>
            <a:endParaRPr lang="en-US" sz="1100" dirty="0"/>
          </a:p>
        </p:txBody>
      </p:sp>
      <p:sp>
        <p:nvSpPr>
          <p:cNvPr id="9" name="Shape 7"/>
          <p:cNvSpPr/>
          <p:nvPr/>
        </p:nvSpPr>
        <p:spPr>
          <a:xfrm>
            <a:off x="685800" y="3456432"/>
            <a:ext cx="2176272" cy="36576"/>
          </a:xfrm>
          <a:prstGeom prst="rect">
            <a:avLst/>
          </a:prstGeom>
          <a:solidFill>
            <a:srgbClr val="1E88E5">
              <a:alpha val="60000"/>
            </a:srgbClr>
          </a:solidFill>
          <a:ln w="12700">
            <a:solidFill>
              <a:srgbClr val="1E88E5"/>
            </a:solidFill>
            <a:prstDash val="solid"/>
          </a:ln>
        </p:spPr>
      </p:sp>
      <p:sp>
        <p:nvSpPr>
          <p:cNvPr id="10" name="Text 8"/>
          <p:cNvSpPr/>
          <p:nvPr/>
        </p:nvSpPr>
        <p:spPr>
          <a:xfrm>
            <a:off x="484632" y="3566160"/>
            <a:ext cx="2578608" cy="685800"/>
          </a:xfrm>
          <a:prstGeom prst="rect">
            <a:avLst/>
          </a:prstGeom>
          <a:noFill/>
          <a:ln/>
        </p:spPr>
        <p:txBody>
          <a:bodyPr wrap="square" rtlCol="0" anchor="t"/>
          <a:lstStyle/>
          <a:p>
            <a:pPr marL="0" indent="0" algn="ctr">
              <a:buNone/>
            </a:pPr>
            <a:r>
              <a:rPr lang="en-US" sz="950" dirty="0">
                <a:solidFill>
                  <a:srgbClr val="E3F0FF"/>
                </a:solidFill>
              </a:rPr>
              <a:t>mallikanagasuri04@gmail.com</a:t>
            </a:r>
            <a:endParaRPr lang="en-US" sz="950" dirty="0"/>
          </a:p>
        </p:txBody>
      </p:sp>
      <p:sp>
        <p:nvSpPr>
          <p:cNvPr id="11" name="Shape 9"/>
          <p:cNvSpPr/>
          <p:nvPr/>
        </p:nvSpPr>
        <p:spPr>
          <a:xfrm>
            <a:off x="3319272" y="2971800"/>
            <a:ext cx="2724912" cy="1417320"/>
          </a:xfrm>
          <a:prstGeom prst="rect">
            <a:avLst/>
          </a:prstGeom>
          <a:solidFill>
            <a:srgbClr val="1565C0"/>
          </a:solidFill>
          <a:ln w="12700">
            <a:solidFill>
              <a:srgbClr val="1E88E5"/>
            </a:solidFill>
            <a:prstDash val="solid"/>
          </a:ln>
          <a:effectLst>
            <a:outerShdw blurRad="101600" dist="38100" dir="8100000" algn="bl" rotWithShape="0">
              <a:srgbClr val="0D3270">
                <a:alpha val="13000"/>
              </a:srgbClr>
            </a:outerShdw>
          </a:effectLst>
        </p:spPr>
      </p:sp>
      <p:sp>
        <p:nvSpPr>
          <p:cNvPr id="12" name="Text 10"/>
          <p:cNvSpPr/>
          <p:nvPr/>
        </p:nvSpPr>
        <p:spPr>
          <a:xfrm>
            <a:off x="3447288" y="3054096"/>
            <a:ext cx="2468880" cy="384048"/>
          </a:xfrm>
          <a:prstGeom prst="rect">
            <a:avLst/>
          </a:prstGeom>
          <a:noFill/>
          <a:ln/>
        </p:spPr>
        <p:txBody>
          <a:bodyPr wrap="square" rtlCol="0" anchor="ctr"/>
          <a:lstStyle/>
          <a:p>
            <a:pPr marL="0" indent="0" algn="ctr">
              <a:buNone/>
            </a:pPr>
            <a:r>
              <a:rPr lang="en-US" sz="1100" b="1" dirty="0">
                <a:solidFill>
                  <a:srgbClr val="FFFFFF"/>
                </a:solidFill>
              </a:rPr>
              <a:t>Sharif Shaik</a:t>
            </a:r>
            <a:endParaRPr lang="en-US" sz="1100" dirty="0"/>
          </a:p>
        </p:txBody>
      </p:sp>
      <p:sp>
        <p:nvSpPr>
          <p:cNvPr id="13" name="Shape 11"/>
          <p:cNvSpPr/>
          <p:nvPr/>
        </p:nvSpPr>
        <p:spPr>
          <a:xfrm>
            <a:off x="3593592" y="3456432"/>
            <a:ext cx="2176272" cy="36576"/>
          </a:xfrm>
          <a:prstGeom prst="rect">
            <a:avLst/>
          </a:prstGeom>
          <a:solidFill>
            <a:srgbClr val="1E88E5">
              <a:alpha val="60000"/>
            </a:srgbClr>
          </a:solidFill>
          <a:ln w="12700">
            <a:solidFill>
              <a:srgbClr val="1E88E5"/>
            </a:solidFill>
            <a:prstDash val="solid"/>
          </a:ln>
        </p:spPr>
      </p:sp>
      <p:sp>
        <p:nvSpPr>
          <p:cNvPr id="14" name="Text 12"/>
          <p:cNvSpPr/>
          <p:nvPr/>
        </p:nvSpPr>
        <p:spPr>
          <a:xfrm>
            <a:off x="3392424" y="3566160"/>
            <a:ext cx="2578608" cy="685800"/>
          </a:xfrm>
          <a:prstGeom prst="rect">
            <a:avLst/>
          </a:prstGeom>
          <a:noFill/>
          <a:ln/>
        </p:spPr>
        <p:txBody>
          <a:bodyPr wrap="square" rtlCol="0" anchor="t"/>
          <a:lstStyle/>
          <a:p>
            <a:pPr marL="0" indent="0" algn="ctr">
              <a:buNone/>
            </a:pPr>
            <a:r>
              <a:rPr lang="en-US" sz="950" dirty="0">
                <a:solidFill>
                  <a:srgbClr val="E3F0FF"/>
                </a:solidFill>
              </a:rPr>
              <a:t>shaiksharif2030@gmail.com</a:t>
            </a:r>
            <a:endParaRPr lang="en-US" sz="950" dirty="0"/>
          </a:p>
        </p:txBody>
      </p:sp>
      <p:sp>
        <p:nvSpPr>
          <p:cNvPr id="15" name="Shape 13"/>
          <p:cNvSpPr/>
          <p:nvPr/>
        </p:nvSpPr>
        <p:spPr>
          <a:xfrm>
            <a:off x="6227064" y="2971800"/>
            <a:ext cx="2724912" cy="1417320"/>
          </a:xfrm>
          <a:prstGeom prst="rect">
            <a:avLst/>
          </a:prstGeom>
          <a:solidFill>
            <a:srgbClr val="1565C0"/>
          </a:solidFill>
          <a:ln w="12700">
            <a:solidFill>
              <a:srgbClr val="1E88E5"/>
            </a:solidFill>
            <a:prstDash val="solid"/>
          </a:ln>
          <a:effectLst>
            <a:outerShdw blurRad="101600" dist="38100" dir="8100000" algn="bl" rotWithShape="0">
              <a:srgbClr val="0D3270">
                <a:alpha val="13000"/>
              </a:srgbClr>
            </a:outerShdw>
          </a:effectLst>
        </p:spPr>
      </p:sp>
      <p:sp>
        <p:nvSpPr>
          <p:cNvPr id="16" name="Text 14"/>
          <p:cNvSpPr/>
          <p:nvPr/>
        </p:nvSpPr>
        <p:spPr>
          <a:xfrm>
            <a:off x="6355080" y="3054096"/>
            <a:ext cx="2468880" cy="384048"/>
          </a:xfrm>
          <a:prstGeom prst="rect">
            <a:avLst/>
          </a:prstGeom>
          <a:noFill/>
          <a:ln/>
        </p:spPr>
        <p:txBody>
          <a:bodyPr wrap="square" rtlCol="0" anchor="ctr"/>
          <a:lstStyle/>
          <a:p>
            <a:pPr marL="0" indent="0" algn="ctr">
              <a:buNone/>
            </a:pPr>
            <a:r>
              <a:rPr lang="en-US" sz="1100" b="1" dirty="0">
                <a:solidFill>
                  <a:srgbClr val="FFFFFF"/>
                </a:solidFill>
              </a:rPr>
              <a:t>Durga Tejesh Naramamidi</a:t>
            </a:r>
            <a:endParaRPr lang="en-US" sz="1100" dirty="0"/>
          </a:p>
        </p:txBody>
      </p:sp>
      <p:sp>
        <p:nvSpPr>
          <p:cNvPr id="17" name="Shape 15"/>
          <p:cNvSpPr/>
          <p:nvPr/>
        </p:nvSpPr>
        <p:spPr>
          <a:xfrm>
            <a:off x="6501384" y="3456432"/>
            <a:ext cx="2176272" cy="36576"/>
          </a:xfrm>
          <a:prstGeom prst="rect">
            <a:avLst/>
          </a:prstGeom>
          <a:solidFill>
            <a:srgbClr val="1E88E5">
              <a:alpha val="60000"/>
            </a:srgbClr>
          </a:solidFill>
          <a:ln w="12700">
            <a:solidFill>
              <a:srgbClr val="1E88E5"/>
            </a:solidFill>
            <a:prstDash val="solid"/>
          </a:ln>
        </p:spPr>
      </p:sp>
      <p:sp>
        <p:nvSpPr>
          <p:cNvPr id="18" name="Text 16"/>
          <p:cNvSpPr/>
          <p:nvPr/>
        </p:nvSpPr>
        <p:spPr>
          <a:xfrm>
            <a:off x="6300216" y="3566160"/>
            <a:ext cx="2578608" cy="685800"/>
          </a:xfrm>
          <a:prstGeom prst="rect">
            <a:avLst/>
          </a:prstGeom>
          <a:noFill/>
          <a:ln/>
        </p:spPr>
        <p:txBody>
          <a:bodyPr wrap="square" rtlCol="0" anchor="t"/>
          <a:lstStyle/>
          <a:p>
            <a:pPr marL="0" indent="0" algn="ctr">
              <a:buNone/>
            </a:pPr>
            <a:r>
              <a:rPr lang="en-US" sz="950" dirty="0">
                <a:solidFill>
                  <a:srgbClr val="E3F0FF"/>
                </a:solidFill>
              </a:rPr>
              <a:t>durgatejeshnaramamidi@gmail.com</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265</TotalTime>
  <Words>3458</Words>
  <Application>Microsoft Office PowerPoint</Application>
  <PresentationFormat>On-screen Show (16:9)</PresentationFormat>
  <Paragraphs>324</Paragraphs>
  <Slides>38</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Homomorphic Encryption Based Video Copy Detection</dc:title>
  <dc:subject>PptxGenJS Presentation</dc:subject>
  <dc:creator>PptxGenJS</dc:creator>
  <cp:lastModifiedBy>sharif shaik</cp:lastModifiedBy>
  <cp:revision>44</cp:revision>
  <dcterms:created xsi:type="dcterms:W3CDTF">2026-03-18T08:57:50Z</dcterms:created>
  <dcterms:modified xsi:type="dcterms:W3CDTF">2026-04-15T08:05:05Z</dcterms:modified>
</cp:coreProperties>
</file>